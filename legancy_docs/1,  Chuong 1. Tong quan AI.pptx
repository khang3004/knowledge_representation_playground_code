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40"/>
  </p:notesMasterIdLst>
  <p:sldIdLst>
    <p:sldId id="427" r:id="rId2"/>
    <p:sldId id="482" r:id="rId3"/>
    <p:sldId id="489" r:id="rId4"/>
    <p:sldId id="491" r:id="rId5"/>
    <p:sldId id="492" r:id="rId6"/>
    <p:sldId id="493" r:id="rId7"/>
    <p:sldId id="495" r:id="rId8"/>
    <p:sldId id="496" r:id="rId9"/>
    <p:sldId id="497" r:id="rId10"/>
    <p:sldId id="498" r:id="rId11"/>
    <p:sldId id="500" r:id="rId12"/>
    <p:sldId id="501" r:id="rId13"/>
    <p:sldId id="502" r:id="rId14"/>
    <p:sldId id="503" r:id="rId15"/>
    <p:sldId id="504" r:id="rId16"/>
    <p:sldId id="505" r:id="rId17"/>
    <p:sldId id="506" r:id="rId18"/>
    <p:sldId id="507" r:id="rId19"/>
    <p:sldId id="509" r:id="rId20"/>
    <p:sldId id="510" r:id="rId21"/>
    <p:sldId id="511" r:id="rId22"/>
    <p:sldId id="512" r:id="rId23"/>
    <p:sldId id="513" r:id="rId24"/>
    <p:sldId id="514" r:id="rId25"/>
    <p:sldId id="515" r:id="rId26"/>
    <p:sldId id="516" r:id="rId27"/>
    <p:sldId id="517" r:id="rId28"/>
    <p:sldId id="518" r:id="rId29"/>
    <p:sldId id="520" r:id="rId30"/>
    <p:sldId id="521" r:id="rId31"/>
    <p:sldId id="528" r:id="rId32"/>
    <p:sldId id="529" r:id="rId33"/>
    <p:sldId id="522" r:id="rId34"/>
    <p:sldId id="523" r:id="rId35"/>
    <p:sldId id="524" r:id="rId36"/>
    <p:sldId id="525" r:id="rId37"/>
    <p:sldId id="526" r:id="rId38"/>
    <p:sldId id="527" r:id="rId39"/>
  </p:sldIdLst>
  <p:sldSz cx="9144000" cy="6858000" type="screen4x3"/>
  <p:notesSz cx="6797675" cy="9874250"/>
  <p:defaultTextStyle>
    <a:defPPr>
      <a:defRPr lang="en-GB"/>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hon do" initials="nd" lastIdx="2" clrIdx="0">
    <p:extLst>
      <p:ext uri="{19B8F6BF-5375-455C-9EA6-DF929625EA0E}">
        <p15:presenceInfo xmlns:p15="http://schemas.microsoft.com/office/powerpoint/2012/main" userId="c9249813d2f2353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FF"/>
    <a:srgbClr val="0000FF"/>
    <a:srgbClr val="A50021"/>
    <a:srgbClr val="CC9900"/>
    <a:srgbClr val="6600CC"/>
    <a:srgbClr val="33CC33"/>
    <a:srgbClr val="FFFFCC"/>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9466" autoAdjust="0"/>
  </p:normalViewPr>
  <p:slideViewPr>
    <p:cSldViewPr>
      <p:cViewPr varScale="1">
        <p:scale>
          <a:sx n="80" d="100"/>
          <a:sy n="80" d="100"/>
        </p:scale>
        <p:origin x="88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5-06-10T14:53:44.344" idx="1">
    <p:pos x="2317" y="1375"/>
    <p:text/>
    <p:extLst>
      <p:ext uri="{C676402C-5697-4E1C-873F-D02D1690AC5C}">
        <p15:threadingInfo xmlns:p15="http://schemas.microsoft.com/office/powerpoint/2012/main" timeZoneBias="-420"/>
      </p:ext>
    </p:extLst>
  </p:cm>
  <p:cm authorId="1" dt="2015-06-10T14:54:11.424" idx="2">
    <p:pos x="10" y="10"/>
    <p:text>vdvsdvsdvsdvsdvsdvsvsdvsd d  sd f sd f sdf  sd f sd f sd f sd f sd f sd f sdf</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95235" name="Rectangle 3"/>
          <p:cNvSpPr>
            <a:spLocks noGrp="1" noChangeArrowheads="1"/>
          </p:cNvSpPr>
          <p:nvPr>
            <p:ph type="dt"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11620"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headEnd/>
            <a:tailEnd/>
          </a:ln>
        </p:spPr>
      </p:sp>
      <p:sp>
        <p:nvSpPr>
          <p:cNvPr id="95237" name="Rectangle 5"/>
          <p:cNvSpPr>
            <a:spLocks noGrp="1" noChangeArrowheads="1"/>
          </p:cNvSpPr>
          <p:nvPr>
            <p:ph type="body" sz="quarter" idx="3"/>
          </p:nvPr>
        </p:nvSpPr>
        <p:spPr bwMode="auto">
          <a:xfrm>
            <a:off x="906463" y="4691063"/>
            <a:ext cx="4984750"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5238" name="Rectangle 6"/>
          <p:cNvSpPr>
            <a:spLocks noGrp="1" noChangeArrowheads="1"/>
          </p:cNvSpPr>
          <p:nvPr>
            <p:ph type="ftr" sz="quarter" idx="4"/>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95239" name="Rectangle 7"/>
          <p:cNvSpPr>
            <a:spLocks noGrp="1" noChangeArrowheads="1"/>
          </p:cNvSpPr>
          <p:nvPr>
            <p:ph type="sldNum" sz="quarter" idx="5"/>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53DC354-F2D0-442D-B2F4-71006D42FD8A}" type="slidenum">
              <a:rPr lang="en-GB"/>
              <a:pPr>
                <a:defRPr/>
              </a:pPr>
              <a:t>‹#›</a:t>
            </a:fld>
            <a:endParaRPr lang="en-GB"/>
          </a:p>
        </p:txBody>
      </p:sp>
    </p:spTree>
    <p:extLst>
      <p:ext uri="{BB962C8B-B14F-4D97-AF65-F5344CB8AC3E}">
        <p14:creationId xmlns:p14="http://schemas.microsoft.com/office/powerpoint/2010/main" val="2744895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vi.wikipedia.org/wiki/1958"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vi.wikipedia.org/wiki/MIT" TargetMode="External"/><Relationship Id="rId5" Type="http://schemas.openxmlformats.org/officeDocument/2006/relationships/hyperlink" Target="http://vi.wikipedia.org/w/index.php?title=John_McCarthy&amp;action=edit&amp;redlink=1" TargetMode="External"/><Relationship Id="rId4" Type="http://schemas.openxmlformats.org/officeDocument/2006/relationships/hyperlink" Target="http://vi.wikipedia.org/w/index.php?title=Danh_s%C3%A1ch_li%C3%AAn_k%E1%BA%BFt&amp;action=edit&amp;redlink=1"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vi.wikipedia.org/wiki/Microsoft_Word" TargetMode="External"/><Relationship Id="rId13" Type="http://schemas.openxmlformats.org/officeDocument/2006/relationships/hyperlink" Target="http://vi.wikipedia.org/wiki/Ng%C6%B0%E1%BB%9Di_khi%E1%BA%BFm_th%E1%BB%8B" TargetMode="External"/><Relationship Id="rId18" Type="http://schemas.openxmlformats.org/officeDocument/2006/relationships/hyperlink" Target="http://vi.wikipedia.org/wiki/Xalo.vn" TargetMode="External"/><Relationship Id="rId26" Type="http://schemas.openxmlformats.org/officeDocument/2006/relationships/hyperlink" Target="http://vi.wikipedia.org/w/index.php?title=T%C3%B3m_t%E1%BA%AFt_v%C4%83n_b%E1%BA%A3n&amp;action=edit&amp;redlink=1" TargetMode="External"/><Relationship Id="rId3" Type="http://schemas.openxmlformats.org/officeDocument/2006/relationships/hyperlink" Target="http://vi.wikipedia.org/wiki/Tr%C3%AD_tu%E1%BB%87_nh%C3%A2n_t%E1%BA%A1o" TargetMode="External"/><Relationship Id="rId21" Type="http://schemas.openxmlformats.org/officeDocument/2006/relationships/hyperlink" Target="http://vi.wikipedia.org/wiki/M%C3%A1y_truy_t%C3%ACm_d%E1%BB%AF_li%E1%BB%87u" TargetMode="External"/><Relationship Id="rId7" Type="http://schemas.openxmlformats.org/officeDocument/2006/relationships/hyperlink" Target="http://vi.wikipedia.org/w/index.php?title=Nh%E1%BA%ADn_d%E1%BA%A1ng_ch%E1%BB%AF_vi%E1%BA%BFt&amp;action=edit&amp;redlink=1" TargetMode="External"/><Relationship Id="rId12" Type="http://schemas.openxmlformats.org/officeDocument/2006/relationships/hyperlink" Target="http://vi.wikipedia.org/wiki/World_Wide_Web" TargetMode="External"/><Relationship Id="rId17" Type="http://schemas.openxmlformats.org/officeDocument/2006/relationships/hyperlink" Target="http://vi.wikipedia.org/wiki/Google" TargetMode="External"/><Relationship Id="rId25" Type="http://schemas.openxmlformats.org/officeDocument/2006/relationships/hyperlink" Target="http://vi.wikipedia.org/wiki/X%E1%BB%AD_l%C3%BD_ng%C3%B4n_ng%E1%BB%AF_t%E1%BB%B1_nhi%C3%AAn#cite_note-1" TargetMode="External"/><Relationship Id="rId2" Type="http://schemas.openxmlformats.org/officeDocument/2006/relationships/slide" Target="../slides/slide30.xml"/><Relationship Id="rId16" Type="http://schemas.openxmlformats.org/officeDocument/2006/relationships/hyperlink" Target="http://vi.wikipedia.org/w/index.php?title=Evtrans&amp;action=edit&amp;redlink=1" TargetMode="External"/><Relationship Id="rId20" Type="http://schemas.openxmlformats.org/officeDocument/2006/relationships/hyperlink" Target="http://vi.wikipedia.org/wiki/Internet" TargetMode="External"/><Relationship Id="rId29" Type="http://schemas.openxmlformats.org/officeDocument/2006/relationships/hyperlink" Target="http://vi.wikipedia.org/wiki/H%E1%BB%8Dc_t%E1%BA%ADp" TargetMode="External"/><Relationship Id="rId1" Type="http://schemas.openxmlformats.org/officeDocument/2006/relationships/notesMaster" Target="../notesMasters/notesMaster1.xml"/><Relationship Id="rId6" Type="http://schemas.openxmlformats.org/officeDocument/2006/relationships/hyperlink" Target="http://vi.wikipedia.org/wiki/Giao_ti%E1%BA%BFp" TargetMode="External"/><Relationship Id="rId11" Type="http://schemas.openxmlformats.org/officeDocument/2006/relationships/hyperlink" Target="http://vi.wikipedia.org/wiki/T%E1%BB%95ng_h%E1%BB%A3p_gi%E1%BB%8Dng_n%C3%B3i" TargetMode="External"/><Relationship Id="rId24" Type="http://schemas.openxmlformats.org/officeDocument/2006/relationships/hyperlink" Target="http://vi.wikipedia.org/wiki/Wolfram_Alpha" TargetMode="External"/><Relationship Id="rId5" Type="http://schemas.openxmlformats.org/officeDocument/2006/relationships/hyperlink" Target="http://vi.wikipedia.org/wiki/T%C6%B0_duy" TargetMode="External"/><Relationship Id="rId15" Type="http://schemas.openxmlformats.org/officeDocument/2006/relationships/hyperlink" Target="http://vi.wikipedia.org/wiki/D%E1%BB%8Bch_t%E1%BB%B1_%C4%91%E1%BB%99ng" TargetMode="External"/><Relationship Id="rId23" Type="http://schemas.openxmlformats.org/officeDocument/2006/relationships/hyperlink" Target="http://vi.wikipedia.org/wiki/T%E1%BB%91i_%C6%B0u_h%C3%B3a_c%C3%B4ng_c%E1%BB%A5_t%C3%ACm_ki%E1%BA%BFm" TargetMode="External"/><Relationship Id="rId28" Type="http://schemas.openxmlformats.org/officeDocument/2006/relationships/hyperlink" Target="http://vi.wikipedia.org/w/index.php?title=Ph%C3%A1t_hi%E1%BB%87n_tri_th%E1%BB%A9c&amp;action=edit&amp;redlink=1" TargetMode="External"/><Relationship Id="rId10" Type="http://schemas.openxmlformats.org/officeDocument/2006/relationships/hyperlink" Target="http://vi.wikipedia.org/wiki/Nh%E1%BA%ADn_d%E1%BA%A1ng_ti%E1%BA%BFng_n%C3%B3i" TargetMode="External"/><Relationship Id="rId19" Type="http://schemas.openxmlformats.org/officeDocument/2006/relationships/hyperlink" Target="http://vi.wikipedia.org/wiki/T%C3%ACm_ki%E1%BA%BFm_th%C3%B4ng_tin" TargetMode="External"/><Relationship Id="rId4" Type="http://schemas.openxmlformats.org/officeDocument/2006/relationships/hyperlink" Target="http://vi.wikipedia.org/wiki/Ng%C3%B4n_ng%E1%BB%AF" TargetMode="External"/><Relationship Id="rId9" Type="http://schemas.openxmlformats.org/officeDocument/2006/relationships/hyperlink" Target="http://vi.wikipedia.org/w/index.php?title=Nh%E1%BA%ADn_d%E1%BA%A1ng_ch%E1%BB%AF_vi%E1%BA%BFt_tay&amp;action=edit&amp;redlink=1" TargetMode="External"/><Relationship Id="rId14" Type="http://schemas.openxmlformats.org/officeDocument/2006/relationships/hyperlink" Target="http://vi.wikipedia.org/wiki/Robot" TargetMode="External"/><Relationship Id="rId22" Type="http://schemas.openxmlformats.org/officeDocument/2006/relationships/hyperlink" Target="http://vi.wikipedia.org/wiki/Yahoo!" TargetMode="External"/><Relationship Id="rId27" Type="http://schemas.openxmlformats.org/officeDocument/2006/relationships/hyperlink" Target="http://vi.wikipedia.org/wiki/Khai_ph%C3%A1_d%E1%BB%AF_li%E1%BB%87u"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Trí</a:t>
            </a:r>
            <a:r>
              <a:rPr lang="en-US" baseline="0" dirty="0"/>
              <a:t> </a:t>
            </a:r>
            <a:r>
              <a:rPr lang="en-US" baseline="0" dirty="0" err="1"/>
              <a:t>tuệ</a:t>
            </a:r>
            <a:r>
              <a:rPr lang="en-US" baseline="0" dirty="0"/>
              <a:t> hay </a:t>
            </a:r>
            <a:r>
              <a:rPr lang="en-US" baseline="0" dirty="0" err="1"/>
              <a:t>sự</a:t>
            </a:r>
            <a:r>
              <a:rPr lang="en-US" baseline="0" dirty="0"/>
              <a:t> </a:t>
            </a:r>
            <a:r>
              <a:rPr lang="en-US" baseline="0" dirty="0" err="1"/>
              <a:t>thông</a:t>
            </a:r>
            <a:r>
              <a:rPr lang="en-US" baseline="0" dirty="0"/>
              <a:t> minh </a:t>
            </a:r>
            <a:r>
              <a:rPr lang="en-US" baseline="0" dirty="0" err="1"/>
              <a:t>của</a:t>
            </a:r>
            <a:r>
              <a:rPr lang="en-US" baseline="0" dirty="0"/>
              <a:t> con </a:t>
            </a:r>
            <a:r>
              <a:rPr lang="en-US" baseline="0" dirty="0" err="1"/>
              <a:t>người</a:t>
            </a:r>
            <a:r>
              <a:rPr lang="en-US" baseline="0" dirty="0"/>
              <a:t> </a:t>
            </a:r>
            <a:r>
              <a:rPr lang="en-US" baseline="0" dirty="0" err="1"/>
              <a:t>là</a:t>
            </a:r>
            <a:r>
              <a:rPr lang="en-US" baseline="0" dirty="0"/>
              <a:t> </a:t>
            </a:r>
            <a:r>
              <a:rPr lang="en-US" baseline="0" dirty="0" err="1"/>
              <a:t>đặc</a:t>
            </a:r>
            <a:r>
              <a:rPr lang="en-US" baseline="0" dirty="0"/>
              <a:t> </a:t>
            </a:r>
            <a:r>
              <a:rPr lang="en-US" baseline="0" dirty="0" err="1"/>
              <a:t>tính</a:t>
            </a:r>
            <a:r>
              <a:rPr lang="en-US" baseline="0" dirty="0"/>
              <a:t> </a:t>
            </a:r>
            <a:r>
              <a:rPr lang="en-US" baseline="0" dirty="0" err="1"/>
              <a:t>vốn</a:t>
            </a:r>
            <a:r>
              <a:rPr lang="en-US" baseline="0" dirty="0"/>
              <a:t> </a:t>
            </a:r>
            <a:r>
              <a:rPr lang="en-US" baseline="0" dirty="0" err="1"/>
              <a:t>có</a:t>
            </a:r>
            <a:r>
              <a:rPr lang="en-US" baseline="0" dirty="0"/>
              <a:t> </a:t>
            </a:r>
            <a:r>
              <a:rPr lang="en-US" baseline="0" dirty="0" err="1"/>
              <a:t>của</a:t>
            </a:r>
            <a:r>
              <a:rPr lang="en-US" baseline="0" dirty="0"/>
              <a:t> con </a:t>
            </a:r>
            <a:r>
              <a:rPr lang="en-US" baseline="0" dirty="0" err="1"/>
              <a:t>người</a:t>
            </a:r>
            <a:r>
              <a:rPr lang="en-US" baseline="0" dirty="0"/>
              <a:t> </a:t>
            </a:r>
            <a:r>
              <a:rPr lang="en-US" baseline="0" dirty="0" err="1"/>
              <a:t>thể</a:t>
            </a:r>
            <a:r>
              <a:rPr lang="en-US" baseline="0" dirty="0"/>
              <a:t> </a:t>
            </a:r>
            <a:r>
              <a:rPr lang="en-US" baseline="0" dirty="0" err="1"/>
              <a:t>hiện</a:t>
            </a:r>
            <a:r>
              <a:rPr lang="en-US" baseline="0" dirty="0"/>
              <a:t> qua </a:t>
            </a:r>
            <a:r>
              <a:rPr lang="en-US" baseline="0" dirty="0" err="1"/>
              <a:t>những</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thành</a:t>
            </a:r>
            <a:r>
              <a:rPr lang="en-US" baseline="0" dirty="0"/>
              <a:t> </a:t>
            </a:r>
            <a:r>
              <a:rPr lang="en-US" baseline="0" dirty="0" err="1"/>
              <a:t>quả</a:t>
            </a:r>
            <a:r>
              <a:rPr lang="en-US" baseline="0" dirty="0"/>
              <a:t> </a:t>
            </a:r>
            <a:r>
              <a:rPr lang="en-US" baseline="0" dirty="0" err="1"/>
              <a:t>cụ</a:t>
            </a:r>
            <a:r>
              <a:rPr lang="en-US" baseline="0" dirty="0"/>
              <a:t> </a:t>
            </a:r>
            <a:r>
              <a:rPr lang="en-US" baseline="0" dirty="0" err="1"/>
              <a:t>thể</a:t>
            </a:r>
            <a:r>
              <a:rPr lang="en-US" baseline="0" dirty="0"/>
              <a:t> </a:t>
            </a:r>
            <a:r>
              <a:rPr lang="en-US" baseline="0" dirty="0" err="1"/>
              <a:t>của</a:t>
            </a:r>
            <a:r>
              <a:rPr lang="en-US" baseline="0" dirty="0"/>
              <a:t> con </a:t>
            </a:r>
            <a:r>
              <a:rPr lang="en-US" baseline="0" dirty="0" err="1"/>
              <a:t>người</a:t>
            </a:r>
            <a:r>
              <a:rPr lang="en-US" baseline="0" dirty="0"/>
              <a:t>.</a:t>
            </a:r>
          </a:p>
          <a:p>
            <a:r>
              <a:rPr lang="en-US" baseline="0" dirty="0" err="1"/>
              <a:t>Hai</a:t>
            </a:r>
            <a:r>
              <a:rPr lang="en-US" baseline="0" dirty="0"/>
              <a:t> </a:t>
            </a:r>
            <a:r>
              <a:rPr lang="en-US" baseline="0" dirty="0" err="1"/>
              <a:t>đặc</a:t>
            </a:r>
            <a:r>
              <a:rPr lang="en-US" baseline="0" dirty="0"/>
              <a:t> </a:t>
            </a:r>
            <a:r>
              <a:rPr lang="en-US" baseline="0" dirty="0" err="1"/>
              <a:t>trưng</a:t>
            </a:r>
            <a:r>
              <a:rPr lang="en-US" baseline="0" dirty="0"/>
              <a:t> </a:t>
            </a:r>
            <a:r>
              <a:rPr lang="en-US" baseline="0" dirty="0" err="1"/>
              <a:t>chính</a:t>
            </a:r>
            <a:r>
              <a:rPr lang="en-US" baseline="0" dirty="0"/>
              <a:t>:</a:t>
            </a:r>
          </a:p>
          <a:p>
            <a:pPr marL="171450" indent="-171450">
              <a:buFontTx/>
              <a:buChar char="-"/>
            </a:pPr>
            <a:r>
              <a:rPr lang="en-US" baseline="0" dirty="0" err="1"/>
              <a:t>Khả</a:t>
            </a:r>
            <a:r>
              <a:rPr lang="en-US" baseline="0" dirty="0"/>
              <a:t> </a:t>
            </a:r>
            <a:r>
              <a:rPr lang="en-US" baseline="0" dirty="0" err="1"/>
              <a:t>năng</a:t>
            </a:r>
            <a:r>
              <a:rPr lang="en-US" baseline="0" dirty="0"/>
              <a:t> </a:t>
            </a:r>
            <a:r>
              <a:rPr lang="en-US" baseline="0" dirty="0" err="1"/>
              <a:t>ứng</a:t>
            </a:r>
            <a:r>
              <a:rPr lang="en-US" baseline="0" dirty="0"/>
              <a:t> </a:t>
            </a:r>
            <a:r>
              <a:rPr lang="en-US" baseline="0" dirty="0" err="1"/>
              <a:t>phó</a:t>
            </a:r>
            <a:r>
              <a:rPr lang="en-US" baseline="0" dirty="0"/>
              <a:t>, </a:t>
            </a:r>
            <a:r>
              <a:rPr lang="en-US" baseline="0" dirty="0" err="1"/>
              <a:t>thích</a:t>
            </a:r>
            <a:r>
              <a:rPr lang="en-US" baseline="0" dirty="0"/>
              <a:t> </a:t>
            </a:r>
            <a:r>
              <a:rPr lang="en-US" baseline="0" dirty="0" err="1"/>
              <a:t>nghi</a:t>
            </a:r>
            <a:r>
              <a:rPr lang="en-US" baseline="0" dirty="0"/>
              <a:t> </a:t>
            </a:r>
            <a:r>
              <a:rPr lang="en-US" baseline="0" dirty="0" err="1"/>
              <a:t>linh</a:t>
            </a:r>
            <a:r>
              <a:rPr lang="en-US" baseline="0" dirty="0"/>
              <a:t> </a:t>
            </a:r>
            <a:r>
              <a:rPr lang="en-US" baseline="0" dirty="0" err="1"/>
              <a:t>hoạt</a:t>
            </a:r>
            <a:r>
              <a:rPr lang="en-US" baseline="0" dirty="0"/>
              <a:t> </a:t>
            </a:r>
            <a:r>
              <a:rPr lang="en-US" baseline="0" dirty="0" err="1"/>
              <a:t>với</a:t>
            </a:r>
            <a:r>
              <a:rPr lang="en-US" baseline="0" dirty="0"/>
              <a:t> </a:t>
            </a:r>
            <a:r>
              <a:rPr lang="en-US" baseline="0" dirty="0" err="1"/>
              <a:t>sự</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của</a:t>
            </a:r>
            <a:r>
              <a:rPr lang="en-US" baseline="0" dirty="0"/>
              <a:t> </a:t>
            </a:r>
            <a:r>
              <a:rPr lang="en-US" baseline="0" dirty="0" err="1"/>
              <a:t>môi</a:t>
            </a:r>
            <a:r>
              <a:rPr lang="en-US" baseline="0" dirty="0"/>
              <a:t> </a:t>
            </a:r>
            <a:r>
              <a:rPr lang="en-US" baseline="0" dirty="0" err="1"/>
              <a:t>trường</a:t>
            </a:r>
            <a:endParaRPr lang="en-US" baseline="0" dirty="0"/>
          </a:p>
          <a:p>
            <a:pPr marL="171450" indent="-171450">
              <a:buFontTx/>
              <a:buChar char="-"/>
            </a:pPr>
            <a:r>
              <a:rPr lang="en-US" baseline="0" dirty="0" err="1"/>
              <a:t>Khả</a:t>
            </a:r>
            <a:r>
              <a:rPr lang="en-US" baseline="0" dirty="0"/>
              <a:t> </a:t>
            </a:r>
            <a:r>
              <a:rPr lang="en-US" baseline="0" dirty="0" err="1"/>
              <a:t>năng</a:t>
            </a:r>
            <a:r>
              <a:rPr lang="en-US" baseline="0" dirty="0"/>
              <a:t> </a:t>
            </a:r>
            <a:r>
              <a:rPr lang="en-US" baseline="0" dirty="0" err="1"/>
              <a:t>tư</a:t>
            </a:r>
            <a:r>
              <a:rPr lang="en-US" baseline="0" dirty="0"/>
              <a:t> </a:t>
            </a:r>
            <a:r>
              <a:rPr lang="en-US" baseline="0" dirty="0" err="1"/>
              <a:t>duy</a:t>
            </a:r>
            <a:r>
              <a:rPr lang="en-US" baseline="0" dirty="0"/>
              <a:t> </a:t>
            </a:r>
            <a:r>
              <a:rPr lang="en-US" baseline="0" dirty="0" err="1"/>
              <a:t>trừu</a:t>
            </a:r>
            <a:r>
              <a:rPr lang="en-US" baseline="0" dirty="0"/>
              <a:t> </a:t>
            </a:r>
            <a:r>
              <a:rPr lang="en-US" baseline="0" dirty="0" err="1"/>
              <a:t>tượng</a:t>
            </a:r>
            <a:r>
              <a:rPr lang="en-US" baseline="0" dirty="0"/>
              <a:t> (</a:t>
            </a:r>
            <a:r>
              <a:rPr lang="en-US" baseline="0" dirty="0" err="1"/>
              <a:t>như</a:t>
            </a:r>
            <a:r>
              <a:rPr lang="en-US" baseline="0" dirty="0"/>
              <a:t> </a:t>
            </a:r>
            <a:r>
              <a:rPr lang="en-US" baseline="0" dirty="0" err="1"/>
              <a:t>khám</a:t>
            </a:r>
            <a:r>
              <a:rPr lang="en-US" baseline="0" dirty="0"/>
              <a:t> </a:t>
            </a:r>
            <a:r>
              <a:rPr lang="en-US" baseline="0" dirty="0" err="1"/>
              <a:t>phá</a:t>
            </a:r>
            <a:r>
              <a:rPr lang="en-US" baseline="0" dirty="0"/>
              <a:t> </a:t>
            </a:r>
            <a:r>
              <a:rPr lang="en-US" baseline="0" dirty="0" err="1"/>
              <a:t>các</a:t>
            </a:r>
            <a:r>
              <a:rPr lang="en-US" baseline="0" dirty="0"/>
              <a:t> qui </a:t>
            </a:r>
            <a:r>
              <a:rPr lang="en-US" baseline="0" dirty="0" err="1"/>
              <a:t>luật</a:t>
            </a:r>
            <a:r>
              <a:rPr lang="en-US" baseline="0" dirty="0"/>
              <a:t>, </a:t>
            </a:r>
            <a:r>
              <a:rPr lang="en-US" baseline="0" dirty="0" err="1"/>
              <a:t>phát</a:t>
            </a:r>
            <a:r>
              <a:rPr lang="en-US" baseline="0" dirty="0"/>
              <a:t> minh … ) </a:t>
            </a:r>
            <a:r>
              <a:rPr lang="en-US" baseline="0" dirty="0" err="1"/>
              <a:t>và</a:t>
            </a:r>
            <a:r>
              <a:rPr lang="en-US" baseline="0" dirty="0"/>
              <a:t> </a:t>
            </a:r>
            <a:r>
              <a:rPr lang="en-US" baseline="0" dirty="0" err="1"/>
              <a:t>vận</a:t>
            </a:r>
            <a:r>
              <a:rPr lang="en-US" baseline="0" dirty="0"/>
              <a:t> </a:t>
            </a:r>
            <a:r>
              <a:rPr lang="en-US" baseline="0" dirty="0" err="1"/>
              <a:t>dụng</a:t>
            </a:r>
            <a:r>
              <a:rPr lang="en-US" baseline="0" dirty="0"/>
              <a:t> qui </a:t>
            </a:r>
            <a:r>
              <a:rPr lang="en-US" baseline="0" dirty="0" err="1"/>
              <a:t>luật</a:t>
            </a:r>
            <a:r>
              <a:rPr lang="en-US" baseline="0" dirty="0"/>
              <a:t> </a:t>
            </a:r>
            <a:r>
              <a:rPr lang="en-US" baseline="0" dirty="0" err="1"/>
              <a:t>vào</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thực</a:t>
            </a:r>
            <a:r>
              <a:rPr lang="en-US" baseline="0" dirty="0"/>
              <a:t> </a:t>
            </a:r>
            <a:r>
              <a:rPr lang="en-US" baseline="0" dirty="0" err="1"/>
              <a:t>tiễn</a:t>
            </a:r>
            <a:endParaRPr lang="en-US" baseline="0" dirty="0"/>
          </a:p>
          <a:p>
            <a:pPr marL="171450" indent="-171450">
              <a:buFontTx/>
              <a:buChar char="-"/>
            </a:pPr>
            <a:endParaRPr lang="en-US" baseline="0" dirty="0"/>
          </a:p>
          <a:p>
            <a:r>
              <a:rPr lang="en-US" sz="2400" dirty="0" err="1"/>
              <a:t>Ví</a:t>
            </a:r>
            <a:r>
              <a:rPr lang="en-US" sz="2400" dirty="0"/>
              <a:t> </a:t>
            </a:r>
            <a:r>
              <a:rPr lang="en-US" sz="2400" dirty="0" err="1"/>
              <a:t>dụ</a:t>
            </a:r>
            <a:r>
              <a:rPr lang="en-US" sz="2400" dirty="0"/>
              <a:t>: </a:t>
            </a:r>
          </a:p>
          <a:p>
            <a:pPr lvl="1"/>
            <a:r>
              <a:rPr lang="en-US" sz="2000" dirty="0" err="1"/>
              <a:t>Giải</a:t>
            </a:r>
            <a:r>
              <a:rPr lang="en-US" sz="2000" dirty="0"/>
              <a:t> </a:t>
            </a:r>
            <a:r>
              <a:rPr lang="en-US" sz="2000" dirty="0" err="1"/>
              <a:t>quyết</a:t>
            </a:r>
            <a:r>
              <a:rPr lang="en-US" sz="2000" dirty="0"/>
              <a:t> </a:t>
            </a:r>
            <a:r>
              <a:rPr lang="en-US" sz="2000" dirty="0" err="1"/>
              <a:t>các</a:t>
            </a:r>
            <a:r>
              <a:rPr lang="en-US" sz="2000" dirty="0"/>
              <a:t> </a:t>
            </a:r>
            <a:r>
              <a:rPr lang="en-US" sz="2000" dirty="0" err="1"/>
              <a:t>vấn</a:t>
            </a:r>
            <a:r>
              <a:rPr lang="en-US" sz="2000" dirty="0"/>
              <a:t> </a:t>
            </a:r>
            <a:r>
              <a:rPr lang="en-US" sz="2000" dirty="0" err="1"/>
              <a:t>đề</a:t>
            </a:r>
            <a:r>
              <a:rPr lang="en-US" sz="2000" dirty="0"/>
              <a:t> </a:t>
            </a:r>
            <a:r>
              <a:rPr lang="en-US" sz="2000" dirty="0" err="1"/>
              <a:t>phức</a:t>
            </a:r>
            <a:r>
              <a:rPr lang="en-US" sz="2000" dirty="0"/>
              <a:t> </a:t>
            </a:r>
            <a:r>
              <a:rPr lang="en-US" sz="2000" dirty="0" err="1"/>
              <a:t>tạp</a:t>
            </a:r>
            <a:endParaRPr lang="en-US" sz="2000" dirty="0"/>
          </a:p>
          <a:p>
            <a:pPr lvl="1"/>
            <a:r>
              <a:rPr lang="en-US" sz="2000" dirty="0" err="1"/>
              <a:t>khả</a:t>
            </a:r>
            <a:r>
              <a:rPr lang="en-US" sz="2000" dirty="0"/>
              <a:t> </a:t>
            </a:r>
            <a:r>
              <a:rPr lang="en-US" sz="2000" dirty="0" err="1"/>
              <a:t>năng</a:t>
            </a:r>
            <a:r>
              <a:rPr lang="en-US" sz="2000" dirty="0"/>
              <a:t> </a:t>
            </a:r>
            <a:r>
              <a:rPr lang="en-US" sz="2000" dirty="0" err="1"/>
              <a:t>suy</a:t>
            </a:r>
            <a:r>
              <a:rPr lang="en-US" sz="2000" dirty="0"/>
              <a:t> </a:t>
            </a:r>
            <a:r>
              <a:rPr lang="en-US" sz="2000" dirty="0" err="1"/>
              <a:t>luận</a:t>
            </a:r>
            <a:endParaRPr lang="en-US" sz="2000" dirty="0"/>
          </a:p>
          <a:p>
            <a:pPr lvl="1"/>
            <a:r>
              <a:rPr lang="en-US" sz="2000" dirty="0" err="1"/>
              <a:t>Khả</a:t>
            </a:r>
            <a:r>
              <a:rPr lang="en-US" sz="2000" dirty="0"/>
              <a:t> </a:t>
            </a:r>
            <a:r>
              <a:rPr lang="en-US" sz="2000" dirty="0" err="1"/>
              <a:t>năng</a:t>
            </a:r>
            <a:r>
              <a:rPr lang="en-US" sz="2000" dirty="0"/>
              <a:t> </a:t>
            </a:r>
            <a:r>
              <a:rPr lang="en-US" sz="2000" dirty="0" err="1"/>
              <a:t>học</a:t>
            </a:r>
            <a:endParaRPr lang="en-US" sz="2000" dirty="0"/>
          </a:p>
          <a:p>
            <a:pPr lvl="1"/>
            <a:r>
              <a:rPr lang="en-US" sz="2000" dirty="0"/>
              <a:t>XLNNTN</a:t>
            </a:r>
          </a:p>
          <a:p>
            <a:pPr lvl="1"/>
            <a:r>
              <a:rPr lang="en-US" sz="2000" dirty="0" err="1"/>
              <a:t>Xử</a:t>
            </a:r>
            <a:r>
              <a:rPr lang="en-US" sz="2000" dirty="0"/>
              <a:t> </a:t>
            </a:r>
            <a:r>
              <a:rPr lang="en-US" sz="2000" dirty="0" err="1"/>
              <a:t>lý</a:t>
            </a:r>
            <a:r>
              <a:rPr lang="en-US" sz="2000" dirty="0"/>
              <a:t> </a:t>
            </a:r>
            <a:r>
              <a:rPr lang="en-US" sz="2000" dirty="0" err="1"/>
              <a:t>các</a:t>
            </a:r>
            <a:r>
              <a:rPr lang="en-US" sz="2000" dirty="0"/>
              <a:t> </a:t>
            </a:r>
            <a:r>
              <a:rPr lang="en-US" sz="2000" dirty="0" err="1"/>
              <a:t>sự</a:t>
            </a:r>
            <a:r>
              <a:rPr lang="en-US" sz="2000" dirty="0"/>
              <a:t> </a:t>
            </a:r>
            <a:r>
              <a:rPr lang="en-US" sz="2000" dirty="0" err="1"/>
              <a:t>kiện</a:t>
            </a:r>
            <a:r>
              <a:rPr lang="en-US" sz="2000" dirty="0"/>
              <a:t> &amp; </a:t>
            </a:r>
            <a:r>
              <a:rPr lang="en-US" sz="2000" dirty="0" err="1"/>
              <a:t>thông</a:t>
            </a:r>
            <a:r>
              <a:rPr lang="en-US" sz="2000" dirty="0"/>
              <a:t> tin </a:t>
            </a:r>
            <a:r>
              <a:rPr lang="en-US" sz="2000" dirty="0" err="1"/>
              <a:t>không</a:t>
            </a:r>
            <a:r>
              <a:rPr lang="en-US" sz="2000" dirty="0"/>
              <a:t> </a:t>
            </a:r>
            <a:r>
              <a:rPr lang="en-US" sz="2000" dirty="0" err="1"/>
              <a:t>chắc</a:t>
            </a:r>
            <a:r>
              <a:rPr lang="en-US" sz="2000" dirty="0"/>
              <a:t> </a:t>
            </a:r>
            <a:r>
              <a:rPr lang="en-US" sz="2000" dirty="0" err="1"/>
              <a:t>chắn</a:t>
            </a:r>
            <a:endParaRPr lang="en-US" sz="2000" dirty="0"/>
          </a:p>
          <a:p>
            <a:pPr marL="0" indent="0">
              <a:buFontTx/>
              <a:buNone/>
            </a:pPr>
            <a:endParaRPr lang="en-US" baseline="0" dirty="0"/>
          </a:p>
        </p:txBody>
      </p:sp>
      <p:sp>
        <p:nvSpPr>
          <p:cNvPr id="4" name="Slide Number Placeholder 3"/>
          <p:cNvSpPr>
            <a:spLocks noGrp="1"/>
          </p:cNvSpPr>
          <p:nvPr>
            <p:ph type="sldNum" sz="quarter" idx="10"/>
          </p:nvPr>
        </p:nvSpPr>
        <p:spPr/>
        <p:txBody>
          <a:bodyPr/>
          <a:lstStyle/>
          <a:p>
            <a:fld id="{5DB3C2B8-8A2A-4EA2-BC5D-2074B5919DAE}" type="slidenum">
              <a:rPr lang="en-US" smtClean="0"/>
              <a:pPr/>
              <a:t>5</a:t>
            </a:fld>
            <a:endParaRPr lang="en-US"/>
          </a:p>
        </p:txBody>
      </p:sp>
    </p:spTree>
    <p:extLst>
      <p:ext uri="{BB962C8B-B14F-4D97-AF65-F5344CB8AC3E}">
        <p14:creationId xmlns:p14="http://schemas.microsoft.com/office/powerpoint/2010/main" val="3934393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Từ</a:t>
            </a:r>
            <a:r>
              <a:rPr lang="en-US" b="0" baseline="0" dirty="0"/>
              <a:t> </a:t>
            </a:r>
            <a:r>
              <a:rPr lang="en-US" b="0" baseline="0" dirty="0" err="1"/>
              <a:t>những</a:t>
            </a:r>
            <a:r>
              <a:rPr lang="en-US" b="0" baseline="0" dirty="0"/>
              <a:t> </a:t>
            </a:r>
            <a:r>
              <a:rPr lang="en-US" b="0" baseline="0" dirty="0" err="1"/>
              <a:t>năm</a:t>
            </a:r>
            <a:r>
              <a:rPr lang="en-US" b="0" baseline="0" dirty="0"/>
              <a:t> 50 </a:t>
            </a:r>
            <a:r>
              <a:rPr lang="en-US" b="0" baseline="0" dirty="0" err="1"/>
              <a:t>của</a:t>
            </a:r>
            <a:r>
              <a:rPr lang="en-US" b="0" baseline="0" dirty="0"/>
              <a:t> </a:t>
            </a:r>
            <a:r>
              <a:rPr lang="en-US" b="0" baseline="0" dirty="0" err="1"/>
              <a:t>thế</a:t>
            </a:r>
            <a:r>
              <a:rPr lang="en-US" b="0" baseline="0" dirty="0"/>
              <a:t> </a:t>
            </a:r>
            <a:r>
              <a:rPr lang="en-US" b="0" baseline="0" dirty="0" err="1"/>
              <a:t>kỷ</a:t>
            </a:r>
            <a:r>
              <a:rPr lang="en-US" b="0" baseline="0" dirty="0"/>
              <a:t> 20 </a:t>
            </a:r>
            <a:r>
              <a:rPr lang="en-US" b="0" baseline="0" dirty="0" err="1"/>
              <a:t>đã</a:t>
            </a:r>
            <a:r>
              <a:rPr lang="en-US" b="0" baseline="0" dirty="0"/>
              <a:t> </a:t>
            </a:r>
            <a:r>
              <a:rPr lang="en-US" b="0" baseline="0" dirty="0" err="1"/>
              <a:t>có</a:t>
            </a:r>
            <a:r>
              <a:rPr lang="en-US" b="0" baseline="0" dirty="0"/>
              <a:t> </a:t>
            </a:r>
            <a:r>
              <a:rPr lang="en-US" b="0" baseline="0" dirty="0" err="1"/>
              <a:t>nhiều</a:t>
            </a:r>
            <a:r>
              <a:rPr lang="en-US" b="0" baseline="0" dirty="0"/>
              <a:t> </a:t>
            </a:r>
            <a:r>
              <a:rPr lang="en-US" b="0" baseline="0" dirty="0" err="1"/>
              <a:t>nghiên</a:t>
            </a:r>
            <a:r>
              <a:rPr lang="en-US" b="0" baseline="0" dirty="0"/>
              <a:t> </a:t>
            </a:r>
            <a:r>
              <a:rPr lang="en-US" b="0" baseline="0" dirty="0" err="1"/>
              <a:t>cứu</a:t>
            </a:r>
            <a:r>
              <a:rPr lang="en-US" b="0" baseline="0" dirty="0"/>
              <a:t> </a:t>
            </a:r>
            <a:r>
              <a:rPr lang="en-US" b="0" baseline="0" dirty="0" err="1"/>
              <a:t>và</a:t>
            </a:r>
            <a:r>
              <a:rPr lang="en-US" b="0" baseline="0" dirty="0"/>
              <a:t> </a:t>
            </a:r>
            <a:r>
              <a:rPr lang="en-US" b="0" baseline="0" dirty="0" err="1"/>
              <a:t>thử</a:t>
            </a:r>
            <a:r>
              <a:rPr lang="en-US" b="0" baseline="0" dirty="0"/>
              <a:t> </a:t>
            </a:r>
            <a:r>
              <a:rPr lang="en-US" b="0" baseline="0" dirty="0" err="1"/>
              <a:t>nghiệm</a:t>
            </a:r>
            <a:r>
              <a:rPr lang="en-US" b="0" baseline="0" dirty="0"/>
              <a:t> </a:t>
            </a:r>
            <a:r>
              <a:rPr lang="en-US" b="0" baseline="0" dirty="0" err="1"/>
              <a:t>các</a:t>
            </a:r>
            <a:r>
              <a:rPr lang="en-US" b="0" baseline="0" dirty="0"/>
              <a:t> </a:t>
            </a:r>
            <a:r>
              <a:rPr lang="en-US" b="0" baseline="0" dirty="0" err="1"/>
              <a:t>hệ</a:t>
            </a:r>
            <a:r>
              <a:rPr lang="en-US" b="0" baseline="0" dirty="0"/>
              <a:t> </a:t>
            </a:r>
            <a:r>
              <a:rPr lang="en-US" b="0" baseline="0" dirty="0" err="1"/>
              <a:t>thống</a:t>
            </a:r>
            <a:r>
              <a:rPr lang="en-US" b="0" baseline="0" dirty="0"/>
              <a:t> </a:t>
            </a:r>
            <a:r>
              <a:rPr lang="en-US" b="0" baseline="0" dirty="0" err="1"/>
              <a:t>thông</a:t>
            </a:r>
            <a:r>
              <a:rPr lang="en-US" b="0" baseline="0" dirty="0"/>
              <a:t> minh, </a:t>
            </a:r>
            <a:r>
              <a:rPr lang="en-US" b="0" baseline="0" dirty="0" err="1"/>
              <a:t>các</a:t>
            </a:r>
            <a:r>
              <a:rPr lang="en-US" b="0" baseline="0" dirty="0"/>
              <a:t> </a:t>
            </a:r>
            <a:r>
              <a:rPr lang="en-US" b="0" baseline="0" dirty="0" err="1"/>
              <a:t>chương</a:t>
            </a:r>
            <a:r>
              <a:rPr lang="en-US" b="0" baseline="0" dirty="0"/>
              <a:t> </a:t>
            </a:r>
            <a:r>
              <a:rPr lang="en-US" b="0" baseline="0" dirty="0" err="1"/>
              <a:t>trình</a:t>
            </a:r>
            <a:r>
              <a:rPr lang="en-US" b="0" baseline="0" dirty="0"/>
              <a:t> TTNT </a:t>
            </a:r>
            <a:r>
              <a:rPr lang="en-US" b="0" baseline="0" dirty="0" err="1"/>
              <a:t>như</a:t>
            </a:r>
            <a:r>
              <a:rPr lang="en-US" b="0"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t> - </a:t>
            </a:r>
            <a:r>
              <a:rPr lang="en-US" b="0" baseline="0" dirty="0" err="1"/>
              <a:t>Các</a:t>
            </a:r>
            <a:r>
              <a:rPr lang="en-US" b="0" baseline="0" dirty="0"/>
              <a:t> </a:t>
            </a:r>
            <a:r>
              <a:rPr lang="en-US" b="0" baseline="0" dirty="0" err="1"/>
              <a:t>hệ</a:t>
            </a:r>
            <a:r>
              <a:rPr lang="en-US" b="0" baseline="0" dirty="0"/>
              <a:t> </a:t>
            </a:r>
            <a:r>
              <a:rPr lang="en-US" b="0" baseline="0" dirty="0" err="1"/>
              <a:t>suy</a:t>
            </a:r>
            <a:r>
              <a:rPr lang="en-US" b="0" baseline="0" dirty="0"/>
              <a:t> </a:t>
            </a:r>
            <a:r>
              <a:rPr lang="en-US" b="0" baseline="0" dirty="0" err="1"/>
              <a:t>luận</a:t>
            </a:r>
            <a:r>
              <a:rPr lang="en-US" b="0" baseline="0" dirty="0"/>
              <a:t> </a:t>
            </a:r>
            <a:r>
              <a:rPr lang="en-US" b="0" baseline="0" dirty="0" err="1"/>
              <a:t>hình</a:t>
            </a:r>
            <a:r>
              <a:rPr lang="en-US" b="0" baseline="0" dirty="0"/>
              <a:t> </a:t>
            </a:r>
            <a:r>
              <a:rPr lang="en-US" b="0" baseline="0" dirty="0" err="1"/>
              <a:t>thức</a:t>
            </a:r>
            <a:endParaRPr lang="en-US" b="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err="1"/>
              <a:t>Chứng</a:t>
            </a:r>
            <a:r>
              <a:rPr lang="en-US" b="0" baseline="0" dirty="0"/>
              <a:t> minh </a:t>
            </a:r>
            <a:r>
              <a:rPr lang="en-US" b="0" baseline="0" dirty="0" err="1"/>
              <a:t>định</a:t>
            </a:r>
            <a:r>
              <a:rPr lang="en-US" b="0" baseline="0" dirty="0"/>
              <a:t> </a:t>
            </a:r>
            <a:r>
              <a:rPr lang="en-US" b="0" baseline="0" dirty="0" err="1"/>
              <a:t>lý</a:t>
            </a:r>
            <a:r>
              <a:rPr lang="en-US" b="0" baseline="0" dirty="0"/>
              <a:t> </a:t>
            </a:r>
            <a:r>
              <a:rPr lang="en-US" b="0" baseline="0" dirty="0" err="1"/>
              <a:t>hình</a:t>
            </a:r>
            <a:r>
              <a:rPr lang="en-US" b="0" baseline="0" dirty="0"/>
              <a:t> </a:t>
            </a:r>
            <a:r>
              <a:rPr lang="en-US" b="0" baseline="0" dirty="0" err="1"/>
              <a:t>học</a:t>
            </a:r>
            <a:endParaRPr lang="en-US" b="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err="1"/>
              <a:t>Giải</a:t>
            </a:r>
            <a:r>
              <a:rPr lang="en-US" b="0" baseline="0" dirty="0"/>
              <a:t> </a:t>
            </a:r>
            <a:r>
              <a:rPr lang="en-US" b="0" baseline="0" dirty="0" err="1"/>
              <a:t>toán</a:t>
            </a:r>
            <a:r>
              <a:rPr lang="en-US" b="0" baseline="0" dirty="0"/>
              <a:t> </a:t>
            </a:r>
            <a:r>
              <a:rPr lang="en-US" b="0" baseline="0" dirty="0" err="1"/>
              <a:t>tích</a:t>
            </a:r>
            <a:r>
              <a:rPr lang="en-US" b="0" baseline="0" dirty="0"/>
              <a:t> </a:t>
            </a:r>
            <a:r>
              <a:rPr lang="en-US" b="0" baseline="0" dirty="0" err="1"/>
              <a:t>phân</a:t>
            </a:r>
            <a:endParaRPr lang="en-US" b="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err="1"/>
              <a:t>Nhận</a:t>
            </a:r>
            <a:r>
              <a:rPr lang="en-US" b="0" baseline="0" dirty="0"/>
              <a:t> </a:t>
            </a:r>
            <a:r>
              <a:rPr lang="en-US" b="0" baseline="0" dirty="0" err="1"/>
              <a:t>dạng</a:t>
            </a:r>
            <a:r>
              <a:rPr lang="en-US" b="0" baseline="0" dirty="0"/>
              <a:t> </a:t>
            </a:r>
            <a:r>
              <a:rPr lang="en-US" b="0" baseline="0" dirty="0" err="1"/>
              <a:t>hình</a:t>
            </a:r>
            <a:r>
              <a:rPr lang="en-US" b="0" baseline="0" dirty="0"/>
              <a:t> </a:t>
            </a:r>
            <a:r>
              <a:rPr lang="en-US" b="0" baseline="0" dirty="0" err="1"/>
              <a:t>ảnh</a:t>
            </a:r>
            <a:endParaRPr lang="en-US" b="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0" baseline="0" dirty="0" err="1"/>
              <a:t>Tổng</a:t>
            </a:r>
            <a:r>
              <a:rPr lang="en-US" b="0" baseline="0" dirty="0"/>
              <a:t> </a:t>
            </a:r>
            <a:r>
              <a:rPr lang="en-US" b="0" baseline="0" dirty="0" err="1"/>
              <a:t>hợp</a:t>
            </a:r>
            <a:r>
              <a:rPr lang="en-US" b="0" baseline="0" dirty="0"/>
              <a:t> </a:t>
            </a:r>
            <a:r>
              <a:rPr lang="en-US" b="0" baseline="0" dirty="0" err="1"/>
              <a:t>tiếng</a:t>
            </a:r>
            <a:r>
              <a:rPr lang="en-US" b="0" baseline="0" dirty="0"/>
              <a:t> </a:t>
            </a:r>
            <a:r>
              <a:rPr lang="en-US" b="0" baseline="0" dirty="0" err="1"/>
              <a:t>nói</a:t>
            </a:r>
            <a:endParaRPr lang="en-US"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a:sym typeface="Wingdings" pitchFamily="2" charset="2"/>
              </a:rPr>
              <a:t> Ra </a:t>
            </a:r>
            <a:r>
              <a:rPr lang="en-US" b="0" baseline="0" dirty="0" err="1">
                <a:sym typeface="Wingdings" pitchFamily="2" charset="2"/>
              </a:rPr>
              <a:t>đời</a:t>
            </a:r>
            <a:r>
              <a:rPr lang="en-US" b="0" baseline="0" dirty="0">
                <a:sym typeface="Wingdings" pitchFamily="2" charset="2"/>
              </a:rPr>
              <a:t> </a:t>
            </a:r>
            <a:r>
              <a:rPr lang="en-US" b="0" baseline="0" dirty="0" err="1">
                <a:sym typeface="Wingdings" pitchFamily="2" charset="2"/>
              </a:rPr>
              <a:t>khoa</a:t>
            </a:r>
            <a:r>
              <a:rPr lang="en-US" b="0" baseline="0" dirty="0">
                <a:sym typeface="Wingdings" pitchFamily="2" charset="2"/>
              </a:rPr>
              <a:t> </a:t>
            </a:r>
            <a:r>
              <a:rPr lang="en-US" b="0" baseline="0" dirty="0" err="1">
                <a:sym typeface="Wingdings" pitchFamily="2" charset="2"/>
              </a:rPr>
              <a:t>học</a:t>
            </a:r>
            <a:r>
              <a:rPr lang="en-US" b="0" baseline="0" dirty="0">
                <a:sym typeface="Wingdings" pitchFamily="2" charset="2"/>
              </a:rPr>
              <a:t> </a:t>
            </a:r>
            <a:r>
              <a:rPr lang="en-US" b="0" baseline="0" dirty="0" err="1">
                <a:sym typeface="Wingdings" pitchFamily="2" charset="2"/>
              </a:rPr>
              <a:t>về</a:t>
            </a:r>
            <a:r>
              <a:rPr lang="en-US" b="0" baseline="0" dirty="0">
                <a:sym typeface="Wingdings" pitchFamily="2" charset="2"/>
              </a:rPr>
              <a:t> TTNT</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dirty="0" err="1">
                <a:sym typeface="Wingdings" pitchFamily="2" charset="2"/>
              </a:rPr>
              <a:t>Mục</a:t>
            </a:r>
            <a:r>
              <a:rPr lang="en-US" b="0" baseline="0" dirty="0">
                <a:sym typeface="Wingdings" pitchFamily="2" charset="2"/>
              </a:rPr>
              <a:t> </a:t>
            </a:r>
            <a:r>
              <a:rPr lang="en-US" b="0" baseline="0" dirty="0" err="1">
                <a:sym typeface="Wingdings" pitchFamily="2" charset="2"/>
              </a:rPr>
              <a:t>tiêu</a:t>
            </a:r>
            <a:r>
              <a:rPr lang="en-US" b="0" baseline="0" dirty="0">
                <a:sym typeface="Wingdings" pitchFamily="2" charset="2"/>
              </a:rPr>
              <a:t>: </a:t>
            </a:r>
            <a:r>
              <a:rPr lang="en-US" b="0" baseline="0" dirty="0" err="1">
                <a:sym typeface="Wingdings" pitchFamily="2" charset="2"/>
              </a:rPr>
              <a:t>tạo</a:t>
            </a:r>
            <a:r>
              <a:rPr lang="en-US" b="0" baseline="0" dirty="0">
                <a:sym typeface="Wingdings" pitchFamily="2" charset="2"/>
              </a:rPr>
              <a:t> </a:t>
            </a:r>
            <a:r>
              <a:rPr lang="en-US" b="0" baseline="0" dirty="0" err="1">
                <a:sym typeface="Wingdings" pitchFamily="2" charset="2"/>
              </a:rPr>
              <a:t>ra</a:t>
            </a:r>
            <a:r>
              <a:rPr lang="en-US" b="0" baseline="0" dirty="0">
                <a:sym typeface="Wingdings" pitchFamily="2" charset="2"/>
              </a:rPr>
              <a:t> </a:t>
            </a:r>
            <a:r>
              <a:rPr lang="en-US" b="0" baseline="0" dirty="0" err="1">
                <a:sym typeface="Wingdings" pitchFamily="2" charset="2"/>
              </a:rPr>
              <a:t>những</a:t>
            </a:r>
            <a:r>
              <a:rPr lang="en-US" b="0" baseline="0" dirty="0">
                <a:sym typeface="Wingdings" pitchFamily="2" charset="2"/>
              </a:rPr>
              <a:t> </a:t>
            </a:r>
            <a:r>
              <a:rPr lang="en-US" b="0" baseline="0" dirty="0" err="1">
                <a:sym typeface="Wingdings" pitchFamily="2" charset="2"/>
              </a:rPr>
              <a:t>hệ</a:t>
            </a:r>
            <a:r>
              <a:rPr lang="en-US" b="0" baseline="0" dirty="0">
                <a:sym typeface="Wingdings" pitchFamily="2" charset="2"/>
              </a:rPr>
              <a:t> </a:t>
            </a:r>
            <a:r>
              <a:rPr lang="en-US" b="0" baseline="0" dirty="0" err="1">
                <a:sym typeface="Wingdings" pitchFamily="2" charset="2"/>
              </a:rPr>
              <a:t>thống</a:t>
            </a:r>
            <a:r>
              <a:rPr lang="en-US" b="0" baseline="0" dirty="0">
                <a:sym typeface="Wingdings" pitchFamily="2" charset="2"/>
              </a:rPr>
              <a:t> </a:t>
            </a:r>
            <a:r>
              <a:rPr lang="en-US" b="0" baseline="0" dirty="0" err="1">
                <a:sym typeface="Wingdings" pitchFamily="2" charset="2"/>
              </a:rPr>
              <a:t>thông</a:t>
            </a:r>
            <a:r>
              <a:rPr lang="en-US" b="0" baseline="0" dirty="0">
                <a:sym typeface="Wingdings" pitchFamily="2" charset="2"/>
              </a:rPr>
              <a:t> minh</a:t>
            </a:r>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A. M. Turing Award - 2008</a:t>
            </a:r>
            <a:r>
              <a:rPr lang="en-US" dirty="0"/>
              <a:t> </a:t>
            </a:r>
            <a:br>
              <a:rPr lang="en-US" dirty="0"/>
            </a:br>
            <a:r>
              <a:rPr lang="en-US" dirty="0"/>
              <a:t>ACM's most prestigious technical award is accompanied by a prize of $250,000. It is given to an individual selected for contributions of a technical nature made to the computing community. The contributions should be of lasting and major technical importance to the computer field. Financial support of the Turing Award is provided by the Intel Corporation and Google Inc.</a:t>
            </a:r>
            <a:br>
              <a:rPr lang="en-US" dirty="0"/>
            </a:br>
            <a:endParaRPr lang="en-US" dirty="0"/>
          </a:p>
          <a:p>
            <a:endParaRPr lang="en-US" dirty="0"/>
          </a:p>
          <a:p>
            <a:r>
              <a:rPr lang="en-US" b="1" dirty="0"/>
              <a:t>M. </a:t>
            </a:r>
            <a:r>
              <a:rPr lang="en-US" b="1" dirty="0" err="1"/>
              <a:t>Minsky</a:t>
            </a:r>
            <a:r>
              <a:rPr lang="en-US" b="1" dirty="0"/>
              <a:t>:</a:t>
            </a:r>
            <a:r>
              <a:rPr lang="en-US" b="1" baseline="0" dirty="0"/>
              <a:t> </a:t>
            </a:r>
            <a:r>
              <a:rPr lang="en-US" b="0" baseline="0" dirty="0"/>
              <a:t> </a:t>
            </a:r>
            <a:r>
              <a:rPr lang="en-US" b="0" baseline="0" dirty="0" err="1"/>
              <a:t>giáo</a:t>
            </a:r>
            <a:r>
              <a:rPr lang="en-US" b="0" baseline="0" dirty="0"/>
              <a:t> </a:t>
            </a:r>
            <a:r>
              <a:rPr lang="en-US" b="0" baseline="0" dirty="0" err="1"/>
              <a:t>sư</a:t>
            </a:r>
            <a:r>
              <a:rPr lang="en-US" b="0" baseline="0" dirty="0"/>
              <a:t> </a:t>
            </a:r>
            <a:r>
              <a:rPr lang="en-US" b="0" baseline="0" dirty="0" err="1"/>
              <a:t>về</a:t>
            </a:r>
            <a:r>
              <a:rPr lang="en-US" b="0" baseline="0" dirty="0"/>
              <a:t> </a:t>
            </a:r>
            <a:r>
              <a:rPr lang="en-US" b="0" baseline="0" dirty="0" err="1"/>
              <a:t>khoa</a:t>
            </a:r>
            <a:r>
              <a:rPr lang="en-US" b="0" baseline="0" dirty="0"/>
              <a:t> </a:t>
            </a:r>
            <a:r>
              <a:rPr lang="en-US" b="0" baseline="0" dirty="0" err="1"/>
              <a:t>học</a:t>
            </a:r>
            <a:r>
              <a:rPr lang="en-US" b="0" baseline="0" dirty="0"/>
              <a:t>, </a:t>
            </a:r>
            <a:r>
              <a:rPr lang="en-US" b="0" baseline="0" dirty="0" err="1"/>
              <a:t>làm</a:t>
            </a:r>
            <a:r>
              <a:rPr lang="en-US" b="0" baseline="0" dirty="0"/>
              <a:t> </a:t>
            </a:r>
            <a:r>
              <a:rPr lang="en-US" b="0" baseline="0" dirty="0" err="1"/>
              <a:t>việc</a:t>
            </a:r>
            <a:r>
              <a:rPr lang="en-US" b="0" baseline="0" dirty="0"/>
              <a:t> </a:t>
            </a:r>
            <a:r>
              <a:rPr lang="en-US" b="0" baseline="0" dirty="0" err="1"/>
              <a:t>tại</a:t>
            </a:r>
            <a:r>
              <a:rPr lang="en-US" b="0" baseline="0" dirty="0"/>
              <a:t> MIT, </a:t>
            </a:r>
            <a:r>
              <a:rPr lang="en-US" b="0" baseline="0" dirty="0" err="1"/>
              <a:t>giải</a:t>
            </a:r>
            <a:r>
              <a:rPr lang="en-US" b="0" baseline="0" dirty="0"/>
              <a:t> </a:t>
            </a:r>
            <a:r>
              <a:rPr lang="en-US" b="0" baseline="0" dirty="0" err="1"/>
              <a:t>thưởng</a:t>
            </a:r>
            <a:r>
              <a:rPr lang="en-US" b="0" baseline="0" dirty="0"/>
              <a:t> Turing Award</a:t>
            </a:r>
          </a:p>
          <a:p>
            <a:r>
              <a:rPr lang="en-US" b="1" baseline="0" dirty="0" err="1"/>
              <a:t>J.McCarthy</a:t>
            </a:r>
            <a:r>
              <a:rPr lang="en-US" b="0" baseline="0" dirty="0"/>
              <a:t>: </a:t>
            </a:r>
            <a:r>
              <a:rPr lang="en-US" dirty="0"/>
              <a:t>Computer Science at Stanford University</a:t>
            </a:r>
            <a:endParaRPr lang="en-US" b="1" dirty="0"/>
          </a:p>
          <a:p>
            <a:r>
              <a:rPr lang="en-US" b="1" dirty="0"/>
              <a:t>H. Simon</a:t>
            </a:r>
            <a:r>
              <a:rPr lang="en-US" dirty="0"/>
              <a:t>: </a:t>
            </a:r>
            <a:r>
              <a:rPr lang="en-US" dirty="0" err="1"/>
              <a:t>nhà</a:t>
            </a:r>
            <a:r>
              <a:rPr lang="en-US" baseline="0" dirty="0"/>
              <a:t> </a:t>
            </a:r>
            <a:r>
              <a:rPr lang="en-US" baseline="0" dirty="0" err="1"/>
              <a:t>kinh</a:t>
            </a:r>
            <a:r>
              <a:rPr lang="en-US" baseline="0" dirty="0"/>
              <a:t> </a:t>
            </a:r>
            <a:r>
              <a:rPr lang="en-US" baseline="0" dirty="0" err="1"/>
              <a:t>tế</a:t>
            </a:r>
            <a:r>
              <a:rPr lang="en-US" baseline="0" dirty="0"/>
              <a:t> </a:t>
            </a:r>
            <a:r>
              <a:rPr lang="en-US" baseline="0" dirty="0" err="1"/>
              <a:t>học</a:t>
            </a:r>
            <a:r>
              <a:rPr lang="en-US" baseline="0" dirty="0"/>
              <a:t> </a:t>
            </a:r>
            <a:r>
              <a:rPr lang="en-US" baseline="0" dirty="0" err="1"/>
              <a:t>và</a:t>
            </a:r>
            <a:r>
              <a:rPr lang="en-US" baseline="0" dirty="0"/>
              <a:t> </a:t>
            </a:r>
            <a:r>
              <a:rPr lang="en-US" baseline="0" dirty="0" err="1"/>
              <a:t>tâm</a:t>
            </a:r>
            <a:r>
              <a:rPr lang="en-US" baseline="0" dirty="0"/>
              <a:t> </a:t>
            </a:r>
            <a:r>
              <a:rPr lang="en-US" baseline="0" dirty="0" err="1"/>
              <a:t>lý</a:t>
            </a:r>
            <a:r>
              <a:rPr lang="en-US" baseline="0" dirty="0"/>
              <a:t> </a:t>
            </a:r>
            <a:r>
              <a:rPr lang="en-US" baseline="0" dirty="0" err="1"/>
              <a:t>học</a:t>
            </a:r>
            <a:r>
              <a:rPr lang="en-US" baseline="0" dirty="0"/>
              <a:t> </a:t>
            </a:r>
            <a:r>
              <a:rPr lang="en-US" baseline="0" dirty="0" err="1"/>
              <a:t>người</a:t>
            </a:r>
            <a:r>
              <a:rPr lang="en-US" baseline="0" dirty="0"/>
              <a:t> </a:t>
            </a:r>
            <a:r>
              <a:rPr lang="en-US" baseline="0" dirty="0" err="1"/>
              <a:t>Mỹ</a:t>
            </a:r>
            <a:r>
              <a:rPr lang="en-US" baseline="0" dirty="0"/>
              <a:t>, </a:t>
            </a:r>
            <a:r>
              <a:rPr lang="en-US" b="0" baseline="0" dirty="0" err="1"/>
              <a:t>giải</a:t>
            </a:r>
            <a:r>
              <a:rPr lang="en-US" b="0" baseline="0" dirty="0"/>
              <a:t> </a:t>
            </a:r>
            <a:r>
              <a:rPr lang="en-US" b="0" baseline="0" dirty="0" err="1"/>
              <a:t>thưởng</a:t>
            </a:r>
            <a:r>
              <a:rPr lang="en-US" b="0" baseline="0" dirty="0"/>
              <a:t> Turing Award</a:t>
            </a:r>
          </a:p>
          <a:p>
            <a:endParaRPr lang="en-US" dirty="0"/>
          </a:p>
        </p:txBody>
      </p:sp>
      <p:sp>
        <p:nvSpPr>
          <p:cNvPr id="4" name="Slide Number Placeholder 3"/>
          <p:cNvSpPr>
            <a:spLocks noGrp="1"/>
          </p:cNvSpPr>
          <p:nvPr>
            <p:ph type="sldNum" sz="quarter" idx="10"/>
          </p:nvPr>
        </p:nvSpPr>
        <p:spPr/>
        <p:txBody>
          <a:bodyPr/>
          <a:lstStyle/>
          <a:p>
            <a:fld id="{5DB3C2B8-8A2A-4EA2-BC5D-2074B5919DAE}" type="slidenum">
              <a:rPr lang="en-US" smtClean="0"/>
              <a:pPr/>
              <a:t>19</a:t>
            </a:fld>
            <a:endParaRPr lang="en-US"/>
          </a:p>
        </p:txBody>
      </p:sp>
    </p:spTree>
    <p:extLst>
      <p:ext uri="{BB962C8B-B14F-4D97-AF65-F5344CB8AC3E}">
        <p14:creationId xmlns:p14="http://schemas.microsoft.com/office/powerpoint/2010/main" val="3024500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1" dirty="0"/>
              <a:t>Lisp</a:t>
            </a:r>
            <a:r>
              <a:rPr lang="vi-VN" dirty="0"/>
              <a:t> là ngôn ngữ lập trình được phát triển từ rất sớm (</a:t>
            </a:r>
            <a:r>
              <a:rPr lang="vi-VN" dirty="0">
                <a:hlinkClick r:id="rId3" action="ppaction://hlinkfile" tooltip="1958"/>
              </a:rPr>
              <a:t>1958</a:t>
            </a:r>
            <a:r>
              <a:rPr lang="vi-VN" dirty="0"/>
              <a:t>). Lisp, viết tắt của </a:t>
            </a:r>
            <a:r>
              <a:rPr lang="vi-VN" i="1" dirty="0"/>
              <a:t>LISt Processing</a:t>
            </a:r>
            <a:r>
              <a:rPr lang="vi-VN" dirty="0"/>
              <a:t> có cấu trúc dữ liệu nền tảng là các </a:t>
            </a:r>
            <a:r>
              <a:rPr lang="vi-VN" dirty="0">
                <a:hlinkClick r:id="rId4" action="ppaction://hlinkfile" tooltip="Danh sách liên kết (trang chưa được viết)"/>
              </a:rPr>
              <a:t>danh sách liên kết</a:t>
            </a:r>
            <a:r>
              <a:rPr lang="vi-VN" dirty="0"/>
              <a:t> (</a:t>
            </a:r>
            <a:r>
              <a:rPr lang="vi-VN" i="1" dirty="0"/>
              <a:t>linked list</a:t>
            </a:r>
            <a:r>
              <a:rPr lang="vi-VN" dirty="0"/>
              <a:t>). Lisp được </a:t>
            </a:r>
            <a:r>
              <a:rPr lang="vi-VN" dirty="0">
                <a:hlinkClick r:id="rId5" action="ppaction://hlinkfile" tooltip="John McCarthy (trang chưa được viết)"/>
              </a:rPr>
              <a:t>John McCarthy</a:t>
            </a:r>
            <a:r>
              <a:rPr lang="vi-VN" dirty="0"/>
              <a:t> đề xuất vào năm 1958 tại </a:t>
            </a:r>
            <a:r>
              <a:rPr lang="vi-VN" dirty="0">
                <a:hlinkClick r:id="rId6" action="ppaction://hlinkfile" tooltip="MIT"/>
              </a:rPr>
              <a:t>MIT</a:t>
            </a:r>
            <a:r>
              <a:rPr lang="vi-VN" dirty="0"/>
              <a:t>. Steve Russell đã chuyển từ ý tưởng sang thực tế trên máy tính.</a:t>
            </a:r>
            <a:endParaRPr lang="en-US" dirty="0"/>
          </a:p>
        </p:txBody>
      </p:sp>
      <p:sp>
        <p:nvSpPr>
          <p:cNvPr id="4" name="Slide Number Placeholder 3"/>
          <p:cNvSpPr>
            <a:spLocks noGrp="1"/>
          </p:cNvSpPr>
          <p:nvPr>
            <p:ph type="sldNum" sz="quarter" idx="10"/>
          </p:nvPr>
        </p:nvSpPr>
        <p:spPr/>
        <p:txBody>
          <a:bodyPr/>
          <a:lstStyle/>
          <a:p>
            <a:fld id="{5DB3C2B8-8A2A-4EA2-BC5D-2074B5919DAE}" type="slidenum">
              <a:rPr lang="en-US" smtClean="0"/>
              <a:pPr/>
              <a:t>20</a:t>
            </a:fld>
            <a:endParaRPr lang="en-US"/>
          </a:p>
        </p:txBody>
      </p:sp>
    </p:spTree>
    <p:extLst>
      <p:ext uri="{BB962C8B-B14F-4D97-AF65-F5344CB8AC3E}">
        <p14:creationId xmlns:p14="http://schemas.microsoft.com/office/powerpoint/2010/main" val="964120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dirty="0"/>
              <a:t>dựa trên kỹ thuật State Space Search với trạng thái (State) là các tình huống của trò chơi. Đáp án cần tìm là trạng thái thắng hay con đường d</a:t>
            </a:r>
            <a:r>
              <a:rPr lang="en-US" sz="1200" dirty="0"/>
              <a:t>ẫ</a:t>
            </a:r>
            <a:r>
              <a:rPr lang="vi-VN" sz="1200" dirty="0"/>
              <a:t>n tới trạng thái thắng. áp dụng với các trò chơi loại đối kháng. Ví dụ: Trò chơi đánh cờ vua. </a:t>
            </a:r>
            <a:endParaRPr lang="en-US" dirty="0"/>
          </a:p>
        </p:txBody>
      </p:sp>
      <p:sp>
        <p:nvSpPr>
          <p:cNvPr id="4" name="Slide Number Placeholder 3"/>
          <p:cNvSpPr>
            <a:spLocks noGrp="1"/>
          </p:cNvSpPr>
          <p:nvPr>
            <p:ph type="sldNum" sz="quarter" idx="10"/>
          </p:nvPr>
        </p:nvSpPr>
        <p:spPr/>
        <p:txBody>
          <a:bodyPr/>
          <a:lstStyle/>
          <a:p>
            <a:pPr>
              <a:defRPr/>
            </a:pPr>
            <a:fld id="{D53DC354-F2D0-442D-B2F4-71006D42FD8A}" type="slidenum">
              <a:rPr lang="en-GB" smtClean="0"/>
              <a:pPr>
                <a:defRPr/>
              </a:pPr>
              <a:t>21</a:t>
            </a:fld>
            <a:endParaRPr lang="en-GB"/>
          </a:p>
        </p:txBody>
      </p:sp>
    </p:spTree>
    <p:extLst>
      <p:ext uri="{BB962C8B-B14F-4D97-AF65-F5344CB8AC3E}">
        <p14:creationId xmlns:p14="http://schemas.microsoft.com/office/powerpoint/2010/main" val="2391459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DB3C2B8-8A2A-4EA2-BC5D-2074B5919DAE}" type="slidenum">
              <a:rPr lang="en-US" smtClean="0"/>
              <a:pPr/>
              <a:t>22</a:t>
            </a:fld>
            <a:endParaRPr lang="en-US"/>
          </a:p>
        </p:txBody>
      </p:sp>
    </p:spTree>
    <p:extLst>
      <p:ext uri="{BB962C8B-B14F-4D97-AF65-F5344CB8AC3E}">
        <p14:creationId xmlns:p14="http://schemas.microsoft.com/office/powerpoint/2010/main" val="3738312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Những</a:t>
            </a:r>
            <a:r>
              <a:rPr lang="en-US" baseline="0" dirty="0"/>
              <a:t> </a:t>
            </a:r>
            <a:r>
              <a:rPr lang="en-US" baseline="0" dirty="0" err="1"/>
              <a:t>định</a:t>
            </a:r>
            <a:r>
              <a:rPr lang="en-US" baseline="0" dirty="0"/>
              <a:t> </a:t>
            </a:r>
            <a:r>
              <a:rPr lang="en-US" baseline="0" dirty="0" err="1"/>
              <a:t>hướng</a:t>
            </a:r>
            <a:r>
              <a:rPr lang="en-US" baseline="0" dirty="0"/>
              <a:t> </a:t>
            </a:r>
            <a:r>
              <a:rPr lang="en-US" baseline="0" dirty="0" err="1"/>
              <a:t>nghiên</a:t>
            </a:r>
            <a:r>
              <a:rPr lang="en-US" baseline="0" dirty="0"/>
              <a:t> </a:t>
            </a:r>
            <a:r>
              <a:rPr lang="en-US" baseline="0" dirty="0" err="1"/>
              <a:t>cứu</a:t>
            </a:r>
            <a:r>
              <a:rPr lang="en-US" baseline="0" dirty="0"/>
              <a:t>:</a:t>
            </a:r>
            <a:endParaRPr lang="en-US" dirty="0"/>
          </a:p>
          <a:p>
            <a:r>
              <a:rPr lang="en-US" dirty="0" err="1"/>
              <a:t>Biểu</a:t>
            </a:r>
            <a:r>
              <a:rPr lang="en-US" baseline="0" dirty="0"/>
              <a:t> </a:t>
            </a:r>
            <a:r>
              <a:rPr lang="en-US" baseline="0" dirty="0" err="1"/>
              <a:t>diễn</a:t>
            </a:r>
            <a:r>
              <a:rPr lang="en-US" baseline="0" dirty="0"/>
              <a:t> tri </a:t>
            </a:r>
            <a:r>
              <a:rPr lang="en-US" baseline="0" dirty="0" err="1"/>
              <a:t>thức</a:t>
            </a:r>
            <a:endParaRPr lang="en-US" baseline="0" dirty="0"/>
          </a:p>
          <a:p>
            <a:r>
              <a:rPr lang="en-US" baseline="0" dirty="0" err="1"/>
              <a:t>Khả</a:t>
            </a:r>
            <a:r>
              <a:rPr lang="en-US" baseline="0" dirty="0"/>
              <a:t> </a:t>
            </a:r>
            <a:r>
              <a:rPr lang="en-US" baseline="0" dirty="0" err="1"/>
              <a:t>năng</a:t>
            </a:r>
            <a:r>
              <a:rPr lang="en-US" baseline="0" dirty="0"/>
              <a:t> </a:t>
            </a:r>
            <a:r>
              <a:rPr lang="en-US" baseline="0" dirty="0" err="1"/>
              <a:t>suy</a:t>
            </a:r>
            <a:r>
              <a:rPr lang="en-US" baseline="0" dirty="0"/>
              <a:t> </a:t>
            </a:r>
            <a:r>
              <a:rPr lang="en-US" baseline="0" dirty="0" err="1"/>
              <a:t>luận</a:t>
            </a:r>
            <a:r>
              <a:rPr lang="en-US" baseline="0" dirty="0"/>
              <a:t> </a:t>
            </a:r>
            <a:r>
              <a:rPr lang="en-US" baseline="0" dirty="0" err="1"/>
              <a:t>tự</a:t>
            </a:r>
            <a:r>
              <a:rPr lang="en-US" baseline="0" dirty="0"/>
              <a:t> </a:t>
            </a:r>
            <a:r>
              <a:rPr lang="en-US" baseline="0" dirty="0" err="1"/>
              <a:t>động</a:t>
            </a:r>
            <a:r>
              <a:rPr lang="en-US" baseline="0" dirty="0"/>
              <a:t> &amp; </a:t>
            </a:r>
            <a:r>
              <a:rPr lang="en-US" baseline="0" dirty="0" err="1"/>
              <a:t>chứng</a:t>
            </a:r>
            <a:r>
              <a:rPr lang="en-US" baseline="0" dirty="0"/>
              <a:t> minh </a:t>
            </a:r>
            <a:r>
              <a:rPr lang="en-US" baseline="0" dirty="0" err="1"/>
              <a:t>định</a:t>
            </a:r>
            <a:r>
              <a:rPr lang="en-US" baseline="0" dirty="0"/>
              <a:t> </a:t>
            </a:r>
            <a:r>
              <a:rPr lang="en-US" baseline="0" dirty="0" err="1"/>
              <a:t>lý</a:t>
            </a:r>
            <a:r>
              <a:rPr lang="en-US" baseline="0" dirty="0"/>
              <a:t> </a:t>
            </a:r>
            <a:r>
              <a:rPr lang="en-US" baseline="0" dirty="0" err="1"/>
              <a:t>hình</a:t>
            </a:r>
            <a:r>
              <a:rPr lang="en-US" baseline="0" dirty="0"/>
              <a:t> </a:t>
            </a:r>
            <a:r>
              <a:rPr lang="en-US" baseline="0" dirty="0" err="1"/>
              <a:t>học</a:t>
            </a:r>
            <a:endParaRPr lang="en-US" baseline="0" dirty="0"/>
          </a:p>
          <a:p>
            <a:r>
              <a:rPr lang="en-US" baseline="0" dirty="0"/>
              <a:t>Heuristic</a:t>
            </a:r>
          </a:p>
          <a:p>
            <a:r>
              <a:rPr lang="en-US" baseline="0" dirty="0" err="1"/>
              <a:t>Công</a:t>
            </a:r>
            <a:r>
              <a:rPr lang="en-US" baseline="0" dirty="0"/>
              <a:t> </a:t>
            </a:r>
            <a:r>
              <a:rPr lang="en-US" baseline="0" dirty="0" err="1"/>
              <a:t>cụ</a:t>
            </a:r>
            <a:r>
              <a:rPr lang="en-US" baseline="0" dirty="0"/>
              <a:t> (</a:t>
            </a:r>
            <a:r>
              <a:rPr lang="en-US" baseline="0" dirty="0" err="1"/>
              <a:t>các</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lập</a:t>
            </a:r>
            <a:r>
              <a:rPr lang="en-US" baseline="0" dirty="0"/>
              <a:t> </a:t>
            </a:r>
            <a:r>
              <a:rPr lang="en-US" baseline="0" dirty="0" err="1"/>
              <a:t>trình</a:t>
            </a:r>
            <a:r>
              <a:rPr lang="en-US" baseline="0" dirty="0"/>
              <a:t> &amp; </a:t>
            </a:r>
            <a:r>
              <a:rPr lang="en-US" baseline="0" dirty="0" err="1"/>
              <a:t>các</a:t>
            </a:r>
            <a:r>
              <a:rPr lang="en-US" baseline="0" dirty="0"/>
              <a:t> tool </a:t>
            </a:r>
            <a:r>
              <a:rPr lang="en-US" baseline="0" dirty="0" err="1"/>
              <a:t>thiết</a:t>
            </a:r>
            <a:r>
              <a:rPr lang="en-US" baseline="0" dirty="0"/>
              <a:t> </a:t>
            </a:r>
            <a:r>
              <a:rPr lang="en-US" baseline="0" dirty="0" err="1"/>
              <a:t>kế</a:t>
            </a:r>
            <a:r>
              <a:rPr lang="en-US" baseline="0" dirty="0"/>
              <a:t>, …). VD: C++, PROLOG, LISP</a:t>
            </a:r>
          </a:p>
          <a:p>
            <a:r>
              <a:rPr lang="en-US" baseline="0" dirty="0" err="1"/>
              <a:t>Các</a:t>
            </a:r>
            <a:r>
              <a:rPr lang="en-US" baseline="0" dirty="0"/>
              <a:t> </a:t>
            </a:r>
            <a:r>
              <a:rPr lang="en-US" baseline="0" dirty="0" err="1"/>
              <a:t>phương</a:t>
            </a:r>
            <a:r>
              <a:rPr lang="en-US" baseline="0" dirty="0"/>
              <a:t> </a:t>
            </a:r>
            <a:r>
              <a:rPr lang="en-US" baseline="0" dirty="0" err="1"/>
              <a:t>pháp</a:t>
            </a:r>
            <a:r>
              <a:rPr lang="en-US" baseline="0" dirty="0"/>
              <a:t> </a:t>
            </a:r>
            <a:r>
              <a:rPr lang="en-US" baseline="0" dirty="0" err="1"/>
              <a:t>giải</a:t>
            </a:r>
            <a:r>
              <a:rPr lang="en-US" baseline="0" dirty="0"/>
              <a:t> </a:t>
            </a:r>
            <a:r>
              <a:rPr lang="en-US" baseline="0" dirty="0" err="1"/>
              <a:t>quyết</a:t>
            </a:r>
            <a:r>
              <a:rPr lang="en-US" baseline="0" dirty="0"/>
              <a:t> </a:t>
            </a:r>
            <a:r>
              <a:rPr lang="en-US" baseline="0" dirty="0" err="1"/>
              <a:t>vấn</a:t>
            </a:r>
            <a:r>
              <a:rPr lang="en-US" baseline="0" dirty="0"/>
              <a:t> </a:t>
            </a:r>
            <a:r>
              <a:rPr lang="en-US" baseline="0" dirty="0" err="1"/>
              <a:t>đề</a:t>
            </a:r>
            <a:r>
              <a:rPr lang="en-US" baseline="0" dirty="0"/>
              <a:t>. VD: GPS = General Problem Server</a:t>
            </a:r>
          </a:p>
          <a:p>
            <a:r>
              <a:rPr lang="en-US" baseline="0" dirty="0" err="1"/>
              <a:t>Hệ</a:t>
            </a:r>
            <a:r>
              <a:rPr lang="en-US" baseline="0" dirty="0"/>
              <a:t> </a:t>
            </a:r>
            <a:r>
              <a:rPr lang="en-US" baseline="0" dirty="0" err="1"/>
              <a:t>chuyên</a:t>
            </a:r>
            <a:r>
              <a:rPr lang="en-US" baseline="0" dirty="0"/>
              <a:t> </a:t>
            </a:r>
            <a:r>
              <a:rPr lang="en-US" baseline="0" dirty="0" err="1"/>
              <a:t>gia</a:t>
            </a:r>
            <a:r>
              <a:rPr lang="en-US" baseline="0" dirty="0"/>
              <a:t>. VD: MYCIN </a:t>
            </a:r>
            <a:r>
              <a:rPr lang="en-US" baseline="0" dirty="0" err="1"/>
              <a:t>dùng</a:t>
            </a:r>
            <a:r>
              <a:rPr lang="en-US" baseline="0" dirty="0"/>
              <a:t> </a:t>
            </a:r>
            <a:r>
              <a:rPr lang="en-US" baseline="0" dirty="0" err="1"/>
              <a:t>trong</a:t>
            </a:r>
            <a:r>
              <a:rPr lang="en-US" baseline="0" dirty="0"/>
              <a:t> </a:t>
            </a:r>
            <a:r>
              <a:rPr lang="en-US" baseline="0" dirty="0" err="1"/>
              <a:t>sinh</a:t>
            </a:r>
            <a:r>
              <a:rPr lang="en-US" baseline="0" dirty="0"/>
              <a:t> </a:t>
            </a:r>
            <a:r>
              <a:rPr lang="en-US" baseline="0" dirty="0" err="1"/>
              <a:t>học</a:t>
            </a:r>
            <a:endParaRPr lang="en-US" baseline="0" dirty="0"/>
          </a:p>
          <a:p>
            <a:r>
              <a:rPr lang="en-US" baseline="0" dirty="0" err="1"/>
              <a:t>Xử</a:t>
            </a:r>
            <a:r>
              <a:rPr lang="en-US" baseline="0" dirty="0"/>
              <a:t> </a:t>
            </a:r>
            <a:r>
              <a:rPr lang="en-US" baseline="0" dirty="0" err="1"/>
              <a:t>lý</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tự</a:t>
            </a:r>
            <a:r>
              <a:rPr lang="en-US" baseline="0" dirty="0"/>
              <a:t> </a:t>
            </a:r>
            <a:r>
              <a:rPr lang="en-US" baseline="0" dirty="0" err="1"/>
              <a:t>nhiên</a:t>
            </a:r>
            <a:r>
              <a:rPr lang="en-US" baseline="0" dirty="0"/>
              <a:t>. VD: </a:t>
            </a:r>
            <a:r>
              <a:rPr lang="en-US" baseline="0" dirty="0" err="1"/>
              <a:t>dịch</a:t>
            </a:r>
            <a:r>
              <a:rPr lang="en-US" baseline="0" dirty="0"/>
              <a:t> NNTN, </a:t>
            </a:r>
            <a:r>
              <a:rPr lang="en-US" baseline="0" dirty="0" err="1"/>
              <a:t>hiểu</a:t>
            </a:r>
            <a:r>
              <a:rPr lang="en-US" baseline="0" dirty="0"/>
              <a:t> </a:t>
            </a:r>
            <a:r>
              <a:rPr lang="en-US" baseline="0" dirty="0" err="1"/>
              <a:t>văn</a:t>
            </a:r>
            <a:r>
              <a:rPr lang="en-US" baseline="0" dirty="0"/>
              <a:t> </a:t>
            </a:r>
            <a:r>
              <a:rPr lang="en-US" baseline="0" dirty="0" err="1"/>
              <a:t>bản</a:t>
            </a:r>
            <a:r>
              <a:rPr lang="en-US" baseline="0" dirty="0"/>
              <a:t> </a:t>
            </a:r>
            <a:r>
              <a:rPr lang="en-US" baseline="0" dirty="0" err="1"/>
              <a:t>bằng</a:t>
            </a:r>
            <a:r>
              <a:rPr lang="en-US" baseline="0" dirty="0"/>
              <a:t> NNTN</a:t>
            </a:r>
          </a:p>
          <a:p>
            <a:r>
              <a:rPr lang="en-US" baseline="0" dirty="0" err="1"/>
              <a:t>Nguyên</a:t>
            </a:r>
            <a:r>
              <a:rPr lang="en-US" baseline="0" dirty="0"/>
              <a:t> </a:t>
            </a:r>
            <a:r>
              <a:rPr lang="en-US" baseline="0" dirty="0" err="1"/>
              <a:t>cứu</a:t>
            </a:r>
            <a:r>
              <a:rPr lang="en-US" baseline="0" dirty="0"/>
              <a:t> </a:t>
            </a:r>
            <a:r>
              <a:rPr lang="en-US" baseline="0" dirty="0" err="1"/>
              <a:t>nhận</a:t>
            </a:r>
            <a:r>
              <a:rPr lang="en-US" baseline="0" dirty="0"/>
              <a:t> </a:t>
            </a:r>
            <a:r>
              <a:rPr lang="en-US" baseline="0" dirty="0" err="1"/>
              <a:t>dạng</a:t>
            </a:r>
            <a:r>
              <a:rPr lang="en-US" baseline="0" dirty="0"/>
              <a:t>. VD: </a:t>
            </a:r>
            <a:r>
              <a:rPr lang="en-US" baseline="0" dirty="0" err="1"/>
              <a:t>nhận</a:t>
            </a:r>
            <a:r>
              <a:rPr lang="en-US" baseline="0" dirty="0"/>
              <a:t> </a:t>
            </a:r>
            <a:r>
              <a:rPr lang="en-US" baseline="0" dirty="0" err="1"/>
              <a:t>dạng</a:t>
            </a:r>
            <a:r>
              <a:rPr lang="en-US" baseline="0" dirty="0"/>
              <a:t> </a:t>
            </a:r>
            <a:r>
              <a:rPr lang="en-US" baseline="0" dirty="0" err="1"/>
              <a:t>hình</a:t>
            </a:r>
            <a:r>
              <a:rPr lang="en-US" baseline="0" dirty="0"/>
              <a:t> </a:t>
            </a:r>
            <a:r>
              <a:rPr lang="en-US" baseline="0" dirty="0" err="1"/>
              <a:t>ảnh</a:t>
            </a:r>
            <a:r>
              <a:rPr lang="en-US" baseline="0" dirty="0"/>
              <a:t> (</a:t>
            </a:r>
            <a:r>
              <a:rPr lang="en-US" baseline="0" dirty="0" err="1"/>
              <a:t>chữ</a:t>
            </a:r>
            <a:r>
              <a:rPr lang="en-US" baseline="0" dirty="0"/>
              <a:t> </a:t>
            </a:r>
            <a:r>
              <a:rPr lang="en-US" baseline="0" dirty="0" err="1"/>
              <a:t>viết</a:t>
            </a:r>
            <a:r>
              <a:rPr lang="en-US" baseline="0" dirty="0"/>
              <a:t>, </a:t>
            </a:r>
            <a:r>
              <a:rPr lang="en-US" baseline="0" dirty="0" err="1"/>
              <a:t>vân</a:t>
            </a:r>
            <a:r>
              <a:rPr lang="en-US" baseline="0" dirty="0"/>
              <a:t> </a:t>
            </a:r>
            <a:r>
              <a:rPr lang="en-US" baseline="0" dirty="0" err="1"/>
              <a:t>tay</a:t>
            </a:r>
            <a:r>
              <a:rPr lang="en-US" baseline="0" dirty="0"/>
              <a:t>, </a:t>
            </a:r>
            <a:r>
              <a:rPr lang="en-US" baseline="0" dirty="0" err="1"/>
              <a:t>chân</a:t>
            </a:r>
            <a:r>
              <a:rPr lang="en-US" baseline="0" dirty="0"/>
              <a:t> dung), </a:t>
            </a:r>
            <a:r>
              <a:rPr lang="en-US" baseline="0" dirty="0" err="1"/>
              <a:t>nhận</a:t>
            </a:r>
            <a:r>
              <a:rPr lang="en-US" baseline="0" dirty="0"/>
              <a:t> </a:t>
            </a:r>
            <a:r>
              <a:rPr lang="en-US" baseline="0" dirty="0" err="1"/>
              <a:t>dạng</a:t>
            </a:r>
            <a:r>
              <a:rPr lang="en-US" baseline="0" dirty="0"/>
              <a:t> </a:t>
            </a:r>
            <a:r>
              <a:rPr lang="en-US" baseline="0" dirty="0" err="1"/>
              <a:t>âm</a:t>
            </a:r>
            <a:r>
              <a:rPr lang="en-US" baseline="0" dirty="0"/>
              <a:t> </a:t>
            </a:r>
            <a:r>
              <a:rPr lang="en-US" baseline="0" dirty="0" err="1"/>
              <a:t>thanh</a:t>
            </a:r>
            <a:r>
              <a:rPr lang="en-US" baseline="0" dirty="0"/>
              <a:t> (</a:t>
            </a:r>
            <a:r>
              <a:rPr lang="en-US" baseline="0" dirty="0" err="1"/>
              <a:t>tiếng</a:t>
            </a:r>
            <a:r>
              <a:rPr lang="en-US" baseline="0" dirty="0"/>
              <a:t> </a:t>
            </a:r>
            <a:r>
              <a:rPr lang="en-US" baseline="0" dirty="0" err="1"/>
              <a:t>nói</a:t>
            </a:r>
            <a:r>
              <a:rPr lang="en-US" baseline="0" dirty="0"/>
              <a:t>)</a:t>
            </a:r>
          </a:p>
          <a:p>
            <a:r>
              <a:rPr lang="en-US" baseline="0" dirty="0" err="1"/>
              <a:t>Máy</a:t>
            </a:r>
            <a:r>
              <a:rPr lang="en-US" baseline="0" dirty="0"/>
              <a:t> </a:t>
            </a:r>
            <a:r>
              <a:rPr lang="en-US" baseline="0" dirty="0" err="1"/>
              <a:t>học</a:t>
            </a:r>
            <a:endParaRPr lang="en-US" baseline="0" dirty="0"/>
          </a:p>
          <a:p>
            <a:r>
              <a:rPr lang="en-US" baseline="0" dirty="0" err="1"/>
              <a:t>Lý</a:t>
            </a:r>
            <a:r>
              <a:rPr lang="en-US" baseline="0" dirty="0"/>
              <a:t> </a:t>
            </a:r>
            <a:r>
              <a:rPr lang="en-US" baseline="0" dirty="0" err="1"/>
              <a:t>thuyết</a:t>
            </a:r>
            <a:r>
              <a:rPr lang="en-US" baseline="0" dirty="0"/>
              <a:t> </a:t>
            </a:r>
            <a:r>
              <a:rPr lang="en-US" baseline="0" dirty="0" err="1"/>
              <a:t>trò</a:t>
            </a:r>
            <a:r>
              <a:rPr lang="en-US" baseline="0" dirty="0"/>
              <a:t> </a:t>
            </a:r>
            <a:r>
              <a:rPr lang="en-US" baseline="0" dirty="0" err="1"/>
              <a:t>chơi</a:t>
            </a:r>
            <a:endParaRPr lang="en-US" baseline="0" dirty="0"/>
          </a:p>
          <a:p>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err="1">
                <a:solidFill>
                  <a:srgbClr val="FF0000"/>
                </a:solidFill>
              </a:rPr>
              <a:t>Vấn</a:t>
            </a:r>
            <a:r>
              <a:rPr lang="en-US" sz="1200" dirty="0">
                <a:solidFill>
                  <a:srgbClr val="FF0000"/>
                </a:solidFill>
              </a:rPr>
              <a:t> </a:t>
            </a:r>
            <a:r>
              <a:rPr lang="en-US" sz="1200" dirty="0" err="1">
                <a:solidFill>
                  <a:srgbClr val="FF0000"/>
                </a:solidFill>
              </a:rPr>
              <a:t>đề</a:t>
            </a:r>
            <a:r>
              <a:rPr lang="en-US" sz="1200" dirty="0">
                <a:solidFill>
                  <a:srgbClr val="FF0000"/>
                </a:solidFill>
              </a:rPr>
              <a:t> </a:t>
            </a:r>
            <a:r>
              <a:rPr lang="en-US" sz="1200" dirty="0" err="1">
                <a:solidFill>
                  <a:srgbClr val="FF0000"/>
                </a:solidFill>
              </a:rPr>
              <a:t>biểu</a:t>
            </a:r>
            <a:r>
              <a:rPr lang="en-US" sz="1200" dirty="0">
                <a:solidFill>
                  <a:srgbClr val="FF0000"/>
                </a:solidFill>
              </a:rPr>
              <a:t> </a:t>
            </a:r>
            <a:r>
              <a:rPr lang="en-US" sz="1200" dirty="0" err="1">
                <a:solidFill>
                  <a:srgbClr val="FF0000"/>
                </a:solidFill>
              </a:rPr>
              <a:t>diễn</a:t>
            </a:r>
            <a:r>
              <a:rPr lang="en-US" sz="1200" dirty="0">
                <a:solidFill>
                  <a:srgbClr val="FF0000"/>
                </a:solidFill>
              </a:rPr>
              <a:t> tri </a:t>
            </a:r>
            <a:r>
              <a:rPr lang="en-US" sz="1200" dirty="0" err="1">
                <a:solidFill>
                  <a:srgbClr val="FF0000"/>
                </a:solidFill>
              </a:rPr>
              <a:t>thức</a:t>
            </a:r>
            <a:r>
              <a:rPr lang="en-US" sz="1200" dirty="0">
                <a:solidFill>
                  <a:srgbClr val="FF0000"/>
                </a:solidFill>
              </a:rPr>
              <a:t> = </a:t>
            </a:r>
            <a:r>
              <a:rPr lang="en-US" sz="1200" dirty="0" err="1">
                <a:solidFill>
                  <a:srgbClr val="FF0000"/>
                </a:solidFill>
              </a:rPr>
              <a:t>tìm</a:t>
            </a:r>
            <a:r>
              <a:rPr lang="en-US" sz="1200" dirty="0">
                <a:solidFill>
                  <a:srgbClr val="FF0000"/>
                </a:solidFill>
              </a:rPr>
              <a:t> </a:t>
            </a:r>
            <a:r>
              <a:rPr lang="en-US" sz="1200" dirty="0" err="1">
                <a:solidFill>
                  <a:srgbClr val="FF0000"/>
                </a:solidFill>
              </a:rPr>
              <a:t>cách</a:t>
            </a:r>
            <a:r>
              <a:rPr lang="en-US" sz="1200" dirty="0">
                <a:solidFill>
                  <a:srgbClr val="FF0000"/>
                </a:solidFill>
              </a:rPr>
              <a:t> </a:t>
            </a:r>
            <a:r>
              <a:rPr lang="en-US" sz="1200" dirty="0" err="1">
                <a:solidFill>
                  <a:srgbClr val="FF0000"/>
                </a:solidFill>
              </a:rPr>
              <a:t>diễn</a:t>
            </a:r>
            <a:r>
              <a:rPr lang="en-US" sz="1200" dirty="0">
                <a:solidFill>
                  <a:srgbClr val="FF0000"/>
                </a:solidFill>
              </a:rPr>
              <a:t> </a:t>
            </a:r>
            <a:r>
              <a:rPr lang="en-US" sz="1200" dirty="0" err="1">
                <a:solidFill>
                  <a:srgbClr val="FF0000"/>
                </a:solidFill>
              </a:rPr>
              <a:t>đạt</a:t>
            </a:r>
            <a:r>
              <a:rPr lang="en-US" sz="1200" dirty="0">
                <a:solidFill>
                  <a:srgbClr val="FF0000"/>
                </a:solidFill>
              </a:rPr>
              <a:t>, </a:t>
            </a:r>
            <a:r>
              <a:rPr lang="en-US" sz="1200" dirty="0" err="1">
                <a:solidFill>
                  <a:srgbClr val="FF0000"/>
                </a:solidFill>
              </a:rPr>
              <a:t>thể</a:t>
            </a:r>
            <a:r>
              <a:rPr lang="en-US" sz="1200" dirty="0">
                <a:solidFill>
                  <a:srgbClr val="FF0000"/>
                </a:solidFill>
              </a:rPr>
              <a:t> </a:t>
            </a:r>
            <a:r>
              <a:rPr lang="en-US" sz="1200" dirty="0" err="1">
                <a:solidFill>
                  <a:srgbClr val="FF0000"/>
                </a:solidFill>
              </a:rPr>
              <a:t>hiện</a:t>
            </a:r>
            <a:r>
              <a:rPr lang="en-US" sz="1200" dirty="0">
                <a:solidFill>
                  <a:srgbClr val="FF0000"/>
                </a:solidFill>
              </a:rPr>
              <a:t>, </a:t>
            </a:r>
            <a:r>
              <a:rPr lang="en-US" sz="1200" dirty="0" err="1">
                <a:solidFill>
                  <a:srgbClr val="FF0000"/>
                </a:solidFill>
              </a:rPr>
              <a:t>mã</a:t>
            </a:r>
            <a:r>
              <a:rPr lang="en-US" sz="1200" dirty="0">
                <a:solidFill>
                  <a:srgbClr val="FF0000"/>
                </a:solidFill>
              </a:rPr>
              <a:t> </a:t>
            </a:r>
            <a:r>
              <a:rPr lang="en-US" sz="1200" dirty="0" err="1">
                <a:solidFill>
                  <a:srgbClr val="FF0000"/>
                </a:solidFill>
              </a:rPr>
              <a:t>hóa</a:t>
            </a:r>
            <a:r>
              <a:rPr lang="en-US" sz="1200" dirty="0">
                <a:solidFill>
                  <a:srgbClr val="FF0000"/>
                </a:solidFill>
              </a:rPr>
              <a:t> tri </a:t>
            </a:r>
            <a:r>
              <a:rPr lang="en-US" sz="1200" dirty="0" err="1">
                <a:solidFill>
                  <a:srgbClr val="FF0000"/>
                </a:solidFill>
              </a:rPr>
              <a:t>thức</a:t>
            </a:r>
            <a:r>
              <a:rPr lang="en-US" sz="1200" dirty="0">
                <a:solidFill>
                  <a:srgbClr val="FF0000"/>
                </a:solidFill>
              </a:rPr>
              <a:t> </a:t>
            </a:r>
            <a:r>
              <a:rPr lang="en-US" sz="1200" dirty="0" err="1">
                <a:solidFill>
                  <a:srgbClr val="FF0000"/>
                </a:solidFill>
              </a:rPr>
              <a:t>theo</a:t>
            </a:r>
            <a:r>
              <a:rPr lang="en-US" sz="1200" dirty="0">
                <a:solidFill>
                  <a:srgbClr val="FF0000"/>
                </a:solidFill>
              </a:rPr>
              <a:t> </a:t>
            </a:r>
            <a:r>
              <a:rPr lang="en-US" sz="1200" dirty="0" err="1">
                <a:solidFill>
                  <a:srgbClr val="FF0000"/>
                </a:solidFill>
              </a:rPr>
              <a:t>những</a:t>
            </a:r>
            <a:r>
              <a:rPr lang="en-US" sz="1200" dirty="0">
                <a:solidFill>
                  <a:srgbClr val="FF0000"/>
                </a:solidFill>
              </a:rPr>
              <a:t> </a:t>
            </a:r>
            <a:r>
              <a:rPr lang="en-US" sz="1200" dirty="0" err="1">
                <a:solidFill>
                  <a:srgbClr val="FF0000"/>
                </a:solidFill>
              </a:rPr>
              <a:t>dạng</a:t>
            </a:r>
            <a:r>
              <a:rPr lang="en-US" sz="1200" dirty="0">
                <a:solidFill>
                  <a:srgbClr val="FF0000"/>
                </a:solidFill>
              </a:rPr>
              <a:t> </a:t>
            </a:r>
            <a:r>
              <a:rPr lang="en-US" sz="1200" dirty="0" err="1">
                <a:solidFill>
                  <a:srgbClr val="FF0000"/>
                </a:solidFill>
              </a:rPr>
              <a:t>thức</a:t>
            </a:r>
            <a:r>
              <a:rPr lang="en-US" sz="1200" dirty="0">
                <a:solidFill>
                  <a:srgbClr val="FF0000"/>
                </a:solidFill>
              </a:rPr>
              <a:t> </a:t>
            </a:r>
            <a:r>
              <a:rPr lang="en-US" sz="1200" dirty="0" err="1">
                <a:solidFill>
                  <a:srgbClr val="FF0000"/>
                </a:solidFill>
              </a:rPr>
              <a:t>nhất</a:t>
            </a:r>
            <a:r>
              <a:rPr lang="en-US" sz="1200" dirty="0">
                <a:solidFill>
                  <a:srgbClr val="FF0000"/>
                </a:solidFill>
              </a:rPr>
              <a:t> </a:t>
            </a:r>
            <a:r>
              <a:rPr lang="en-US" sz="1200" dirty="0" err="1">
                <a:solidFill>
                  <a:srgbClr val="FF0000"/>
                </a:solidFill>
              </a:rPr>
              <a:t>định</a:t>
            </a:r>
            <a:r>
              <a:rPr lang="en-US" sz="1200" dirty="0">
                <a:solidFill>
                  <a:srgbClr val="FF0000"/>
                </a:solidFill>
              </a:rPr>
              <a:t> </a:t>
            </a:r>
            <a:r>
              <a:rPr lang="en-US" sz="1200" dirty="0" err="1">
                <a:solidFill>
                  <a:srgbClr val="FF0000"/>
                </a:solidFill>
              </a:rPr>
              <a:t>thích</a:t>
            </a:r>
            <a:r>
              <a:rPr lang="en-US" sz="1200" dirty="0">
                <a:solidFill>
                  <a:srgbClr val="FF0000"/>
                </a:solidFill>
              </a:rPr>
              <a:t> </a:t>
            </a:r>
            <a:r>
              <a:rPr lang="en-US" sz="1200" dirty="0" err="1">
                <a:solidFill>
                  <a:srgbClr val="FF0000"/>
                </a:solidFill>
              </a:rPr>
              <a:t>hợp</a:t>
            </a:r>
            <a:r>
              <a:rPr lang="en-US" sz="1200" dirty="0">
                <a:solidFill>
                  <a:srgbClr val="FF0000"/>
                </a:solidFill>
              </a:rPr>
              <a:t> </a:t>
            </a:r>
            <a:r>
              <a:rPr lang="en-US" sz="1200" dirty="0" err="1">
                <a:solidFill>
                  <a:srgbClr val="FF0000"/>
                </a:solidFill>
              </a:rPr>
              <a:t>cho</a:t>
            </a:r>
            <a:r>
              <a:rPr lang="en-US" sz="1200" dirty="0">
                <a:solidFill>
                  <a:srgbClr val="FF0000"/>
                </a:solidFill>
              </a:rPr>
              <a:t> </a:t>
            </a:r>
            <a:r>
              <a:rPr lang="en-US" sz="1200" dirty="0" err="1">
                <a:solidFill>
                  <a:srgbClr val="FF0000"/>
                </a:solidFill>
              </a:rPr>
              <a:t>việc</a:t>
            </a:r>
            <a:r>
              <a:rPr lang="en-US" sz="1200" dirty="0">
                <a:solidFill>
                  <a:srgbClr val="FF0000"/>
                </a:solidFill>
              </a:rPr>
              <a:t> </a:t>
            </a:r>
            <a:r>
              <a:rPr lang="en-US" sz="1200" dirty="0" err="1">
                <a:solidFill>
                  <a:srgbClr val="FF0000"/>
                </a:solidFill>
              </a:rPr>
              <a:t>tổ</a:t>
            </a:r>
            <a:r>
              <a:rPr lang="en-US" sz="1200" dirty="0">
                <a:solidFill>
                  <a:srgbClr val="FF0000"/>
                </a:solidFill>
              </a:rPr>
              <a:t> </a:t>
            </a:r>
            <a:r>
              <a:rPr lang="en-US" sz="1200" dirty="0" err="1">
                <a:solidFill>
                  <a:srgbClr val="FF0000"/>
                </a:solidFill>
              </a:rPr>
              <a:t>chức</a:t>
            </a:r>
            <a:r>
              <a:rPr lang="en-US" sz="1200" dirty="0">
                <a:solidFill>
                  <a:srgbClr val="FF0000"/>
                </a:solidFill>
              </a:rPr>
              <a:t>, </a:t>
            </a:r>
            <a:r>
              <a:rPr lang="en-US" sz="1200" dirty="0" err="1">
                <a:solidFill>
                  <a:srgbClr val="FF0000"/>
                </a:solidFill>
              </a:rPr>
              <a:t>lưu</a:t>
            </a:r>
            <a:r>
              <a:rPr lang="en-US" sz="1200" dirty="0">
                <a:solidFill>
                  <a:srgbClr val="FF0000"/>
                </a:solidFill>
              </a:rPr>
              <a:t> </a:t>
            </a:r>
            <a:r>
              <a:rPr lang="en-US" sz="1200" dirty="0" err="1">
                <a:solidFill>
                  <a:srgbClr val="FF0000"/>
                </a:solidFill>
              </a:rPr>
              <a:t>trữ</a:t>
            </a:r>
            <a:r>
              <a:rPr lang="en-US" sz="1200" dirty="0">
                <a:solidFill>
                  <a:srgbClr val="FF0000"/>
                </a:solidFill>
              </a:rPr>
              <a:t> </a:t>
            </a:r>
            <a:r>
              <a:rPr lang="en-US" sz="1200" dirty="0" err="1">
                <a:solidFill>
                  <a:srgbClr val="FF0000"/>
                </a:solidFill>
              </a:rPr>
              <a:t>và</a:t>
            </a:r>
            <a:r>
              <a:rPr lang="en-US" sz="1200" dirty="0">
                <a:solidFill>
                  <a:srgbClr val="FF0000"/>
                </a:solidFill>
              </a:rPr>
              <a:t> </a:t>
            </a:r>
            <a:r>
              <a:rPr lang="en-US" sz="1200" dirty="0" err="1">
                <a:solidFill>
                  <a:srgbClr val="FF0000"/>
                </a:solidFill>
              </a:rPr>
              <a:t>xử</a:t>
            </a:r>
            <a:r>
              <a:rPr lang="en-US" sz="1200" dirty="0">
                <a:solidFill>
                  <a:srgbClr val="FF0000"/>
                </a:solidFill>
              </a:rPr>
              <a:t> </a:t>
            </a:r>
            <a:r>
              <a:rPr lang="en-US" sz="1200" dirty="0" err="1">
                <a:solidFill>
                  <a:srgbClr val="FF0000"/>
                </a:solidFill>
              </a:rPr>
              <a:t>lý</a:t>
            </a:r>
            <a:r>
              <a:rPr lang="en-US" sz="1200" dirty="0">
                <a:solidFill>
                  <a:srgbClr val="FF0000"/>
                </a:solidFill>
              </a:rPr>
              <a:t> </a:t>
            </a:r>
            <a:r>
              <a:rPr lang="en-US" sz="1200" dirty="0" err="1">
                <a:solidFill>
                  <a:srgbClr val="FF0000"/>
                </a:solidFill>
              </a:rPr>
              <a:t>trên</a:t>
            </a:r>
            <a:r>
              <a:rPr lang="en-US" sz="1200" dirty="0">
                <a:solidFill>
                  <a:srgbClr val="FF0000"/>
                </a:solidFill>
              </a:rPr>
              <a:t> </a:t>
            </a:r>
            <a:r>
              <a:rPr lang="en-US" sz="1200" dirty="0" err="1">
                <a:solidFill>
                  <a:srgbClr val="FF0000"/>
                </a:solidFill>
              </a:rPr>
              <a:t>máy</a:t>
            </a:r>
            <a:r>
              <a:rPr lang="en-US" sz="1200">
                <a:solidFill>
                  <a:srgbClr val="FF0000"/>
                </a:solidFill>
              </a:rPr>
              <a:t>.</a:t>
            </a:r>
          </a:p>
          <a:p>
            <a:endParaRPr lang="en-US" dirty="0"/>
          </a:p>
        </p:txBody>
      </p:sp>
      <p:sp>
        <p:nvSpPr>
          <p:cNvPr id="4" name="Slide Number Placeholder 3"/>
          <p:cNvSpPr>
            <a:spLocks noGrp="1"/>
          </p:cNvSpPr>
          <p:nvPr>
            <p:ph type="sldNum" sz="quarter" idx="10"/>
          </p:nvPr>
        </p:nvSpPr>
        <p:spPr/>
        <p:txBody>
          <a:bodyPr/>
          <a:lstStyle/>
          <a:p>
            <a:pPr>
              <a:defRPr/>
            </a:pPr>
            <a:fld id="{D53DC354-F2D0-442D-B2F4-71006D42FD8A}" type="slidenum">
              <a:rPr lang="en-GB" smtClean="0"/>
              <a:pPr>
                <a:defRPr/>
              </a:pPr>
              <a:t>29</a:t>
            </a:fld>
            <a:endParaRPr lang="en-GB"/>
          </a:p>
        </p:txBody>
      </p:sp>
    </p:spTree>
    <p:extLst>
      <p:ext uri="{BB962C8B-B14F-4D97-AF65-F5344CB8AC3E}">
        <p14:creationId xmlns:p14="http://schemas.microsoft.com/office/powerpoint/2010/main" val="409790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a:spcBef>
                <a:spcPts val="1200"/>
              </a:spcBef>
            </a:pPr>
            <a:r>
              <a:rPr lang="vi-VN" sz="1200" dirty="0">
                <a:solidFill>
                  <a:schemeClr val="tx1">
                    <a:lumMod val="85000"/>
                    <a:lumOff val="15000"/>
                  </a:schemeClr>
                </a:solidFill>
              </a:rPr>
              <a:t>Hệ chuyên gia làm việc như một chuyên gia thực thụ, cung cấp các ý kiến</a:t>
            </a:r>
            <a:r>
              <a:rPr lang="en-US" sz="1200" dirty="0">
                <a:solidFill>
                  <a:schemeClr val="tx1">
                    <a:lumMod val="85000"/>
                    <a:lumOff val="15000"/>
                  </a:schemeClr>
                </a:solidFill>
              </a:rPr>
              <a:t>, </a:t>
            </a:r>
            <a:r>
              <a:rPr lang="en-US" sz="1200" dirty="0" err="1">
                <a:solidFill>
                  <a:schemeClr val="tx1">
                    <a:lumMod val="85000"/>
                    <a:lumOff val="15000"/>
                  </a:schemeClr>
                </a:solidFill>
              </a:rPr>
              <a:t>góp</a:t>
            </a:r>
            <a:r>
              <a:rPr lang="en-US" sz="1200" dirty="0">
                <a:solidFill>
                  <a:schemeClr val="tx1">
                    <a:lumMod val="85000"/>
                    <a:lumOff val="15000"/>
                  </a:schemeClr>
                </a:solidFill>
              </a:rPr>
              <a:t> ý, </a:t>
            </a:r>
            <a:r>
              <a:rPr lang="en-US" sz="1200" dirty="0" err="1">
                <a:solidFill>
                  <a:schemeClr val="tx1">
                    <a:lumMod val="85000"/>
                    <a:lumOff val="15000"/>
                  </a:schemeClr>
                </a:solidFill>
              </a:rPr>
              <a:t>tư</a:t>
            </a:r>
            <a:r>
              <a:rPr lang="en-US" sz="1200" dirty="0">
                <a:solidFill>
                  <a:schemeClr val="tx1">
                    <a:lumMod val="85000"/>
                    <a:lumOff val="15000"/>
                  </a:schemeClr>
                </a:solidFill>
              </a:rPr>
              <a:t> </a:t>
            </a:r>
            <a:r>
              <a:rPr lang="en-US" sz="1200" dirty="0" err="1">
                <a:solidFill>
                  <a:schemeClr val="tx1">
                    <a:lumMod val="85000"/>
                    <a:lumOff val="15000"/>
                  </a:schemeClr>
                </a:solidFill>
              </a:rPr>
              <a:t>vấn</a:t>
            </a:r>
            <a:r>
              <a:rPr lang="en-US" sz="1200" dirty="0">
                <a:solidFill>
                  <a:schemeClr val="tx1">
                    <a:lumMod val="85000"/>
                    <a:lumOff val="15000"/>
                  </a:schemeClr>
                </a:solidFill>
              </a:rPr>
              <a:t> </a:t>
            </a:r>
            <a:r>
              <a:rPr lang="vi-VN" sz="1200" dirty="0">
                <a:solidFill>
                  <a:schemeClr val="tx1">
                    <a:lumMod val="85000"/>
                    <a:lumOff val="15000"/>
                  </a:schemeClr>
                </a:solidFill>
              </a:rPr>
              <a:t>dựa trên kiến thức, kinh nghiệm của chuyên gia</a:t>
            </a:r>
            <a:r>
              <a:rPr lang="en-US" sz="1200" dirty="0">
                <a:solidFill>
                  <a:schemeClr val="tx1">
                    <a:lumMod val="85000"/>
                    <a:lumOff val="15000"/>
                  </a:schemeClr>
                </a:solidFill>
              </a:rPr>
              <a:t> con </a:t>
            </a:r>
            <a:r>
              <a:rPr lang="en-US" sz="1200" dirty="0" err="1">
                <a:solidFill>
                  <a:schemeClr val="tx1">
                    <a:lumMod val="85000"/>
                    <a:lumOff val="15000"/>
                  </a:schemeClr>
                </a:solidFill>
              </a:rPr>
              <a:t>người</a:t>
            </a:r>
            <a:r>
              <a:rPr lang="en-US" sz="1200" dirty="0">
                <a:solidFill>
                  <a:schemeClr val="tx1">
                    <a:lumMod val="85000"/>
                    <a:lumOff val="15000"/>
                  </a:schemeClr>
                </a:solidFill>
              </a:rPr>
              <a:t> </a:t>
            </a:r>
            <a:r>
              <a:rPr lang="en-US" sz="1200" dirty="0" err="1">
                <a:solidFill>
                  <a:schemeClr val="tx1">
                    <a:lumMod val="85000"/>
                    <a:lumOff val="15000"/>
                  </a:schemeClr>
                </a:solidFill>
              </a:rPr>
              <a:t>đã</a:t>
            </a:r>
            <a:r>
              <a:rPr lang="en-US" sz="1200" dirty="0">
                <a:solidFill>
                  <a:schemeClr val="tx1">
                    <a:lumMod val="85000"/>
                    <a:lumOff val="15000"/>
                  </a:schemeClr>
                </a:solidFill>
              </a:rPr>
              <a:t> </a:t>
            </a:r>
            <a:r>
              <a:rPr lang="en-US" sz="1200" dirty="0" err="1">
                <a:solidFill>
                  <a:schemeClr val="tx1">
                    <a:lumMod val="85000"/>
                    <a:lumOff val="15000"/>
                  </a:schemeClr>
                </a:solidFill>
              </a:rPr>
              <a:t>đưa</a:t>
            </a:r>
            <a:r>
              <a:rPr lang="en-US" sz="1200" dirty="0">
                <a:solidFill>
                  <a:schemeClr val="tx1">
                    <a:lumMod val="85000"/>
                    <a:lumOff val="15000"/>
                  </a:schemeClr>
                </a:solidFill>
              </a:rPr>
              <a:t> </a:t>
            </a:r>
            <a:r>
              <a:rPr lang="en-US" sz="1200" dirty="0" err="1">
                <a:solidFill>
                  <a:schemeClr val="tx1">
                    <a:lumMod val="85000"/>
                    <a:lumOff val="15000"/>
                  </a:schemeClr>
                </a:solidFill>
              </a:rPr>
              <a:t>vào</a:t>
            </a:r>
            <a:r>
              <a:rPr lang="en-US" sz="1200" dirty="0">
                <a:solidFill>
                  <a:schemeClr val="tx1">
                    <a:lumMod val="85000"/>
                    <a:lumOff val="15000"/>
                  </a:schemeClr>
                </a:solidFill>
              </a:rPr>
              <a:t> </a:t>
            </a:r>
            <a:r>
              <a:rPr lang="en-US" sz="1200" dirty="0" err="1">
                <a:solidFill>
                  <a:schemeClr val="tx1">
                    <a:lumMod val="85000"/>
                    <a:lumOff val="15000"/>
                  </a:schemeClr>
                </a:solidFill>
              </a:rPr>
              <a:t>hệ</a:t>
            </a:r>
            <a:r>
              <a:rPr lang="en-US" sz="1200" dirty="0">
                <a:solidFill>
                  <a:schemeClr val="tx1">
                    <a:lumMod val="85000"/>
                    <a:lumOff val="15000"/>
                  </a:schemeClr>
                </a:solidFill>
              </a:rPr>
              <a:t> </a:t>
            </a:r>
            <a:r>
              <a:rPr lang="en-US" sz="1200" dirty="0" err="1">
                <a:solidFill>
                  <a:schemeClr val="tx1">
                    <a:lumMod val="85000"/>
                    <a:lumOff val="15000"/>
                  </a:schemeClr>
                </a:solidFill>
              </a:rPr>
              <a:t>thống</a:t>
            </a:r>
            <a:r>
              <a:rPr lang="en-US" sz="1200" dirty="0">
                <a:solidFill>
                  <a:schemeClr val="tx1">
                    <a:lumMod val="85000"/>
                    <a:lumOff val="15000"/>
                  </a:schemeClr>
                </a:solidFill>
              </a:rPr>
              <a:t>.</a:t>
            </a:r>
          </a:p>
          <a:p>
            <a:pPr>
              <a:spcBef>
                <a:spcPts val="1200"/>
              </a:spcBef>
            </a:pPr>
            <a:r>
              <a:rPr lang="vi-VN" sz="1200" dirty="0">
                <a:solidFill>
                  <a:schemeClr val="tx1">
                    <a:lumMod val="85000"/>
                    <a:lumOff val="15000"/>
                  </a:schemeClr>
                </a:solidFill>
              </a:rPr>
              <a:t>Ví dụ: Hệ chuyên gia về chuẩn đoán bệnh trong y khoa, Hệ chuyên gia chuẩn đoán hỏng hóc đường dây điện thoại, …</a:t>
            </a:r>
          </a:p>
          <a:p>
            <a:endParaRPr lang="en-US" sz="1200" b="1" i="0" kern="1200" dirty="0">
              <a:solidFill>
                <a:schemeClr val="tx1">
                  <a:lumMod val="85000"/>
                  <a:lumOff val="15000"/>
                </a:schemeClr>
              </a:solidFill>
              <a:effectLst/>
              <a:latin typeface="Times New Roman" pitchFamily="18" charset="0"/>
              <a:ea typeface="+mn-ea"/>
              <a:cs typeface="+mn-cs"/>
            </a:endParaRPr>
          </a:p>
          <a:p>
            <a:endParaRPr lang="en-US" sz="1200" b="1" i="0" kern="1200" dirty="0">
              <a:solidFill>
                <a:schemeClr val="tx1">
                  <a:lumMod val="85000"/>
                  <a:lumOff val="15000"/>
                </a:schemeClr>
              </a:solidFill>
              <a:effectLst/>
              <a:latin typeface="Times New Roman" pitchFamily="18" charset="0"/>
              <a:ea typeface="+mn-ea"/>
              <a:cs typeface="+mn-cs"/>
            </a:endParaRPr>
          </a:p>
          <a:p>
            <a:endParaRPr lang="en-US" sz="1200" b="1" i="0" kern="1200" dirty="0">
              <a:solidFill>
                <a:schemeClr val="tx1">
                  <a:lumMod val="85000"/>
                  <a:lumOff val="15000"/>
                </a:schemeClr>
              </a:solidFill>
              <a:effectLst/>
              <a:latin typeface="Times New Roman" pitchFamily="18" charset="0"/>
              <a:ea typeface="+mn-ea"/>
              <a:cs typeface="+mn-cs"/>
            </a:endParaRPr>
          </a:p>
          <a:p>
            <a:endParaRPr lang="en-US" sz="1200" b="1" i="0" kern="1200" dirty="0">
              <a:solidFill>
                <a:schemeClr val="tx1">
                  <a:lumMod val="85000"/>
                  <a:lumOff val="15000"/>
                </a:schemeClr>
              </a:solidFill>
              <a:effectLst/>
              <a:latin typeface="Times New Roman" pitchFamily="18" charset="0"/>
              <a:ea typeface="+mn-ea"/>
              <a:cs typeface="+mn-cs"/>
            </a:endParaRPr>
          </a:p>
          <a:p>
            <a:r>
              <a:rPr lang="vi-VN" sz="1200" b="1" i="0" kern="1200" dirty="0">
                <a:solidFill>
                  <a:schemeClr val="tx1">
                    <a:lumMod val="85000"/>
                    <a:lumOff val="15000"/>
                  </a:schemeClr>
                </a:solidFill>
                <a:effectLst/>
                <a:latin typeface="Times New Roman" pitchFamily="18" charset="0"/>
                <a:ea typeface="+mn-ea"/>
                <a:cs typeface="+mn-cs"/>
              </a:rPr>
              <a:t>Xử lý ngôn ngữ tự nhiên</a:t>
            </a:r>
            <a:r>
              <a:rPr lang="vi-VN" sz="1200" b="0" i="0" kern="1200" dirty="0">
                <a:solidFill>
                  <a:schemeClr val="tx1">
                    <a:lumMod val="85000"/>
                    <a:lumOff val="15000"/>
                  </a:schemeClr>
                </a:solidFill>
                <a:effectLst/>
                <a:latin typeface="Times New Roman" pitchFamily="18" charset="0"/>
                <a:ea typeface="+mn-ea"/>
                <a:cs typeface="+mn-cs"/>
              </a:rPr>
              <a:t> (</a:t>
            </a:r>
            <a:r>
              <a:rPr lang="vi-VN" sz="1200" b="0" i="1" kern="1200" dirty="0">
                <a:solidFill>
                  <a:schemeClr val="tx1">
                    <a:lumMod val="85000"/>
                    <a:lumOff val="15000"/>
                  </a:schemeClr>
                </a:solidFill>
                <a:effectLst/>
                <a:latin typeface="Times New Roman" pitchFamily="18" charset="0"/>
                <a:ea typeface="+mn-ea"/>
                <a:cs typeface="+mn-cs"/>
              </a:rPr>
              <a:t>natural language processing</a:t>
            </a:r>
            <a:r>
              <a:rPr lang="vi-VN" sz="1200" b="0" i="0" kern="1200" dirty="0">
                <a:solidFill>
                  <a:schemeClr val="tx1">
                    <a:lumMod val="85000"/>
                    <a:lumOff val="15000"/>
                  </a:schemeClr>
                </a:solidFill>
                <a:effectLst/>
                <a:latin typeface="Times New Roman" pitchFamily="18" charset="0"/>
                <a:ea typeface="+mn-ea"/>
                <a:cs typeface="+mn-cs"/>
              </a:rPr>
              <a:t> - NLP) là một nhánh của </a:t>
            </a:r>
            <a:r>
              <a:rPr lang="vi-VN" sz="1200" b="0" i="0" u="none" strike="noStrike" kern="1200" dirty="0">
                <a:solidFill>
                  <a:schemeClr val="tx1">
                    <a:lumMod val="85000"/>
                    <a:lumOff val="15000"/>
                  </a:schemeClr>
                </a:solidFill>
                <a:effectLst/>
                <a:latin typeface="Times New Roman" pitchFamily="18" charset="0"/>
                <a:ea typeface="+mn-ea"/>
                <a:cs typeface="+mn-cs"/>
                <a:hlinkClick r:id="rId3" tooltip="Trí tuệ nhân tạo"/>
              </a:rPr>
              <a:t>trí tuệ nhân tạo</a:t>
            </a:r>
            <a:r>
              <a:rPr lang="vi-VN" sz="1200" b="0" i="0" kern="1200" dirty="0">
                <a:solidFill>
                  <a:schemeClr val="tx1">
                    <a:lumMod val="85000"/>
                    <a:lumOff val="15000"/>
                  </a:schemeClr>
                </a:solidFill>
                <a:effectLst/>
                <a:latin typeface="Times New Roman" pitchFamily="18" charset="0"/>
                <a:ea typeface="+mn-ea"/>
                <a:cs typeface="+mn-cs"/>
              </a:rPr>
              <a:t> tập trung vào các ứng dụng trên </a:t>
            </a:r>
            <a:r>
              <a:rPr lang="vi-VN" sz="1200" b="0" i="0" u="none" strike="noStrike" kern="1200" dirty="0">
                <a:solidFill>
                  <a:schemeClr val="tx1">
                    <a:lumMod val="85000"/>
                    <a:lumOff val="15000"/>
                  </a:schemeClr>
                </a:solidFill>
                <a:effectLst/>
                <a:latin typeface="Times New Roman" pitchFamily="18" charset="0"/>
                <a:ea typeface="+mn-ea"/>
                <a:cs typeface="+mn-cs"/>
                <a:hlinkClick r:id="rId4" tooltip="Ngôn ngữ"/>
              </a:rPr>
              <a:t>ngôn ngữ</a:t>
            </a:r>
            <a:r>
              <a:rPr lang="vi-VN" sz="1200" b="0" i="0" kern="1200" dirty="0">
                <a:solidFill>
                  <a:schemeClr val="tx1">
                    <a:lumMod val="85000"/>
                    <a:lumOff val="15000"/>
                  </a:schemeClr>
                </a:solidFill>
                <a:effectLst/>
                <a:latin typeface="Times New Roman" pitchFamily="18" charset="0"/>
                <a:ea typeface="+mn-ea"/>
                <a:cs typeface="+mn-cs"/>
              </a:rPr>
              <a:t> của con người. Trong trí tuệ nhân tạo thì xử lý ngôn ngữ tự nhiên là một trong những phần khó nhất vì nó liên quan đến việc phải hiểu ý nghĩa ngôn ngữ-công cụ hoàn hảo nhất của </a:t>
            </a:r>
            <a:r>
              <a:rPr lang="vi-VN" sz="1200" b="0" i="0" u="none" strike="noStrike" kern="1200" dirty="0">
                <a:solidFill>
                  <a:schemeClr val="tx1">
                    <a:lumMod val="85000"/>
                    <a:lumOff val="15000"/>
                  </a:schemeClr>
                </a:solidFill>
                <a:effectLst/>
                <a:latin typeface="Times New Roman" pitchFamily="18" charset="0"/>
                <a:ea typeface="+mn-ea"/>
                <a:cs typeface="+mn-cs"/>
                <a:hlinkClick r:id="rId5" tooltip="Tư duy"/>
              </a:rPr>
              <a:t>tư duy</a:t>
            </a:r>
            <a:r>
              <a:rPr lang="vi-VN" sz="1200" b="0" i="0" kern="1200" dirty="0">
                <a:solidFill>
                  <a:schemeClr val="tx1">
                    <a:lumMod val="85000"/>
                    <a:lumOff val="15000"/>
                  </a:schemeClr>
                </a:solidFill>
                <a:effectLst/>
                <a:latin typeface="Times New Roman" pitchFamily="18" charset="0"/>
                <a:ea typeface="+mn-ea"/>
                <a:cs typeface="+mn-cs"/>
              </a:rPr>
              <a:t> và </a:t>
            </a:r>
            <a:r>
              <a:rPr lang="vi-VN" sz="1200" b="0" i="0" u="none" strike="noStrike" kern="1200" dirty="0">
                <a:solidFill>
                  <a:schemeClr val="tx1">
                    <a:lumMod val="85000"/>
                    <a:lumOff val="15000"/>
                  </a:schemeClr>
                </a:solidFill>
                <a:effectLst/>
                <a:latin typeface="Times New Roman" pitchFamily="18" charset="0"/>
                <a:ea typeface="+mn-ea"/>
                <a:cs typeface="+mn-cs"/>
                <a:hlinkClick r:id="rId6" tooltip="Giao tiếp"/>
              </a:rPr>
              <a:t>giao tiếp</a:t>
            </a:r>
            <a:r>
              <a:rPr lang="vi-VN" sz="1200" b="0" i="0" kern="1200" dirty="0">
                <a:solidFill>
                  <a:schemeClr val="tx1">
                    <a:lumMod val="85000"/>
                    <a:lumOff val="15000"/>
                  </a:schemeClr>
                </a:solidFill>
                <a:effectLst/>
                <a:latin typeface="Times New Roman" pitchFamily="18" charset="0"/>
                <a:ea typeface="+mn-ea"/>
                <a:cs typeface="+mn-cs"/>
              </a:rPr>
              <a:t>.</a:t>
            </a:r>
            <a:endParaRPr lang="en-US" sz="1200" b="0" i="0" kern="1200" dirty="0">
              <a:solidFill>
                <a:schemeClr val="tx1">
                  <a:lumMod val="85000"/>
                  <a:lumOff val="15000"/>
                </a:schemeClr>
              </a:solidFill>
              <a:effectLst/>
              <a:latin typeface="Times New Roman" pitchFamily="18" charset="0"/>
              <a:ea typeface="+mn-ea"/>
              <a:cs typeface="+mn-cs"/>
            </a:endParaRPr>
          </a:p>
          <a:p>
            <a:r>
              <a:rPr lang="vi-VN" sz="1200" b="0" i="0" u="none" strike="noStrike" kern="1200" dirty="0">
                <a:solidFill>
                  <a:srgbClr val="FF0000"/>
                </a:solidFill>
                <a:effectLst/>
                <a:latin typeface="Times New Roman" pitchFamily="18" charset="0"/>
                <a:ea typeface="+mn-ea"/>
                <a:cs typeface="+mn-cs"/>
                <a:hlinkClick r:id="rId7" tooltip="Nhận dạng chữ viết (trang chưa được viết)"/>
              </a:rPr>
              <a:t>Nhận dạng chữ viết</a:t>
            </a:r>
            <a:r>
              <a:rPr lang="vi-VN" sz="1200" b="0" i="0" kern="1200" dirty="0">
                <a:solidFill>
                  <a:schemeClr val="tx1">
                    <a:lumMod val="85000"/>
                    <a:lumOff val="15000"/>
                  </a:schemeClr>
                </a:solidFill>
                <a:effectLst/>
                <a:latin typeface="Times New Roman" pitchFamily="18" charset="0"/>
                <a:ea typeface="+mn-ea"/>
                <a:cs typeface="+mn-cs"/>
              </a:rPr>
              <a:t>: Có hai kiểu nhận dạng, thứ nhất là nhận dạng chữ in, ví dụ nhận dạng chữ trên sách giáo khoa rồi chuyển nó thành dạng văn bản điện tử như dưới định dạng doc của</a:t>
            </a:r>
            <a:r>
              <a:rPr lang="vi-VN" sz="1200" b="0" i="0" u="none" strike="noStrike" kern="1200" dirty="0">
                <a:solidFill>
                  <a:schemeClr val="tx1">
                    <a:lumMod val="85000"/>
                    <a:lumOff val="15000"/>
                  </a:schemeClr>
                </a:solidFill>
                <a:effectLst/>
                <a:latin typeface="Times New Roman" pitchFamily="18" charset="0"/>
                <a:ea typeface="+mn-ea"/>
                <a:cs typeface="+mn-cs"/>
                <a:hlinkClick r:id="rId8" tooltip="Microsoft Word"/>
              </a:rPr>
              <a:t>Microsoft Word</a:t>
            </a:r>
            <a:r>
              <a:rPr lang="vi-VN" sz="1200" b="0" i="0" kern="1200" dirty="0">
                <a:solidFill>
                  <a:schemeClr val="tx1">
                    <a:lumMod val="85000"/>
                    <a:lumOff val="15000"/>
                  </a:schemeClr>
                </a:solidFill>
                <a:effectLst/>
                <a:latin typeface="Times New Roman" pitchFamily="18" charset="0"/>
                <a:ea typeface="+mn-ea"/>
                <a:cs typeface="+mn-cs"/>
              </a:rPr>
              <a:t> chẳng hạn. Phức tạp hơn là </a:t>
            </a:r>
            <a:r>
              <a:rPr lang="vi-VN" sz="1200" b="0" i="0" u="none" strike="noStrike" kern="1200" dirty="0">
                <a:solidFill>
                  <a:schemeClr val="tx1">
                    <a:lumMod val="85000"/>
                    <a:lumOff val="15000"/>
                  </a:schemeClr>
                </a:solidFill>
                <a:effectLst/>
                <a:latin typeface="Times New Roman" pitchFamily="18" charset="0"/>
                <a:ea typeface="+mn-ea"/>
                <a:cs typeface="+mn-cs"/>
                <a:hlinkClick r:id="rId9" tooltip="Nhận dạng chữ viết tay (trang chưa được viết)"/>
              </a:rPr>
              <a:t>nhận dạng chữ viết tay</a:t>
            </a:r>
            <a:r>
              <a:rPr lang="vi-VN" sz="1200" b="0" i="0" kern="1200" dirty="0">
                <a:solidFill>
                  <a:schemeClr val="tx1">
                    <a:lumMod val="85000"/>
                    <a:lumOff val="15000"/>
                  </a:schemeClr>
                </a:solidFill>
                <a:effectLst/>
                <a:latin typeface="Times New Roman" pitchFamily="18" charset="0"/>
                <a:ea typeface="+mn-ea"/>
                <a:cs typeface="+mn-cs"/>
              </a:rPr>
              <a:t>, có khó khăn bởi vì chữ viết tay không có khuôn dạng rõ ràng và thay đổi từ người này sang người khác. Với chương trình nhận dạng chữ viết in có thể chuyển hàng ngàn đầu sách trong thư viện thành văn bản điện tử trong thời gian ngắn. Nhận dạng chữ viết của con người có ứng dụng trong khoa học hình sự và bảo mật thông tin (nhận dạng chữ ký điện tử).</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10" tooltip="Nhận dạng tiếng nói"/>
              </a:rPr>
              <a:t>Nhận dạng tiếng nói</a:t>
            </a:r>
            <a:r>
              <a:rPr lang="vi-VN" sz="1200" b="0" i="0" kern="1200" dirty="0">
                <a:solidFill>
                  <a:schemeClr val="tx1">
                    <a:lumMod val="85000"/>
                    <a:lumOff val="15000"/>
                  </a:schemeClr>
                </a:solidFill>
                <a:effectLst/>
                <a:latin typeface="Times New Roman" pitchFamily="18" charset="0"/>
                <a:ea typeface="+mn-ea"/>
                <a:cs typeface="+mn-cs"/>
              </a:rPr>
              <a:t>: Nhận dạng tiếng nói rồi chuyển chúng thành văn bản tương ứng. Giúp thao tác của con người trên các thiết bị nhanh hơn và đơn giản hơn, chẳng hạn thay vì gõ một tài liệu nào đó bạn đọc nó lên và trình soạn thảo sẽ tự ghi nó ra. Đây cũng là bước đầu tiên cần phải thực hiện trong ước mơ thực hiện giao tiếp giữa con người với robot. Nhận dạng tiếng nói có khả năng trợ giúp người khiếm thị rất nhiều.</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11" tooltip="Tổng hợp giọng nói"/>
              </a:rPr>
              <a:t>Tổng hợp tiếng nói</a:t>
            </a:r>
            <a:r>
              <a:rPr lang="vi-VN" sz="1200" b="0" i="0" kern="1200" dirty="0">
                <a:solidFill>
                  <a:schemeClr val="tx1">
                    <a:lumMod val="85000"/>
                    <a:lumOff val="15000"/>
                  </a:schemeClr>
                </a:solidFill>
                <a:effectLst/>
                <a:latin typeface="Times New Roman" pitchFamily="18" charset="0"/>
                <a:ea typeface="+mn-ea"/>
                <a:cs typeface="+mn-cs"/>
              </a:rPr>
              <a:t>: Từ một văn bản tự động tổng hợp thành tiếng nói. Thay vì phải tự đọc một cuốn sách hay nội dung một trang </a:t>
            </a:r>
            <a:r>
              <a:rPr lang="vi-VN" sz="1200" b="0" i="0" u="none" strike="noStrike" kern="1200" dirty="0">
                <a:solidFill>
                  <a:schemeClr val="tx1">
                    <a:lumMod val="85000"/>
                    <a:lumOff val="15000"/>
                  </a:schemeClr>
                </a:solidFill>
                <a:effectLst/>
                <a:latin typeface="Times New Roman" pitchFamily="18" charset="0"/>
                <a:ea typeface="+mn-ea"/>
                <a:cs typeface="+mn-cs"/>
                <a:hlinkClick r:id="rId12" tooltip="World Wide Web"/>
              </a:rPr>
              <a:t>web</a:t>
            </a:r>
            <a:r>
              <a:rPr lang="vi-VN" sz="1200" b="0" i="0" kern="1200" dirty="0">
                <a:solidFill>
                  <a:schemeClr val="tx1">
                    <a:lumMod val="85000"/>
                    <a:lumOff val="15000"/>
                  </a:schemeClr>
                </a:solidFill>
                <a:effectLst/>
                <a:latin typeface="Times New Roman" pitchFamily="18" charset="0"/>
                <a:ea typeface="+mn-ea"/>
                <a:cs typeface="+mn-cs"/>
              </a:rPr>
              <a:t>, nó tự động đọc cho chúng ta. Giống như nhận dạng tiếng nói, tổng hợp tiếng nói là sự trợ giúp tốt cho </a:t>
            </a:r>
            <a:r>
              <a:rPr lang="vi-VN" sz="1200" b="0" i="0" u="none" strike="noStrike" kern="1200" dirty="0">
                <a:solidFill>
                  <a:schemeClr val="tx1">
                    <a:lumMod val="85000"/>
                    <a:lumOff val="15000"/>
                  </a:schemeClr>
                </a:solidFill>
                <a:effectLst/>
                <a:latin typeface="Times New Roman" pitchFamily="18" charset="0"/>
                <a:ea typeface="+mn-ea"/>
                <a:cs typeface="+mn-cs"/>
                <a:hlinkClick r:id="rId13" tooltip="Người khiếm thị"/>
              </a:rPr>
              <a:t>người khiếm thị</a:t>
            </a:r>
            <a:r>
              <a:rPr lang="vi-VN" sz="1200" b="0" i="0" kern="1200" dirty="0">
                <a:solidFill>
                  <a:schemeClr val="tx1">
                    <a:lumMod val="85000"/>
                    <a:lumOff val="15000"/>
                  </a:schemeClr>
                </a:solidFill>
                <a:effectLst/>
                <a:latin typeface="Times New Roman" pitchFamily="18" charset="0"/>
                <a:ea typeface="+mn-ea"/>
                <a:cs typeface="+mn-cs"/>
              </a:rPr>
              <a:t>, nhưng ngược lại nó là bước cuối cùng trong giao tiếp giữa </a:t>
            </a:r>
            <a:r>
              <a:rPr lang="vi-VN" sz="1200" b="0" i="0" u="none" strike="noStrike" kern="1200" dirty="0">
                <a:solidFill>
                  <a:schemeClr val="tx1">
                    <a:lumMod val="85000"/>
                    <a:lumOff val="15000"/>
                  </a:schemeClr>
                </a:solidFill>
                <a:effectLst/>
                <a:latin typeface="Times New Roman" pitchFamily="18" charset="0"/>
                <a:ea typeface="+mn-ea"/>
                <a:cs typeface="+mn-cs"/>
                <a:hlinkClick r:id="rId14" tooltip="Robot"/>
              </a:rPr>
              <a:t>robot</a:t>
            </a:r>
            <a:r>
              <a:rPr lang="vi-VN" sz="1200" b="0" i="0" kern="1200" dirty="0">
                <a:solidFill>
                  <a:schemeClr val="tx1">
                    <a:lumMod val="85000"/>
                    <a:lumOff val="15000"/>
                  </a:schemeClr>
                </a:solidFill>
                <a:effectLst/>
                <a:latin typeface="Times New Roman" pitchFamily="18" charset="0"/>
                <a:ea typeface="+mn-ea"/>
                <a:cs typeface="+mn-cs"/>
              </a:rPr>
              <a:t> với người.</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15" tooltip="Dịch tự động"/>
              </a:rPr>
              <a:t>Dịch tự động</a:t>
            </a:r>
            <a:r>
              <a:rPr lang="vi-VN" sz="1200" b="0" i="0" kern="1200" dirty="0">
                <a:solidFill>
                  <a:schemeClr val="tx1">
                    <a:lumMod val="85000"/>
                    <a:lumOff val="15000"/>
                  </a:schemeClr>
                </a:solidFill>
                <a:effectLst/>
                <a:latin typeface="Times New Roman" pitchFamily="18" charset="0"/>
                <a:ea typeface="+mn-ea"/>
                <a:cs typeface="+mn-cs"/>
              </a:rPr>
              <a:t> (</a:t>
            </a:r>
            <a:r>
              <a:rPr lang="vi-VN" sz="1200" b="0" i="1" kern="1200" dirty="0">
                <a:solidFill>
                  <a:schemeClr val="tx1">
                    <a:lumMod val="85000"/>
                    <a:lumOff val="15000"/>
                  </a:schemeClr>
                </a:solidFill>
                <a:effectLst/>
                <a:latin typeface="Times New Roman" pitchFamily="18" charset="0"/>
                <a:ea typeface="+mn-ea"/>
                <a:cs typeface="+mn-cs"/>
              </a:rPr>
              <a:t>machine translate</a:t>
            </a:r>
            <a:r>
              <a:rPr lang="vi-VN" sz="1200" b="0" i="0" kern="1200" dirty="0">
                <a:solidFill>
                  <a:schemeClr val="tx1">
                    <a:lumMod val="85000"/>
                    <a:lumOff val="15000"/>
                  </a:schemeClr>
                </a:solidFill>
                <a:effectLst/>
                <a:latin typeface="Times New Roman" pitchFamily="18" charset="0"/>
                <a:ea typeface="+mn-ea"/>
                <a:cs typeface="+mn-cs"/>
              </a:rPr>
              <a:t>): Như tên gọi đây là chương trình dịch tự động từ ngôn ngữ này sang ngôn ngữ khác. Một phần mềm điển hình về tiếng Việt của chương trình này là</a:t>
            </a:r>
            <a:r>
              <a:rPr lang="vi-VN" sz="1200" b="0" i="0" u="none" strike="noStrike" kern="1200" dirty="0">
                <a:solidFill>
                  <a:schemeClr val="tx1">
                    <a:lumMod val="85000"/>
                    <a:lumOff val="15000"/>
                  </a:schemeClr>
                </a:solidFill>
                <a:effectLst/>
                <a:latin typeface="Times New Roman" pitchFamily="18" charset="0"/>
                <a:ea typeface="+mn-ea"/>
                <a:cs typeface="+mn-cs"/>
                <a:hlinkClick r:id="rId16" tooltip="Evtrans (trang chưa được viết)"/>
              </a:rPr>
              <a:t>Evtrans</a:t>
            </a:r>
            <a:r>
              <a:rPr lang="vi-VN" sz="1200" b="0" i="0" kern="1200" dirty="0">
                <a:solidFill>
                  <a:schemeClr val="tx1">
                    <a:lumMod val="85000"/>
                    <a:lumOff val="15000"/>
                  </a:schemeClr>
                </a:solidFill>
                <a:effectLst/>
                <a:latin typeface="Times New Roman" pitchFamily="18" charset="0"/>
                <a:ea typeface="+mn-ea"/>
                <a:cs typeface="+mn-cs"/>
              </a:rPr>
              <a:t> của Softex, dịch tự động từ tiếng Anh sang tiếng Việt và ngược lại, phần mềm từng được trang web vdict.com mua bản quyền, đây cũng là trang đầu tiên đưa ứng dụng này lên mạng. Tháng 10 năm 2008 có hai công ty tham gia vào lĩnh vực này cho ngôn ngữ tiếng Việt là công ty Lạc Việt (công ty phát hành từ điển Lạc Việt) và </a:t>
            </a:r>
            <a:r>
              <a:rPr lang="vi-VN" sz="1200" b="0" i="0" u="none" strike="noStrike" kern="1200" dirty="0">
                <a:solidFill>
                  <a:schemeClr val="tx1">
                    <a:lumMod val="85000"/>
                    <a:lumOff val="15000"/>
                  </a:schemeClr>
                </a:solidFill>
                <a:effectLst/>
                <a:latin typeface="Times New Roman" pitchFamily="18" charset="0"/>
                <a:ea typeface="+mn-ea"/>
                <a:cs typeface="+mn-cs"/>
                <a:hlinkClick r:id="rId17" tooltip="Google"/>
              </a:rPr>
              <a:t>Google</a:t>
            </a:r>
            <a:r>
              <a:rPr lang="vi-VN" sz="1200" b="0" i="0" kern="1200" dirty="0">
                <a:solidFill>
                  <a:schemeClr val="tx1">
                    <a:lumMod val="85000"/>
                    <a:lumOff val="15000"/>
                  </a:schemeClr>
                </a:solidFill>
                <a:effectLst/>
                <a:latin typeface="Times New Roman" pitchFamily="18" charset="0"/>
                <a:ea typeface="+mn-ea"/>
                <a:cs typeface="+mn-cs"/>
              </a:rPr>
              <a:t>, một thời gian sau đó </a:t>
            </a:r>
            <a:r>
              <a:rPr lang="vi-VN" sz="1200" b="0" i="0" u="none" strike="noStrike" kern="1200" dirty="0">
                <a:solidFill>
                  <a:schemeClr val="tx1">
                    <a:lumMod val="85000"/>
                    <a:lumOff val="15000"/>
                  </a:schemeClr>
                </a:solidFill>
                <a:effectLst/>
                <a:latin typeface="Times New Roman" pitchFamily="18" charset="0"/>
                <a:ea typeface="+mn-ea"/>
                <a:cs typeface="+mn-cs"/>
                <a:hlinkClick r:id="rId18" tooltip="Xalo.vn"/>
              </a:rPr>
              <a:t>Xalo.vn</a:t>
            </a:r>
            <a:r>
              <a:rPr lang="vi-VN" sz="1200" b="0" i="0" kern="1200" dirty="0">
                <a:solidFill>
                  <a:schemeClr val="tx1">
                    <a:lumMod val="85000"/>
                    <a:lumOff val="15000"/>
                  </a:schemeClr>
                </a:solidFill>
                <a:effectLst/>
                <a:latin typeface="Times New Roman" pitchFamily="18" charset="0"/>
                <a:ea typeface="+mn-ea"/>
                <a:cs typeface="+mn-cs"/>
              </a:rPr>
              <a:t>cũng đưa ra dịch vụ tương tự.</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19" tooltip="Tìm kiếm thông tin"/>
              </a:rPr>
              <a:t>Tìm kiếm thông tin</a:t>
            </a:r>
            <a:r>
              <a:rPr lang="vi-VN" sz="1200" b="0" i="0" kern="1200" dirty="0">
                <a:solidFill>
                  <a:schemeClr val="tx1">
                    <a:lumMod val="85000"/>
                    <a:lumOff val="15000"/>
                  </a:schemeClr>
                </a:solidFill>
                <a:effectLst/>
                <a:latin typeface="Times New Roman" pitchFamily="18" charset="0"/>
                <a:ea typeface="+mn-ea"/>
                <a:cs typeface="+mn-cs"/>
              </a:rPr>
              <a:t> (</a:t>
            </a:r>
            <a:r>
              <a:rPr lang="vi-VN" sz="1200" b="0" i="1" kern="1200" dirty="0">
                <a:solidFill>
                  <a:schemeClr val="tx1">
                    <a:lumMod val="85000"/>
                    <a:lumOff val="15000"/>
                  </a:schemeClr>
                </a:solidFill>
                <a:effectLst/>
                <a:latin typeface="Times New Roman" pitchFamily="18" charset="0"/>
                <a:ea typeface="+mn-ea"/>
                <a:cs typeface="+mn-cs"/>
              </a:rPr>
              <a:t>information retrieval</a:t>
            </a:r>
            <a:r>
              <a:rPr lang="vi-VN" sz="1200" b="0" i="0" kern="1200" dirty="0">
                <a:solidFill>
                  <a:schemeClr val="tx1">
                    <a:lumMod val="85000"/>
                    <a:lumOff val="15000"/>
                  </a:schemeClr>
                </a:solidFill>
                <a:effectLst/>
                <a:latin typeface="Times New Roman" pitchFamily="18" charset="0"/>
                <a:ea typeface="+mn-ea"/>
                <a:cs typeface="+mn-cs"/>
              </a:rPr>
              <a:t>): Đặt câu hỏi và chương trình tự tìm ra nội dung phù hợp nhất. Thông tin ngày càng đầy lên theo cấp số nhân, đặc biệt với sự trợ giúp của </a:t>
            </a:r>
            <a:r>
              <a:rPr lang="vi-VN" sz="1200" b="0" i="0" u="none" strike="noStrike" kern="1200" dirty="0">
                <a:solidFill>
                  <a:schemeClr val="tx1">
                    <a:lumMod val="85000"/>
                    <a:lumOff val="15000"/>
                  </a:schemeClr>
                </a:solidFill>
                <a:effectLst/>
                <a:latin typeface="Times New Roman" pitchFamily="18" charset="0"/>
                <a:ea typeface="+mn-ea"/>
                <a:cs typeface="+mn-cs"/>
                <a:hlinkClick r:id="rId20" tooltip="Internet"/>
              </a:rPr>
              <a:t>internet</a:t>
            </a:r>
            <a:r>
              <a:rPr lang="vi-VN" sz="1200" b="0" i="0" kern="1200" dirty="0">
                <a:solidFill>
                  <a:schemeClr val="tx1">
                    <a:lumMod val="85000"/>
                    <a:lumOff val="15000"/>
                  </a:schemeClr>
                </a:solidFill>
                <a:effectLst/>
                <a:latin typeface="Times New Roman" pitchFamily="18" charset="0"/>
                <a:ea typeface="+mn-ea"/>
                <a:cs typeface="+mn-cs"/>
              </a:rPr>
              <a:t>việc tiếp cận thông tin trở lên dễ dàng hơn bao giờ hết. Việc khó khăn lúc này là tìm đúng nhất thông tin mình cần giữa bề bộn tri thức và đặc biệt thông tin đó phải đáng tin cậy. Các </a:t>
            </a:r>
            <a:r>
              <a:rPr lang="vi-VN" sz="1200" b="0" i="0" u="none" strike="noStrike" kern="1200" dirty="0">
                <a:solidFill>
                  <a:schemeClr val="tx1">
                    <a:lumMod val="85000"/>
                    <a:lumOff val="15000"/>
                  </a:schemeClr>
                </a:solidFill>
                <a:effectLst/>
                <a:latin typeface="Times New Roman" pitchFamily="18" charset="0"/>
                <a:ea typeface="+mn-ea"/>
                <a:cs typeface="+mn-cs"/>
                <a:hlinkClick r:id="rId21" tooltip="Máy truy tìm dữ liệu"/>
              </a:rPr>
              <a:t>máy tìm kiếm</a:t>
            </a:r>
            <a:r>
              <a:rPr lang="vi-VN" sz="1200" b="0" i="0" kern="1200" dirty="0">
                <a:solidFill>
                  <a:schemeClr val="tx1">
                    <a:lumMod val="85000"/>
                    <a:lumOff val="15000"/>
                  </a:schemeClr>
                </a:solidFill>
                <a:effectLst/>
                <a:latin typeface="Times New Roman" pitchFamily="18" charset="0"/>
                <a:ea typeface="+mn-ea"/>
                <a:cs typeface="+mn-cs"/>
              </a:rPr>
              <a:t> dựa trên giao diện web như Google hay </a:t>
            </a:r>
            <a:r>
              <a:rPr lang="vi-VN" sz="1200" b="0" i="0" u="none" strike="noStrike" kern="1200" dirty="0">
                <a:solidFill>
                  <a:schemeClr val="tx1">
                    <a:lumMod val="85000"/>
                    <a:lumOff val="15000"/>
                  </a:schemeClr>
                </a:solidFill>
                <a:effectLst/>
                <a:latin typeface="Times New Roman" pitchFamily="18" charset="0"/>
                <a:ea typeface="+mn-ea"/>
                <a:cs typeface="+mn-cs"/>
                <a:hlinkClick r:id="rId22" tooltip="Yahoo!"/>
              </a:rPr>
              <a:t>Yahoo</a:t>
            </a:r>
            <a:r>
              <a:rPr lang="vi-VN" sz="1200" b="0" i="0" kern="1200" dirty="0">
                <a:solidFill>
                  <a:schemeClr val="tx1">
                    <a:lumMod val="85000"/>
                    <a:lumOff val="15000"/>
                  </a:schemeClr>
                </a:solidFill>
                <a:effectLst/>
                <a:latin typeface="Times New Roman" pitchFamily="18" charset="0"/>
                <a:ea typeface="+mn-ea"/>
                <a:cs typeface="+mn-cs"/>
              </a:rPr>
              <a:t> hiện nay chỉ phân tích nội dung rất đơn giản dựa trên tần suất của từ khoá và thứ hạng của trang và một số tiêu chí đánh giá khác để đưa ra kết luận, kết quả là rất nhiều tìm kiếm không nhận được câu trả lời phù hợp, thậm chí bị dẫn tới một liên kết không liên quan gì do thủ thuật đánh lừa của các trang web nhằm giới thiệu sản phẩm (có tên tiếng Anh là </a:t>
            </a:r>
            <a:r>
              <a:rPr lang="vi-VN" sz="1200" b="0" i="0" u="none" strike="noStrike" kern="1200" dirty="0">
                <a:solidFill>
                  <a:schemeClr val="tx1">
                    <a:lumMod val="85000"/>
                    <a:lumOff val="15000"/>
                  </a:schemeClr>
                </a:solidFill>
                <a:effectLst/>
                <a:latin typeface="Times New Roman" pitchFamily="18" charset="0"/>
                <a:ea typeface="+mn-ea"/>
                <a:cs typeface="+mn-cs"/>
                <a:hlinkClick r:id="rId23" tooltip="Tối ưu hóa công cụ tìm kiếm"/>
              </a:rPr>
              <a:t>SEO</a:t>
            </a:r>
            <a:r>
              <a:rPr lang="vi-VN" sz="1200" b="0" i="0" kern="1200" dirty="0">
                <a:solidFill>
                  <a:schemeClr val="tx1">
                    <a:lumMod val="85000"/>
                    <a:lumOff val="15000"/>
                  </a:schemeClr>
                </a:solidFill>
                <a:effectLst/>
                <a:latin typeface="Times New Roman" pitchFamily="18" charset="0"/>
                <a:ea typeface="+mn-ea"/>
                <a:cs typeface="+mn-cs"/>
              </a:rPr>
              <a:t> viết tắt của từ </a:t>
            </a:r>
            <a:r>
              <a:rPr lang="vi-VN" sz="1200" b="0" i="1" kern="1200" dirty="0">
                <a:solidFill>
                  <a:schemeClr val="tx1">
                    <a:lumMod val="85000"/>
                    <a:lumOff val="15000"/>
                  </a:schemeClr>
                </a:solidFill>
                <a:effectLst/>
                <a:latin typeface="Times New Roman" pitchFamily="18" charset="0"/>
                <a:ea typeface="+mn-ea"/>
                <a:cs typeface="+mn-cs"/>
              </a:rPr>
              <a:t>search engine optimization</a:t>
            </a:r>
            <a:r>
              <a:rPr lang="vi-VN" sz="1200" b="0" i="0" kern="1200" dirty="0">
                <a:solidFill>
                  <a:schemeClr val="tx1">
                    <a:lumMod val="85000"/>
                    <a:lumOff val="15000"/>
                  </a:schemeClr>
                </a:solidFill>
                <a:effectLst/>
                <a:latin typeface="Times New Roman" pitchFamily="18" charset="0"/>
                <a:ea typeface="+mn-ea"/>
                <a:cs typeface="+mn-cs"/>
              </a:rPr>
              <a:t>). Thực tế cho đến bây giờ chưa có máy tìm kiếm nào hiểu được ngôn ngữ tự nhiên của con người trừ trang www.ask.com được đánh giá là “hiểu” được những câu hỏi có cấu trúc ở dạng đơn giản nhất. Mới đây cộng đồng mạng đang xôn xao về trang </a:t>
            </a:r>
            <a:r>
              <a:rPr lang="vi-VN" sz="1200" b="0" i="0" u="none" strike="noStrike" kern="1200" dirty="0">
                <a:solidFill>
                  <a:schemeClr val="tx1">
                    <a:lumMod val="85000"/>
                    <a:lumOff val="15000"/>
                  </a:schemeClr>
                </a:solidFill>
                <a:effectLst/>
                <a:latin typeface="Times New Roman" pitchFamily="18" charset="0"/>
                <a:ea typeface="+mn-ea"/>
                <a:cs typeface="+mn-cs"/>
                <a:hlinkClick r:id="rId24" tooltip="Wolfram Alpha"/>
              </a:rPr>
              <a:t>Wolfram Alpha</a:t>
            </a:r>
            <a:r>
              <a:rPr lang="vi-VN" sz="1200" b="0" i="0" kern="1200" dirty="0">
                <a:solidFill>
                  <a:schemeClr val="tx1">
                    <a:lumMod val="85000"/>
                    <a:lumOff val="15000"/>
                  </a:schemeClr>
                </a:solidFill>
                <a:effectLst/>
                <a:latin typeface="Times New Roman" pitchFamily="18" charset="0"/>
                <a:ea typeface="+mn-ea"/>
                <a:cs typeface="+mn-cs"/>
              </a:rPr>
              <a:t>, được hứa hẹn là có khả năng hiểu ngôn ngữ tự nhiên của con người và đưa ra câu trả lời chính xác</a:t>
            </a:r>
            <a:r>
              <a:rPr lang="vi-VN" sz="1200" b="0" i="0" u="none" strike="noStrike" kern="1200" baseline="30000" dirty="0">
                <a:solidFill>
                  <a:schemeClr val="tx1">
                    <a:lumMod val="85000"/>
                    <a:lumOff val="15000"/>
                  </a:schemeClr>
                </a:solidFill>
                <a:effectLst/>
                <a:latin typeface="Times New Roman" pitchFamily="18" charset="0"/>
                <a:ea typeface="+mn-ea"/>
                <a:cs typeface="+mn-cs"/>
                <a:hlinkClick r:id="rId25"/>
              </a:rPr>
              <a:t>[1]</a:t>
            </a:r>
            <a:r>
              <a:rPr lang="vi-VN" sz="1200" b="0" i="0" kern="1200" dirty="0">
                <a:solidFill>
                  <a:schemeClr val="tx1">
                    <a:lumMod val="85000"/>
                    <a:lumOff val="15000"/>
                  </a:schemeClr>
                </a:solidFill>
                <a:effectLst/>
                <a:latin typeface="Times New Roman" pitchFamily="18" charset="0"/>
                <a:ea typeface="+mn-ea"/>
                <a:cs typeface="+mn-cs"/>
              </a:rPr>
              <a:t>. Lĩnh vực này hứa hẹn tạo ra bước nhảy trong cách thức tiếp nhận tri thức của cả cộng đồng.</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26" tooltip="Tóm tắt văn bản (trang chưa được viết)"/>
              </a:rPr>
              <a:t>Tóm tắt văn bản</a:t>
            </a:r>
            <a:r>
              <a:rPr lang="vi-VN" sz="1200" b="0" i="0" kern="1200" dirty="0">
                <a:solidFill>
                  <a:schemeClr val="tx1">
                    <a:lumMod val="85000"/>
                    <a:lumOff val="15000"/>
                  </a:schemeClr>
                </a:solidFill>
                <a:effectLst/>
                <a:latin typeface="Times New Roman" pitchFamily="18" charset="0"/>
                <a:ea typeface="+mn-ea"/>
                <a:cs typeface="+mn-cs"/>
              </a:rPr>
              <a:t>: Từ một văn bản dài tóm tắt thành một văn bản ngắn hơn theo mong muốn nhưng vẫn chứa những nội dung thiết yếu nhất.</a:t>
            </a:r>
          </a:p>
          <a:p>
            <a:r>
              <a:rPr lang="vi-VN" sz="1200" b="0" i="0" u="none" strike="noStrike" kern="1200" dirty="0">
                <a:solidFill>
                  <a:schemeClr val="tx1">
                    <a:lumMod val="85000"/>
                    <a:lumOff val="15000"/>
                  </a:schemeClr>
                </a:solidFill>
                <a:effectLst/>
                <a:latin typeface="Times New Roman" pitchFamily="18" charset="0"/>
                <a:ea typeface="+mn-ea"/>
                <a:cs typeface="+mn-cs"/>
                <a:hlinkClick r:id="rId27" tooltip="Khai phá dữ liệu"/>
              </a:rPr>
              <a:t>Khai phá dữ liệu</a:t>
            </a:r>
            <a:r>
              <a:rPr lang="vi-VN" sz="1200" b="0" i="0" kern="1200" dirty="0">
                <a:solidFill>
                  <a:schemeClr val="tx1">
                    <a:lumMod val="85000"/>
                    <a:lumOff val="15000"/>
                  </a:schemeClr>
                </a:solidFill>
                <a:effectLst/>
                <a:latin typeface="Times New Roman" pitchFamily="18" charset="0"/>
                <a:ea typeface="+mn-ea"/>
                <a:cs typeface="+mn-cs"/>
              </a:rPr>
              <a:t> (</a:t>
            </a:r>
            <a:r>
              <a:rPr lang="vi-VN" sz="1200" b="0" i="1" kern="1200" dirty="0">
                <a:solidFill>
                  <a:schemeClr val="tx1">
                    <a:lumMod val="85000"/>
                    <a:lumOff val="15000"/>
                  </a:schemeClr>
                </a:solidFill>
                <a:effectLst/>
                <a:latin typeface="Times New Roman" pitchFamily="18" charset="0"/>
                <a:ea typeface="+mn-ea"/>
                <a:cs typeface="+mn-cs"/>
              </a:rPr>
              <a:t>data mining</a:t>
            </a:r>
            <a:r>
              <a:rPr lang="vi-VN" sz="1200" b="0" i="0" kern="1200" dirty="0">
                <a:solidFill>
                  <a:schemeClr val="tx1">
                    <a:lumMod val="85000"/>
                    <a:lumOff val="15000"/>
                  </a:schemeClr>
                </a:solidFill>
                <a:effectLst/>
                <a:latin typeface="Times New Roman" pitchFamily="18" charset="0"/>
                <a:ea typeface="+mn-ea"/>
                <a:cs typeface="+mn-cs"/>
              </a:rPr>
              <a:t>) và </a:t>
            </a:r>
            <a:r>
              <a:rPr lang="vi-VN" sz="1200" b="0" i="0" u="none" strike="noStrike" kern="1200" dirty="0">
                <a:solidFill>
                  <a:schemeClr val="tx1">
                    <a:lumMod val="85000"/>
                    <a:lumOff val="15000"/>
                  </a:schemeClr>
                </a:solidFill>
                <a:effectLst/>
                <a:latin typeface="Times New Roman" pitchFamily="18" charset="0"/>
                <a:ea typeface="+mn-ea"/>
                <a:cs typeface="+mn-cs"/>
                <a:hlinkClick r:id="rId28" tooltip="Phát hiện tri thức (trang chưa được viết)"/>
              </a:rPr>
              <a:t>phát hiện tri thức</a:t>
            </a:r>
            <a:r>
              <a:rPr lang="vi-VN" sz="1200" b="0" i="0" kern="1200" dirty="0">
                <a:solidFill>
                  <a:schemeClr val="tx1">
                    <a:lumMod val="85000"/>
                    <a:lumOff val="15000"/>
                  </a:schemeClr>
                </a:solidFill>
                <a:effectLst/>
                <a:latin typeface="Times New Roman" pitchFamily="18" charset="0"/>
                <a:ea typeface="+mn-ea"/>
                <a:cs typeface="+mn-cs"/>
              </a:rPr>
              <a:t>: Từ rất nhiều tài liệu khác nhau phát hiện ra tri thức mới. Thực tế để làm được điều này rất khó, nó gần như là mô phỏng quá trình </a:t>
            </a:r>
            <a:r>
              <a:rPr lang="vi-VN" sz="1200" b="0" i="0" u="none" strike="noStrike" kern="1200" dirty="0">
                <a:solidFill>
                  <a:schemeClr val="tx1">
                    <a:lumMod val="85000"/>
                    <a:lumOff val="15000"/>
                  </a:schemeClr>
                </a:solidFill>
                <a:effectLst/>
                <a:latin typeface="Times New Roman" pitchFamily="18" charset="0"/>
                <a:ea typeface="+mn-ea"/>
                <a:cs typeface="+mn-cs"/>
                <a:hlinkClick r:id="rId29" tooltip="Học tập"/>
              </a:rPr>
              <a:t>học tập</a:t>
            </a:r>
            <a:r>
              <a:rPr lang="vi-VN" sz="1200" b="0" i="0" kern="1200" dirty="0">
                <a:solidFill>
                  <a:schemeClr val="tx1">
                    <a:lumMod val="85000"/>
                    <a:lumOff val="15000"/>
                  </a:schemeClr>
                </a:solidFill>
                <a:effectLst/>
                <a:latin typeface="Times New Roman" pitchFamily="18" charset="0"/>
                <a:ea typeface="+mn-ea"/>
                <a:cs typeface="+mn-cs"/>
              </a:rPr>
              <a:t>, khám phá khoa học của con người, đây là lĩnh vực đang trong giai đoạn đầu phát triển. Ở mức độ đơn giản khi kết hợp với </a:t>
            </a:r>
            <a:r>
              <a:rPr lang="vi-VN" sz="1200" b="0" i="0" u="none" strike="noStrike" kern="1200" dirty="0">
                <a:solidFill>
                  <a:schemeClr val="tx1">
                    <a:lumMod val="85000"/>
                    <a:lumOff val="15000"/>
                  </a:schemeClr>
                </a:solidFill>
                <a:effectLst/>
                <a:latin typeface="Times New Roman" pitchFamily="18" charset="0"/>
                <a:ea typeface="+mn-ea"/>
                <a:cs typeface="+mn-cs"/>
                <a:hlinkClick r:id="rId21" tooltip="Máy truy tìm dữ liệu"/>
              </a:rPr>
              <a:t>máy tìm kiếm</a:t>
            </a:r>
            <a:r>
              <a:rPr lang="vi-VN" sz="1200" b="0" i="0" kern="1200" dirty="0">
                <a:solidFill>
                  <a:schemeClr val="tx1">
                    <a:lumMod val="85000"/>
                    <a:lumOff val="15000"/>
                  </a:schemeClr>
                </a:solidFill>
                <a:effectLst/>
                <a:latin typeface="Times New Roman" pitchFamily="18" charset="0"/>
                <a:ea typeface="+mn-ea"/>
                <a:cs typeface="+mn-cs"/>
              </a:rPr>
              <a:t> nó cho phép đặt câu hỏi để từ đó công cụ tự tìm ra câu trả lời dựa trên các thông tin trên web mặc cho việc trước đó có câu trả lời lưu trên web hay không (giống như trang Yahoo! hỏi và đáp, nơi chuyên đặt các câu hỏi để người khác trả lời), nói một cách nôm na là nó đã biết xử lý dữ liệu để trả lời câu hỏi của người sử dụng, thay vì máy móc đáp trả những gì chỉ có sẵn trong bộ nhớ.</a:t>
            </a:r>
          </a:p>
          <a:p>
            <a:endParaRPr lang="en-US" dirty="0">
              <a:solidFill>
                <a:schemeClr val="tx1">
                  <a:lumMod val="85000"/>
                  <a:lumOff val="15000"/>
                </a:schemeClr>
              </a:solidFill>
            </a:endParaRPr>
          </a:p>
        </p:txBody>
      </p:sp>
      <p:sp>
        <p:nvSpPr>
          <p:cNvPr id="4" name="Slide Number Placeholder 3"/>
          <p:cNvSpPr>
            <a:spLocks noGrp="1"/>
          </p:cNvSpPr>
          <p:nvPr>
            <p:ph type="sldNum" sz="quarter" idx="10"/>
          </p:nvPr>
        </p:nvSpPr>
        <p:spPr/>
        <p:txBody>
          <a:bodyPr/>
          <a:lstStyle/>
          <a:p>
            <a:fld id="{5DB3C2B8-8A2A-4EA2-BC5D-2074B5919DAE}" type="slidenum">
              <a:rPr lang="en-US" smtClean="0"/>
              <a:pPr/>
              <a:t>30</a:t>
            </a:fld>
            <a:endParaRPr lang="en-US"/>
          </a:p>
        </p:txBody>
      </p:sp>
    </p:spTree>
    <p:extLst>
      <p:ext uri="{BB962C8B-B14F-4D97-AF65-F5344CB8AC3E}">
        <p14:creationId xmlns:p14="http://schemas.microsoft.com/office/powerpoint/2010/main" val="3871915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TOSY:</a:t>
            </a:r>
            <a:r>
              <a:rPr lang="en-US" baseline="0"/>
              <a:t> Công ty sản xuất robot đầu tiên ở Việt Nam</a:t>
            </a:r>
            <a:endParaRPr lang="en-US"/>
          </a:p>
          <a:p>
            <a:r>
              <a:rPr lang="en-US"/>
              <a:t>Cô</a:t>
            </a:r>
            <a:r>
              <a:rPr lang="en-US" baseline="0"/>
              <a:t> giáo robot Saya, ra mắt năm 2009 tại Nhật Bản</a:t>
            </a:r>
            <a:endParaRPr lang="en-US"/>
          </a:p>
        </p:txBody>
      </p:sp>
      <p:sp>
        <p:nvSpPr>
          <p:cNvPr id="4" name="Slide Number Placeholder 3"/>
          <p:cNvSpPr>
            <a:spLocks noGrp="1"/>
          </p:cNvSpPr>
          <p:nvPr>
            <p:ph type="sldNum" sz="quarter" idx="10"/>
          </p:nvPr>
        </p:nvSpPr>
        <p:spPr/>
        <p:txBody>
          <a:bodyPr/>
          <a:lstStyle/>
          <a:p>
            <a:fld id="{5DB3C2B8-8A2A-4EA2-BC5D-2074B5919DAE}" type="slidenum">
              <a:rPr lang="en-US" smtClean="0"/>
              <a:pPr/>
              <a:t>36</a:t>
            </a:fld>
            <a:endParaRPr lang="en-US"/>
          </a:p>
        </p:txBody>
      </p:sp>
    </p:spTree>
    <p:extLst>
      <p:ext uri="{BB962C8B-B14F-4D97-AF65-F5344CB8AC3E}">
        <p14:creationId xmlns:p14="http://schemas.microsoft.com/office/powerpoint/2010/main" val="1285401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40"/>
          <p:cNvSpPr>
            <a:spLocks/>
          </p:cNvSpPr>
          <p:nvPr/>
        </p:nvSpPr>
        <p:spPr bwMode="gray">
          <a:xfrm>
            <a:off x="0" y="6048375"/>
            <a:ext cx="2762250" cy="809625"/>
          </a:xfrm>
          <a:custGeom>
            <a:avLst/>
            <a:gdLst/>
            <a:ahLst/>
            <a:cxnLst>
              <a:cxn ang="0">
                <a:pos x="0" y="0"/>
              </a:cxn>
              <a:cxn ang="0">
                <a:pos x="0" y="510"/>
              </a:cxn>
              <a:cxn ang="0">
                <a:pos x="1740" y="510"/>
              </a:cxn>
              <a:cxn ang="0">
                <a:pos x="1595" y="30"/>
              </a:cxn>
              <a:cxn ang="0">
                <a:pos x="0" y="0"/>
              </a:cxn>
            </a:cxnLst>
            <a:rect l="0" t="0" r="r" b="b"/>
            <a:pathLst>
              <a:path w="1740" h="510">
                <a:moveTo>
                  <a:pt x="0" y="0"/>
                </a:moveTo>
                <a:lnTo>
                  <a:pt x="0" y="510"/>
                </a:lnTo>
                <a:cubicBezTo>
                  <a:pt x="0" y="510"/>
                  <a:pt x="870" y="510"/>
                  <a:pt x="1740" y="510"/>
                </a:cubicBezTo>
                <a:cubicBezTo>
                  <a:pt x="1650" y="258"/>
                  <a:pt x="1595" y="30"/>
                  <a:pt x="1595" y="30"/>
                </a:cubicBezTo>
                <a:cubicBezTo>
                  <a:pt x="798" y="54"/>
                  <a:pt x="0" y="0"/>
                  <a:pt x="0" y="0"/>
                </a:cubicBezTo>
                <a:close/>
              </a:path>
            </a:pathLst>
          </a:custGeom>
          <a:solidFill>
            <a:schemeClr val="folHlink"/>
          </a:solidFill>
          <a:ln w="9525">
            <a:noFill/>
            <a:round/>
            <a:headEnd/>
            <a:tailEnd/>
          </a:ln>
          <a:effectLst/>
        </p:spPr>
        <p:txBody>
          <a:bodyPr/>
          <a:lstStyle/>
          <a:p>
            <a:pPr>
              <a:defRPr/>
            </a:pPr>
            <a:endParaRPr lang="en-US">
              <a:latin typeface="Arial" charset="0"/>
              <a:cs typeface="Arial" charset="0"/>
            </a:endParaRPr>
          </a:p>
        </p:txBody>
      </p:sp>
      <p:sp>
        <p:nvSpPr>
          <p:cNvPr id="5" name="Freeform 41"/>
          <p:cNvSpPr>
            <a:spLocks/>
          </p:cNvSpPr>
          <p:nvPr/>
        </p:nvSpPr>
        <p:spPr bwMode="gray">
          <a:xfrm>
            <a:off x="2590800" y="4705350"/>
            <a:ext cx="6400800" cy="2152650"/>
          </a:xfrm>
          <a:custGeom>
            <a:avLst/>
            <a:gdLst/>
            <a:ahLst/>
            <a:cxnLst>
              <a:cxn ang="0">
                <a:pos x="1116" y="0"/>
              </a:cxn>
              <a:cxn ang="0">
                <a:pos x="3840" y="636"/>
              </a:cxn>
              <a:cxn ang="0">
                <a:pos x="4032" y="1356"/>
              </a:cxn>
              <a:cxn ang="0">
                <a:pos x="288" y="1356"/>
              </a:cxn>
              <a:cxn ang="0">
                <a:pos x="0" y="828"/>
              </a:cxn>
              <a:cxn ang="0">
                <a:pos x="1116" y="0"/>
              </a:cxn>
            </a:cxnLst>
            <a:rect l="0" t="0" r="r" b="b"/>
            <a:pathLst>
              <a:path w="4032" h="1356">
                <a:moveTo>
                  <a:pt x="1116" y="0"/>
                </a:moveTo>
                <a:cubicBezTo>
                  <a:pt x="2370" y="1254"/>
                  <a:pt x="3840" y="636"/>
                  <a:pt x="3840" y="636"/>
                </a:cubicBezTo>
                <a:cubicBezTo>
                  <a:pt x="4032" y="966"/>
                  <a:pt x="4032" y="1356"/>
                  <a:pt x="4032" y="1356"/>
                </a:cubicBezTo>
                <a:cubicBezTo>
                  <a:pt x="4032" y="1356"/>
                  <a:pt x="2160" y="1356"/>
                  <a:pt x="288" y="1356"/>
                </a:cubicBezTo>
                <a:cubicBezTo>
                  <a:pt x="120" y="1140"/>
                  <a:pt x="0" y="828"/>
                  <a:pt x="0" y="828"/>
                </a:cubicBezTo>
                <a:lnTo>
                  <a:pt x="1116" y="0"/>
                </a:lnTo>
                <a:close/>
              </a:path>
            </a:pathLst>
          </a:custGeom>
          <a:solidFill>
            <a:schemeClr val="hlink"/>
          </a:solidFill>
          <a:ln w="9525">
            <a:noFill/>
            <a:round/>
            <a:headEnd/>
            <a:tailEnd/>
          </a:ln>
          <a:effectLst/>
        </p:spPr>
        <p:txBody>
          <a:bodyPr/>
          <a:lstStyle/>
          <a:p>
            <a:pPr>
              <a:defRPr/>
            </a:pPr>
            <a:endParaRPr lang="en-US">
              <a:latin typeface="Arial" charset="0"/>
              <a:cs typeface="Arial" charset="0"/>
            </a:endParaRPr>
          </a:p>
        </p:txBody>
      </p:sp>
      <p:sp>
        <p:nvSpPr>
          <p:cNvPr id="6" name="Freeform 42"/>
          <p:cNvSpPr>
            <a:spLocks/>
          </p:cNvSpPr>
          <p:nvPr/>
        </p:nvSpPr>
        <p:spPr bwMode="gray">
          <a:xfrm>
            <a:off x="4400550" y="781050"/>
            <a:ext cx="4743450" cy="5048250"/>
          </a:xfrm>
          <a:custGeom>
            <a:avLst/>
            <a:gdLst/>
            <a:ahLst/>
            <a:cxnLst>
              <a:cxn ang="0">
                <a:pos x="510" y="1098"/>
              </a:cxn>
              <a:cxn ang="0">
                <a:pos x="2280" y="0"/>
              </a:cxn>
              <a:cxn ang="0">
                <a:pos x="2988" y="342"/>
              </a:cxn>
              <a:cxn ang="0">
                <a:pos x="2988" y="2772"/>
              </a:cxn>
              <a:cxn ang="0">
                <a:pos x="1452" y="3060"/>
              </a:cxn>
              <a:cxn ang="0">
                <a:pos x="0" y="2406"/>
              </a:cxn>
              <a:cxn ang="0">
                <a:pos x="510" y="1098"/>
              </a:cxn>
            </a:cxnLst>
            <a:rect l="0" t="0" r="r" b="b"/>
            <a:pathLst>
              <a:path w="2988" h="3180">
                <a:moveTo>
                  <a:pt x="510" y="1098"/>
                </a:moveTo>
                <a:cubicBezTo>
                  <a:pt x="1710" y="840"/>
                  <a:pt x="2280" y="0"/>
                  <a:pt x="2280" y="0"/>
                </a:cubicBezTo>
                <a:cubicBezTo>
                  <a:pt x="2700" y="96"/>
                  <a:pt x="2988" y="342"/>
                  <a:pt x="2988" y="342"/>
                </a:cubicBezTo>
                <a:lnTo>
                  <a:pt x="2988" y="2772"/>
                </a:lnTo>
                <a:cubicBezTo>
                  <a:pt x="2988" y="2772"/>
                  <a:pt x="2202" y="3180"/>
                  <a:pt x="1452" y="3060"/>
                </a:cubicBezTo>
                <a:cubicBezTo>
                  <a:pt x="636" y="2940"/>
                  <a:pt x="0" y="2406"/>
                  <a:pt x="0" y="2406"/>
                </a:cubicBezTo>
                <a:lnTo>
                  <a:pt x="510" y="1098"/>
                </a:lnTo>
                <a:close/>
              </a:path>
            </a:pathLst>
          </a:custGeom>
          <a:solidFill>
            <a:schemeClr val="accent2"/>
          </a:solidFill>
          <a:ln w="9525">
            <a:noFill/>
            <a:round/>
            <a:headEnd/>
            <a:tailEnd/>
          </a:ln>
          <a:effectLst/>
        </p:spPr>
        <p:txBody>
          <a:bodyPr/>
          <a:lstStyle/>
          <a:p>
            <a:pPr>
              <a:defRPr/>
            </a:pPr>
            <a:endParaRPr lang="en-US">
              <a:latin typeface="Arial" charset="0"/>
              <a:cs typeface="Arial" charset="0"/>
            </a:endParaRPr>
          </a:p>
        </p:txBody>
      </p:sp>
      <p:sp>
        <p:nvSpPr>
          <p:cNvPr id="7" name="Freeform 43"/>
          <p:cNvSpPr>
            <a:spLocks/>
          </p:cNvSpPr>
          <p:nvPr/>
        </p:nvSpPr>
        <p:spPr bwMode="gray">
          <a:xfrm>
            <a:off x="4800600" y="0"/>
            <a:ext cx="3276600" cy="2409825"/>
          </a:xfrm>
          <a:custGeom>
            <a:avLst/>
            <a:gdLst/>
            <a:ahLst/>
            <a:cxnLst>
              <a:cxn ang="0">
                <a:pos x="0" y="0"/>
              </a:cxn>
              <a:cxn ang="0">
                <a:pos x="276" y="1518"/>
              </a:cxn>
              <a:cxn ang="0">
                <a:pos x="2064" y="0"/>
              </a:cxn>
              <a:cxn ang="0">
                <a:pos x="0" y="0"/>
              </a:cxn>
            </a:cxnLst>
            <a:rect l="0" t="0" r="r" b="b"/>
            <a:pathLst>
              <a:path w="2064" h="1518">
                <a:moveTo>
                  <a:pt x="0" y="0"/>
                </a:moveTo>
                <a:cubicBezTo>
                  <a:pt x="0" y="0"/>
                  <a:pt x="138" y="759"/>
                  <a:pt x="276" y="1518"/>
                </a:cubicBezTo>
                <a:cubicBezTo>
                  <a:pt x="1518" y="1194"/>
                  <a:pt x="2064" y="0"/>
                  <a:pt x="2064" y="0"/>
                </a:cubicBezTo>
                <a:lnTo>
                  <a:pt x="0" y="0"/>
                </a:lnTo>
                <a:close/>
              </a:path>
            </a:pathLst>
          </a:custGeom>
          <a:solidFill>
            <a:schemeClr val="accent1"/>
          </a:solidFill>
          <a:ln w="9525">
            <a:noFill/>
            <a:round/>
            <a:headEnd/>
            <a:tailEnd/>
          </a:ln>
          <a:effectLst/>
        </p:spPr>
        <p:txBody>
          <a:bodyPr/>
          <a:lstStyle/>
          <a:p>
            <a:pPr>
              <a:defRPr/>
            </a:pPr>
            <a:endParaRPr lang="en-US">
              <a:latin typeface="Arial" charset="0"/>
              <a:cs typeface="Arial" charset="0"/>
            </a:endParaRPr>
          </a:p>
        </p:txBody>
      </p:sp>
      <p:sp>
        <p:nvSpPr>
          <p:cNvPr id="8" name="Freeform 79"/>
          <p:cNvSpPr>
            <a:spLocks/>
          </p:cNvSpPr>
          <p:nvPr/>
        </p:nvSpPr>
        <p:spPr bwMode="gray">
          <a:xfrm>
            <a:off x="0" y="0"/>
            <a:ext cx="6583363" cy="7267575"/>
          </a:xfrm>
          <a:custGeom>
            <a:avLst/>
            <a:gdLst/>
            <a:ahLst/>
            <a:cxnLst>
              <a:cxn ang="0">
                <a:pos x="0" y="0"/>
              </a:cxn>
              <a:cxn ang="0">
                <a:pos x="3612" y="0"/>
              </a:cxn>
              <a:cxn ang="0">
                <a:pos x="3222" y="3042"/>
              </a:cxn>
              <a:cxn ang="0">
                <a:pos x="0" y="3744"/>
              </a:cxn>
              <a:cxn ang="0">
                <a:pos x="0" y="0"/>
              </a:cxn>
            </a:cxnLst>
            <a:rect l="0" t="0" r="r" b="b"/>
            <a:pathLst>
              <a:path w="4014" h="4455">
                <a:moveTo>
                  <a:pt x="0" y="0"/>
                </a:moveTo>
                <a:lnTo>
                  <a:pt x="3612" y="0"/>
                </a:lnTo>
                <a:cubicBezTo>
                  <a:pt x="4014" y="984"/>
                  <a:pt x="3812" y="2307"/>
                  <a:pt x="3222" y="3042"/>
                </a:cubicBezTo>
                <a:cubicBezTo>
                  <a:pt x="1988" y="4455"/>
                  <a:pt x="0" y="3744"/>
                  <a:pt x="0" y="3744"/>
                </a:cubicBezTo>
                <a:lnTo>
                  <a:pt x="0" y="0"/>
                </a:lnTo>
                <a:close/>
              </a:path>
            </a:pathLst>
          </a:custGeom>
          <a:solidFill>
            <a:srgbClr val="FFFFFF"/>
          </a:solidFill>
          <a:ln w="9525">
            <a:noFill/>
            <a:round/>
            <a:headEnd/>
            <a:tailEnd/>
          </a:ln>
          <a:effectLst/>
        </p:spPr>
        <p:txBody>
          <a:bodyPr/>
          <a:lstStyle/>
          <a:p>
            <a:pPr>
              <a:defRPr/>
            </a:pPr>
            <a:endParaRPr lang="en-US">
              <a:latin typeface="Arial" charset="0"/>
              <a:cs typeface="Arial" charset="0"/>
            </a:endParaRPr>
          </a:p>
        </p:txBody>
      </p:sp>
      <p:sp>
        <p:nvSpPr>
          <p:cNvPr id="9" name="Freeform 45"/>
          <p:cNvSpPr>
            <a:spLocks/>
          </p:cNvSpPr>
          <p:nvPr/>
        </p:nvSpPr>
        <p:spPr bwMode="gray">
          <a:xfrm>
            <a:off x="0" y="0"/>
            <a:ext cx="6372225" cy="7072313"/>
          </a:xfrm>
          <a:custGeom>
            <a:avLst/>
            <a:gdLst/>
            <a:ahLst/>
            <a:cxnLst>
              <a:cxn ang="0">
                <a:pos x="0" y="0"/>
              </a:cxn>
              <a:cxn ang="0">
                <a:pos x="3612" y="0"/>
              </a:cxn>
              <a:cxn ang="0">
                <a:pos x="3222" y="3042"/>
              </a:cxn>
              <a:cxn ang="0">
                <a:pos x="0" y="3744"/>
              </a:cxn>
              <a:cxn ang="0">
                <a:pos x="0" y="0"/>
              </a:cxn>
            </a:cxnLst>
            <a:rect l="0" t="0" r="r" b="b"/>
            <a:pathLst>
              <a:path w="4014" h="4455">
                <a:moveTo>
                  <a:pt x="0" y="0"/>
                </a:moveTo>
                <a:lnTo>
                  <a:pt x="3612" y="0"/>
                </a:lnTo>
                <a:cubicBezTo>
                  <a:pt x="4014" y="984"/>
                  <a:pt x="3812" y="2307"/>
                  <a:pt x="3222" y="3042"/>
                </a:cubicBezTo>
                <a:cubicBezTo>
                  <a:pt x="1988" y="4455"/>
                  <a:pt x="0" y="3744"/>
                  <a:pt x="0" y="3744"/>
                </a:cubicBezTo>
                <a:lnTo>
                  <a:pt x="0" y="0"/>
                </a:lnTo>
                <a:close/>
              </a:path>
            </a:pathLst>
          </a:custGeom>
          <a:gradFill rotWithShape="1">
            <a:gsLst>
              <a:gs pos="0">
                <a:schemeClr val="bg1">
                  <a:gamma/>
                  <a:tint val="25490"/>
                  <a:invGamma/>
                </a:schemeClr>
              </a:gs>
              <a:gs pos="100000">
                <a:schemeClr val="bg1"/>
              </a:gs>
            </a:gsLst>
            <a:lin ang="2700000" scaled="1"/>
          </a:gradFill>
          <a:ln w="9525">
            <a:noFill/>
            <a:round/>
            <a:headEnd/>
            <a:tailEnd/>
          </a:ln>
          <a:effectLst/>
        </p:spPr>
        <p:txBody>
          <a:bodyPr/>
          <a:lstStyle/>
          <a:p>
            <a:pPr>
              <a:defRPr/>
            </a:pPr>
            <a:endParaRPr lang="en-US">
              <a:latin typeface="Arial" charset="0"/>
              <a:cs typeface="Arial" charset="0"/>
            </a:endParaRPr>
          </a:p>
        </p:txBody>
      </p:sp>
      <p:sp>
        <p:nvSpPr>
          <p:cNvPr id="10" name="Line 47"/>
          <p:cNvSpPr>
            <a:spLocks noChangeShapeType="1"/>
          </p:cNvSpPr>
          <p:nvPr/>
        </p:nvSpPr>
        <p:spPr bwMode="gray">
          <a:xfrm>
            <a:off x="250825" y="1588"/>
            <a:ext cx="0" cy="6015037"/>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1" name="Line 48"/>
          <p:cNvSpPr>
            <a:spLocks noChangeShapeType="1"/>
          </p:cNvSpPr>
          <p:nvPr/>
        </p:nvSpPr>
        <p:spPr bwMode="gray">
          <a:xfrm>
            <a:off x="1293813" y="1588"/>
            <a:ext cx="0" cy="6207125"/>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2" name="Line 49"/>
          <p:cNvSpPr>
            <a:spLocks noChangeShapeType="1"/>
          </p:cNvSpPr>
          <p:nvPr/>
        </p:nvSpPr>
        <p:spPr bwMode="gray">
          <a:xfrm>
            <a:off x="2338388" y="1588"/>
            <a:ext cx="0" cy="6183312"/>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3" name="Line 50"/>
          <p:cNvSpPr>
            <a:spLocks noChangeShapeType="1"/>
          </p:cNvSpPr>
          <p:nvPr/>
        </p:nvSpPr>
        <p:spPr bwMode="gray">
          <a:xfrm>
            <a:off x="3382963" y="1588"/>
            <a:ext cx="0" cy="5972175"/>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4" name="Line 51"/>
          <p:cNvSpPr>
            <a:spLocks noChangeShapeType="1"/>
          </p:cNvSpPr>
          <p:nvPr/>
        </p:nvSpPr>
        <p:spPr bwMode="gray">
          <a:xfrm>
            <a:off x="4427538" y="1588"/>
            <a:ext cx="0" cy="5449887"/>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5" name="Line 53"/>
          <p:cNvSpPr>
            <a:spLocks noChangeShapeType="1"/>
          </p:cNvSpPr>
          <p:nvPr/>
        </p:nvSpPr>
        <p:spPr bwMode="gray">
          <a:xfrm rot="5400000">
            <a:off x="2913063" y="-2654300"/>
            <a:ext cx="0" cy="5813425"/>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6" name="Line 54"/>
          <p:cNvSpPr>
            <a:spLocks noChangeShapeType="1"/>
          </p:cNvSpPr>
          <p:nvPr/>
        </p:nvSpPr>
        <p:spPr bwMode="gray">
          <a:xfrm rot="5400000">
            <a:off x="3006725" y="-1682750"/>
            <a:ext cx="0" cy="6000750"/>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7" name="Line 55"/>
          <p:cNvSpPr>
            <a:spLocks noChangeShapeType="1"/>
          </p:cNvSpPr>
          <p:nvPr/>
        </p:nvSpPr>
        <p:spPr bwMode="gray">
          <a:xfrm rot="5400000">
            <a:off x="3011488" y="-622300"/>
            <a:ext cx="0" cy="6010275"/>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8" name="Line 56"/>
          <p:cNvSpPr>
            <a:spLocks noChangeShapeType="1"/>
          </p:cNvSpPr>
          <p:nvPr/>
        </p:nvSpPr>
        <p:spPr bwMode="gray">
          <a:xfrm rot="5400000">
            <a:off x="2907507" y="548481"/>
            <a:ext cx="0" cy="5802313"/>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19" name="Line 57"/>
          <p:cNvSpPr>
            <a:spLocks noChangeShapeType="1"/>
          </p:cNvSpPr>
          <p:nvPr/>
        </p:nvSpPr>
        <p:spPr bwMode="gray">
          <a:xfrm rot="5400000">
            <a:off x="2666207" y="1854993"/>
            <a:ext cx="0" cy="5319713"/>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20" name="Line 58"/>
          <p:cNvSpPr>
            <a:spLocks noChangeShapeType="1"/>
          </p:cNvSpPr>
          <p:nvPr/>
        </p:nvSpPr>
        <p:spPr bwMode="gray">
          <a:xfrm rot="5400000">
            <a:off x="2115344" y="3472656"/>
            <a:ext cx="0" cy="4217988"/>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21" name="Rectangle 59"/>
          <p:cNvSpPr>
            <a:spLocks noChangeArrowheads="1"/>
          </p:cNvSpPr>
          <p:nvPr/>
        </p:nvSpPr>
        <p:spPr bwMode="gray">
          <a:xfrm>
            <a:off x="2362200" y="277813"/>
            <a:ext cx="1012825" cy="1025525"/>
          </a:xfrm>
          <a:prstGeom prst="rect">
            <a:avLst/>
          </a:prstGeom>
          <a:solidFill>
            <a:srgbClr val="FFFFFF">
              <a:alpha val="5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22" name="Rectangle 60"/>
          <p:cNvSpPr>
            <a:spLocks noChangeArrowheads="1"/>
          </p:cNvSpPr>
          <p:nvPr/>
        </p:nvSpPr>
        <p:spPr bwMode="gray">
          <a:xfrm>
            <a:off x="285750" y="2427288"/>
            <a:ext cx="1012825" cy="1025525"/>
          </a:xfrm>
          <a:prstGeom prst="rect">
            <a:avLst/>
          </a:prstGeom>
          <a:solidFill>
            <a:srgbClr val="FFFFFF">
              <a:alpha val="39999"/>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23" name="Rectangle 61"/>
          <p:cNvSpPr>
            <a:spLocks noChangeArrowheads="1"/>
          </p:cNvSpPr>
          <p:nvPr/>
        </p:nvSpPr>
        <p:spPr bwMode="gray">
          <a:xfrm>
            <a:off x="0" y="271463"/>
            <a:ext cx="250825" cy="1025525"/>
          </a:xfrm>
          <a:prstGeom prst="rect">
            <a:avLst/>
          </a:prstGeom>
          <a:solidFill>
            <a:srgbClr val="FFFFFF">
              <a:alpha val="39999"/>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24" name="Rectangle 62"/>
          <p:cNvSpPr>
            <a:spLocks noChangeArrowheads="1"/>
          </p:cNvSpPr>
          <p:nvPr/>
        </p:nvSpPr>
        <p:spPr bwMode="gray">
          <a:xfrm>
            <a:off x="1331913" y="1588"/>
            <a:ext cx="1012825" cy="234950"/>
          </a:xfrm>
          <a:prstGeom prst="rect">
            <a:avLst/>
          </a:prstGeom>
          <a:solidFill>
            <a:srgbClr val="FFFFFF">
              <a:alpha val="5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25" name="Freeform 64"/>
          <p:cNvSpPr>
            <a:spLocks/>
          </p:cNvSpPr>
          <p:nvPr/>
        </p:nvSpPr>
        <p:spPr bwMode="gray">
          <a:xfrm>
            <a:off x="2365375" y="4541838"/>
            <a:ext cx="1009650" cy="1033462"/>
          </a:xfrm>
          <a:custGeom>
            <a:avLst/>
            <a:gdLst/>
            <a:ahLst/>
            <a:cxnLst>
              <a:cxn ang="0">
                <a:pos x="0" y="0"/>
              </a:cxn>
              <a:cxn ang="0">
                <a:pos x="0" y="645"/>
              </a:cxn>
              <a:cxn ang="0">
                <a:pos x="636" y="651"/>
              </a:cxn>
              <a:cxn ang="0">
                <a:pos x="632" y="0"/>
              </a:cxn>
              <a:cxn ang="0">
                <a:pos x="0" y="0"/>
              </a:cxn>
            </a:cxnLst>
            <a:rect l="0" t="0" r="r" b="b"/>
            <a:pathLst>
              <a:path w="636" h="651">
                <a:moveTo>
                  <a:pt x="0" y="0"/>
                </a:moveTo>
                <a:lnTo>
                  <a:pt x="0" y="645"/>
                </a:lnTo>
                <a:lnTo>
                  <a:pt x="636" y="651"/>
                </a:lnTo>
                <a:lnTo>
                  <a:pt x="632" y="0"/>
                </a:lnTo>
                <a:lnTo>
                  <a:pt x="0" y="0"/>
                </a:lnTo>
                <a:close/>
              </a:path>
            </a:pathLst>
          </a:custGeom>
          <a:solidFill>
            <a:srgbClr val="FFFFFF">
              <a:alpha val="39999"/>
            </a:srgbClr>
          </a:solidFill>
          <a:ln w="9525">
            <a:noFill/>
            <a:round/>
            <a:headEnd/>
            <a:tailEnd/>
          </a:ln>
          <a:effectLst/>
        </p:spPr>
        <p:txBody>
          <a:bodyPr/>
          <a:lstStyle/>
          <a:p>
            <a:pPr>
              <a:defRPr/>
            </a:pPr>
            <a:endParaRPr lang="en-US">
              <a:latin typeface="Arial" charset="0"/>
              <a:cs typeface="Arial" charset="0"/>
            </a:endParaRPr>
          </a:p>
        </p:txBody>
      </p:sp>
      <p:sp>
        <p:nvSpPr>
          <p:cNvPr id="26" name="Rectangle 31"/>
          <p:cNvSpPr>
            <a:spLocks noChangeArrowheads="1"/>
          </p:cNvSpPr>
          <p:nvPr/>
        </p:nvSpPr>
        <p:spPr bwMode="gray">
          <a:xfrm>
            <a:off x="285750" y="2435225"/>
            <a:ext cx="1012825" cy="1025525"/>
          </a:xfrm>
          <a:prstGeom prst="rect">
            <a:avLst/>
          </a:prstGeom>
          <a:solidFill>
            <a:srgbClr val="FFFFFF">
              <a:alpha val="3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27" name="Text Box 38"/>
          <p:cNvSpPr txBox="1">
            <a:spLocks noChangeArrowheads="1"/>
          </p:cNvSpPr>
          <p:nvPr/>
        </p:nvSpPr>
        <p:spPr bwMode="gray">
          <a:xfrm>
            <a:off x="333375" y="4714875"/>
            <a:ext cx="1303338" cy="427038"/>
          </a:xfrm>
          <a:prstGeom prst="rect">
            <a:avLst/>
          </a:prstGeom>
          <a:noFill/>
          <a:ln w="9525">
            <a:noFill/>
            <a:miter lim="800000"/>
            <a:headEnd/>
            <a:tailEnd/>
          </a:ln>
          <a:effectLst/>
        </p:spPr>
        <p:txBody>
          <a:bodyPr wrap="none">
            <a:spAutoFit/>
          </a:bodyPr>
          <a:lstStyle/>
          <a:p>
            <a:pPr>
              <a:defRPr/>
            </a:pPr>
            <a:r>
              <a:rPr lang="en-US" sz="2200">
                <a:latin typeface="Arial Black" pitchFamily="34" charset="0"/>
                <a:cs typeface="Arial" charset="0"/>
              </a:rPr>
              <a:t>L/O/G/O</a:t>
            </a:r>
          </a:p>
        </p:txBody>
      </p:sp>
      <p:grpSp>
        <p:nvGrpSpPr>
          <p:cNvPr id="2" name="Group 71"/>
          <p:cNvGrpSpPr>
            <a:grpSpLocks/>
          </p:cNvGrpSpPr>
          <p:nvPr/>
        </p:nvGrpSpPr>
        <p:grpSpPr bwMode="auto">
          <a:xfrm>
            <a:off x="8077200" y="0"/>
            <a:ext cx="1076325" cy="6858000"/>
            <a:chOff x="5088" y="0"/>
            <a:chExt cx="678" cy="4320"/>
          </a:xfrm>
        </p:grpSpPr>
        <p:sp>
          <p:nvSpPr>
            <p:cNvPr id="29" name="Freeform 66"/>
            <p:cNvSpPr>
              <a:spLocks/>
            </p:cNvSpPr>
            <p:nvPr userDrawn="1"/>
          </p:nvSpPr>
          <p:spPr bwMode="gray">
            <a:xfrm>
              <a:off x="5088" y="0"/>
              <a:ext cx="672" cy="702"/>
            </a:xfrm>
            <a:custGeom>
              <a:avLst/>
              <a:gdLst/>
              <a:ahLst/>
              <a:cxnLst>
                <a:cxn ang="0">
                  <a:pos x="0" y="432"/>
                </a:cxn>
                <a:cxn ang="0">
                  <a:pos x="288" y="0"/>
                </a:cxn>
                <a:cxn ang="0">
                  <a:pos x="672" y="0"/>
                </a:cxn>
                <a:cxn ang="0">
                  <a:pos x="672" y="720"/>
                </a:cxn>
                <a:cxn ang="0">
                  <a:pos x="0" y="432"/>
                </a:cxn>
              </a:cxnLst>
              <a:rect l="0" t="0" r="r" b="b"/>
              <a:pathLst>
                <a:path w="672" h="720">
                  <a:moveTo>
                    <a:pt x="0" y="432"/>
                  </a:moveTo>
                  <a:cubicBezTo>
                    <a:pt x="186" y="216"/>
                    <a:pt x="288" y="0"/>
                    <a:pt x="288" y="0"/>
                  </a:cubicBezTo>
                  <a:lnTo>
                    <a:pt x="672" y="0"/>
                  </a:lnTo>
                  <a:lnTo>
                    <a:pt x="672" y="720"/>
                  </a:lnTo>
                  <a:cubicBezTo>
                    <a:pt x="672" y="720"/>
                    <a:pt x="384" y="516"/>
                    <a:pt x="0" y="432"/>
                  </a:cubicBezTo>
                  <a:close/>
                </a:path>
              </a:pathLst>
            </a:custGeom>
            <a:solidFill>
              <a:srgbClr val="E8E8E8"/>
            </a:solidFill>
            <a:ln w="9525">
              <a:noFill/>
              <a:round/>
              <a:headEnd/>
              <a:tailEnd/>
            </a:ln>
            <a:effectLst/>
          </p:spPr>
          <p:txBody>
            <a:bodyPr/>
            <a:lstStyle/>
            <a:p>
              <a:pPr>
                <a:defRPr/>
              </a:pPr>
              <a:endParaRPr lang="en-US">
                <a:latin typeface="Arial" charset="0"/>
                <a:cs typeface="Arial" charset="0"/>
              </a:endParaRPr>
            </a:p>
          </p:txBody>
        </p:sp>
        <p:sp>
          <p:nvSpPr>
            <p:cNvPr id="30" name="Freeform 67"/>
            <p:cNvSpPr>
              <a:spLocks/>
            </p:cNvSpPr>
            <p:nvPr userDrawn="1"/>
          </p:nvSpPr>
          <p:spPr bwMode="gray">
            <a:xfrm>
              <a:off x="5602" y="3496"/>
              <a:ext cx="164" cy="824"/>
            </a:xfrm>
            <a:custGeom>
              <a:avLst/>
              <a:gdLst/>
              <a:ahLst/>
              <a:cxnLst>
                <a:cxn ang="0">
                  <a:pos x="206" y="0"/>
                </a:cxn>
                <a:cxn ang="0">
                  <a:pos x="0" y="82"/>
                </a:cxn>
                <a:cxn ang="0">
                  <a:pos x="168" y="824"/>
                </a:cxn>
                <a:cxn ang="0">
                  <a:pos x="212" y="822"/>
                </a:cxn>
                <a:cxn ang="0">
                  <a:pos x="206" y="0"/>
                </a:cxn>
              </a:cxnLst>
              <a:rect l="0" t="0" r="r" b="b"/>
              <a:pathLst>
                <a:path w="212" h="824">
                  <a:moveTo>
                    <a:pt x="206" y="0"/>
                  </a:moveTo>
                  <a:cubicBezTo>
                    <a:pt x="104" y="54"/>
                    <a:pt x="0" y="82"/>
                    <a:pt x="0" y="82"/>
                  </a:cubicBezTo>
                  <a:cubicBezTo>
                    <a:pt x="0" y="82"/>
                    <a:pt x="148" y="378"/>
                    <a:pt x="168" y="824"/>
                  </a:cubicBezTo>
                  <a:lnTo>
                    <a:pt x="212" y="822"/>
                  </a:lnTo>
                  <a:cubicBezTo>
                    <a:pt x="212" y="822"/>
                    <a:pt x="209" y="411"/>
                    <a:pt x="206" y="0"/>
                  </a:cubicBezTo>
                  <a:close/>
                </a:path>
              </a:pathLst>
            </a:custGeom>
            <a:solidFill>
              <a:srgbClr val="E8E8E8"/>
            </a:solidFill>
            <a:ln w="9525">
              <a:noFill/>
              <a:round/>
              <a:headEnd/>
              <a:tailEnd/>
            </a:ln>
            <a:effectLst/>
          </p:spPr>
          <p:txBody>
            <a:bodyPr/>
            <a:lstStyle/>
            <a:p>
              <a:pPr>
                <a:defRPr/>
              </a:pPr>
              <a:endParaRPr lang="en-US">
                <a:latin typeface="Arial" charset="0"/>
                <a:cs typeface="Arial" charset="0"/>
              </a:endParaRPr>
            </a:p>
          </p:txBody>
        </p:sp>
      </p:grpSp>
      <p:sp>
        <p:nvSpPr>
          <p:cNvPr id="31" name="Rectangle 80"/>
          <p:cNvSpPr>
            <a:spLocks noChangeArrowheads="1"/>
          </p:cNvSpPr>
          <p:nvPr/>
        </p:nvSpPr>
        <p:spPr bwMode="gray">
          <a:xfrm>
            <a:off x="5495925" y="1333500"/>
            <a:ext cx="660400" cy="1025525"/>
          </a:xfrm>
          <a:prstGeom prst="rect">
            <a:avLst/>
          </a:prstGeom>
          <a:solidFill>
            <a:srgbClr val="FFFFFF">
              <a:alpha val="39999"/>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32" name="Line 81"/>
          <p:cNvSpPr>
            <a:spLocks noChangeShapeType="1"/>
          </p:cNvSpPr>
          <p:nvPr/>
        </p:nvSpPr>
        <p:spPr bwMode="gray">
          <a:xfrm>
            <a:off x="5480050" y="1588"/>
            <a:ext cx="0" cy="4238625"/>
          </a:xfrm>
          <a:prstGeom prst="line">
            <a:avLst/>
          </a:prstGeom>
          <a:noFill/>
          <a:ln w="9525">
            <a:solidFill>
              <a:srgbClr val="FFFFFF"/>
            </a:solidFill>
            <a:round/>
            <a:headEnd/>
            <a:tailEnd/>
          </a:ln>
          <a:effectLst>
            <a:outerShdw dist="17961" dir="2700000" algn="ctr" rotWithShape="0">
              <a:schemeClr val="accent2">
                <a:alpha val="50000"/>
              </a:schemeClr>
            </a:outerShdw>
          </a:effectLst>
        </p:spPr>
        <p:txBody>
          <a:bodyPr/>
          <a:lstStyle/>
          <a:p>
            <a:pPr>
              <a:defRPr/>
            </a:pPr>
            <a:endParaRPr lang="en-US">
              <a:latin typeface="Arial" charset="0"/>
              <a:cs typeface="Arial" charset="0"/>
            </a:endParaRPr>
          </a:p>
        </p:txBody>
      </p:sp>
      <p:sp>
        <p:nvSpPr>
          <p:cNvPr id="33" name="Rectangle 82"/>
          <p:cNvSpPr>
            <a:spLocks noChangeArrowheads="1"/>
          </p:cNvSpPr>
          <p:nvPr/>
        </p:nvSpPr>
        <p:spPr bwMode="gray">
          <a:xfrm>
            <a:off x="4457700" y="3495675"/>
            <a:ext cx="1012825" cy="1025525"/>
          </a:xfrm>
          <a:prstGeom prst="rect">
            <a:avLst/>
          </a:prstGeom>
          <a:solidFill>
            <a:srgbClr val="FFFFFF">
              <a:alpha val="30000"/>
            </a:srgbClr>
          </a:solidFill>
          <a:ln w="9525">
            <a:noFill/>
            <a:miter lim="800000"/>
            <a:headEnd/>
            <a:tailEnd/>
          </a:ln>
          <a:effectLst/>
        </p:spPr>
        <p:txBody>
          <a:bodyPr wrap="none" anchor="ctr"/>
          <a:lstStyle/>
          <a:p>
            <a:pPr>
              <a:defRPr/>
            </a:pPr>
            <a:endParaRPr lang="en-US">
              <a:latin typeface="Arial" charset="0"/>
              <a:cs typeface="Arial" charset="0"/>
            </a:endParaRPr>
          </a:p>
        </p:txBody>
      </p:sp>
      <p:pic>
        <p:nvPicPr>
          <p:cNvPr id="34" name="Picture 83" descr="water"/>
          <p:cNvPicPr>
            <a:picLocks noChangeAspect="1" noChangeArrowheads="1"/>
          </p:cNvPicPr>
          <p:nvPr/>
        </p:nvPicPr>
        <p:blipFill>
          <a:blip r:embed="rId2"/>
          <a:srcRect l="22409" t="16374" b="27486"/>
          <a:stretch>
            <a:fillRect/>
          </a:stretch>
        </p:blipFill>
        <p:spPr bwMode="gray">
          <a:xfrm rot="393398">
            <a:off x="2667000" y="609600"/>
            <a:ext cx="2663825" cy="2197100"/>
          </a:xfrm>
          <a:prstGeom prst="rect">
            <a:avLst/>
          </a:prstGeom>
          <a:noFill/>
          <a:ln w="9525">
            <a:noFill/>
            <a:miter lim="800000"/>
            <a:headEnd/>
            <a:tailEnd/>
          </a:ln>
        </p:spPr>
      </p:pic>
      <p:sp>
        <p:nvSpPr>
          <p:cNvPr id="3075" name="Rectangle 3"/>
          <p:cNvSpPr>
            <a:spLocks noGrp="1" noChangeArrowheads="1"/>
          </p:cNvSpPr>
          <p:nvPr>
            <p:ph type="subTitle" idx="1"/>
          </p:nvPr>
        </p:nvSpPr>
        <p:spPr>
          <a:xfrm>
            <a:off x="333375" y="5084763"/>
            <a:ext cx="6400800" cy="457200"/>
          </a:xfrm>
        </p:spPr>
        <p:txBody>
          <a:bodyPr/>
          <a:lstStyle>
            <a:lvl1pPr marL="0" indent="0">
              <a:buFontTx/>
              <a:buNone/>
              <a:defRPr sz="1600">
                <a:latin typeface="Times New Roman" pitchFamily="18" charset="0"/>
              </a:defRPr>
            </a:lvl1pPr>
          </a:lstStyle>
          <a:p>
            <a:r>
              <a:rPr lang="en-US"/>
              <a:t>Click to edit Master subtitle style</a:t>
            </a:r>
          </a:p>
        </p:txBody>
      </p:sp>
      <p:sp>
        <p:nvSpPr>
          <p:cNvPr id="3074" name="Rectangle 2"/>
          <p:cNvSpPr>
            <a:spLocks noGrp="1" noChangeArrowheads="1"/>
          </p:cNvSpPr>
          <p:nvPr>
            <p:ph type="ctrTitle"/>
          </p:nvPr>
        </p:nvSpPr>
        <p:spPr bwMode="gray">
          <a:xfrm>
            <a:off x="333375" y="1884363"/>
            <a:ext cx="8229600" cy="1470025"/>
          </a:xfrm>
          <a:effectLst/>
        </p:spPr>
        <p:txBody>
          <a:bodyPr/>
          <a:lstStyle>
            <a:lvl1pPr>
              <a:defRPr sz="4800"/>
            </a:lvl1pPr>
          </a:lstStyle>
          <a:p>
            <a:r>
              <a:rPr lang="en-US"/>
              <a:t>Click to edit Master title style</a:t>
            </a:r>
          </a:p>
        </p:txBody>
      </p:sp>
      <p:sp>
        <p:nvSpPr>
          <p:cNvPr id="35" name="Rectangle 4"/>
          <p:cNvSpPr>
            <a:spLocks noGrp="1" noChangeArrowheads="1"/>
          </p:cNvSpPr>
          <p:nvPr>
            <p:ph type="dt" sz="half" idx="10"/>
          </p:nvPr>
        </p:nvSpPr>
        <p:spPr>
          <a:xfrm>
            <a:off x="457200" y="6407150"/>
            <a:ext cx="2133600" cy="314325"/>
          </a:xfrm>
        </p:spPr>
        <p:txBody>
          <a:bodyPr/>
          <a:lstStyle>
            <a:lvl1pPr>
              <a:defRPr smtClean="0"/>
            </a:lvl1pPr>
          </a:lstStyle>
          <a:p>
            <a:pPr>
              <a:defRPr/>
            </a:pPr>
            <a:fld id="{5B98D164-264C-4E76-93F0-6882AAE1C4A3}" type="datetime1">
              <a:rPr lang="en-GB" smtClean="0"/>
              <a:t>21/05/2022</a:t>
            </a:fld>
            <a:endParaRPr lang="en-US"/>
          </a:p>
        </p:txBody>
      </p:sp>
      <p:sp>
        <p:nvSpPr>
          <p:cNvPr id="36" name="Rectangle 5"/>
          <p:cNvSpPr>
            <a:spLocks noGrp="1" noChangeArrowheads="1"/>
          </p:cNvSpPr>
          <p:nvPr>
            <p:ph type="ftr" sz="quarter" idx="11"/>
          </p:nvPr>
        </p:nvSpPr>
        <p:spPr>
          <a:xfrm>
            <a:off x="3124200" y="6407150"/>
            <a:ext cx="2895600" cy="314325"/>
          </a:xfrm>
        </p:spPr>
        <p:txBody>
          <a:bodyPr/>
          <a:lstStyle>
            <a:lvl1pPr>
              <a:defRPr smtClean="0"/>
            </a:lvl1pPr>
          </a:lstStyle>
          <a:p>
            <a:pPr>
              <a:defRPr/>
            </a:pPr>
            <a:endParaRPr lang="en-US"/>
          </a:p>
        </p:txBody>
      </p:sp>
      <p:sp>
        <p:nvSpPr>
          <p:cNvPr id="37" name="Rectangle 6"/>
          <p:cNvSpPr>
            <a:spLocks noGrp="1" noChangeArrowheads="1"/>
          </p:cNvSpPr>
          <p:nvPr>
            <p:ph type="sldNum" sz="quarter" idx="12"/>
          </p:nvPr>
        </p:nvSpPr>
        <p:spPr>
          <a:xfrm>
            <a:off x="6553200" y="6407150"/>
            <a:ext cx="2133600" cy="314325"/>
          </a:xfrm>
        </p:spPr>
        <p:txBody>
          <a:bodyPr/>
          <a:lstStyle>
            <a:lvl1pPr>
              <a:defRPr smtClean="0"/>
            </a:lvl1pPr>
          </a:lstStyle>
          <a:p>
            <a:pPr>
              <a:defRPr/>
            </a:pPr>
            <a:fld id="{A80DECBC-AD9D-4324-B138-14CA3964C6E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BF56CB1-51CE-471C-B0C4-D03F10EE0A66}" type="datetime1">
              <a:rPr lang="en-GB" smtClean="0"/>
              <a:t>21/05/2022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311E4D0-83D2-483E-B4FF-A39381AE88F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DF1D1A8-2E13-4093-B1FD-965AB81B07CC}" type="datetime1">
              <a:rPr lang="en-GB" smtClean="0"/>
              <a:t>21/05/2022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A1DE074-E642-4E6E-B385-5173F3E59A7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7E84FF81-5A41-4B90-B315-65D0CEE0BA19}" type="datetime1">
              <a:rPr lang="en-GB" smtClean="0"/>
              <a:t>21/05/2022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78926E1-F050-471B-8E1A-00F5452CB17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004A5D0-3065-4520-8AF9-EF337DF12602}" type="datetime1">
              <a:rPr lang="en-GB" smtClean="0"/>
              <a:t>21/05/2022</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3B6237F-0FDE-4F2F-B3CB-0A58AC4FF1C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208AF39-4647-456C-8268-D92DCE105649}" type="datetime1">
              <a:rPr lang="en-GB" smtClean="0"/>
              <a:t>21/05/2022</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22AACDE-FFB5-4A38-8F79-DFE544BB59C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F8F0DAA-9349-432B-8CAA-259D6F099D88}" type="datetime1">
              <a:rPr lang="en-GB" smtClean="0"/>
              <a:t>21/05/2022</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F4A6653-B86E-4E16-8728-83B952A0E29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6E7546B-2489-47B7-AD26-6519D0E01A2E}" type="datetime1">
              <a:rPr lang="en-GB" smtClean="0"/>
              <a:t>21/05/2022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54EF7CA-7937-431E-9753-23F4F4E614C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1E8892EF-7D70-41CA-BE21-88EF25610FF2}" type="datetime1">
              <a:rPr lang="en-GB" smtClean="0"/>
              <a:t>21/05/2022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DECE820-63E3-4024-BE8C-8BD05822CD0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6CCF76E4-A5E3-404A-A17D-D1959F247214}" type="datetime1">
              <a:rPr lang="en-GB" smtClean="0"/>
              <a:t>21/05/2022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40A4C26-677B-4C30-BEDE-E4BAA5C8215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25438"/>
            <a:ext cx="2057400" cy="58007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25438"/>
            <a:ext cx="6019800" cy="58007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D08EA522-A6A7-4DEF-BB32-6AD9534A4896}" type="datetime1">
              <a:rPr lang="en-GB" smtClean="0"/>
              <a:t>21/05/2022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1D86C1-5376-4DD2-8AAB-D1F7BFB4449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5438"/>
            <a:ext cx="8229600" cy="9271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912EFD1E-9650-4D06-8F08-3A74C520DF74}" type="datetime1">
              <a:rPr lang="en-GB" smtClean="0"/>
              <a:t>21/05/2022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AAA9E98-37E6-4A0C-A7D8-61FF272EE3EB}"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5438"/>
            <a:ext cx="8229600" cy="9271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26635429-E01B-4FAB-8B39-0C16791491DA}" type="datetime1">
              <a:rPr lang="en-GB" smtClean="0"/>
              <a:t>21/05/2022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252ABD8-C09E-47EA-95EF-9A062E910C1D}"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325438"/>
            <a:ext cx="8229600" cy="9271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pPr lvl="0"/>
            <a:r>
              <a:rPr lang="en-US" noProof="0"/>
              <a:t>Click icon to add chart</a:t>
            </a:r>
          </a:p>
        </p:txBody>
      </p:sp>
      <p:sp>
        <p:nvSpPr>
          <p:cNvPr id="4" name="Rectangle 4"/>
          <p:cNvSpPr>
            <a:spLocks noGrp="1" noChangeArrowheads="1"/>
          </p:cNvSpPr>
          <p:nvPr>
            <p:ph type="dt" sz="half" idx="10"/>
          </p:nvPr>
        </p:nvSpPr>
        <p:spPr>
          <a:ln/>
        </p:spPr>
        <p:txBody>
          <a:bodyPr/>
          <a:lstStyle>
            <a:lvl1pPr>
              <a:defRPr/>
            </a:lvl1pPr>
          </a:lstStyle>
          <a:p>
            <a:pPr>
              <a:defRPr/>
            </a:pPr>
            <a:fld id="{9D80F56B-58DB-48C0-AE41-BBC3F233319A}" type="datetime1">
              <a:rPr lang="en-GB" smtClean="0"/>
              <a:t>21/05/2022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42D4333-24F9-4F14-A9EA-07BD10F6C2B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1" name="Freeform 7"/>
          <p:cNvSpPr>
            <a:spLocks/>
          </p:cNvSpPr>
          <p:nvPr/>
        </p:nvSpPr>
        <p:spPr bwMode="gray">
          <a:xfrm>
            <a:off x="-9525" y="-9525"/>
            <a:ext cx="9156700" cy="6872288"/>
          </a:xfrm>
          <a:custGeom>
            <a:avLst/>
            <a:gdLst/>
            <a:ahLst/>
            <a:cxnLst>
              <a:cxn ang="0">
                <a:pos x="5766" y="605"/>
              </a:cxn>
              <a:cxn ang="0">
                <a:pos x="5768" y="4325"/>
              </a:cxn>
              <a:cxn ang="0">
                <a:pos x="1082" y="4329"/>
              </a:cxn>
              <a:cxn ang="0">
                <a:pos x="13" y="3351"/>
              </a:cxn>
              <a:cxn ang="0">
                <a:pos x="0" y="0"/>
              </a:cxn>
              <a:cxn ang="0">
                <a:pos x="2428" y="7"/>
              </a:cxn>
              <a:cxn ang="0">
                <a:pos x="5766" y="605"/>
              </a:cxn>
            </a:cxnLst>
            <a:rect l="0" t="0" r="r" b="b"/>
            <a:pathLst>
              <a:path w="5768" h="4329">
                <a:moveTo>
                  <a:pt x="5766" y="605"/>
                </a:moveTo>
                <a:cubicBezTo>
                  <a:pt x="5767" y="2464"/>
                  <a:pt x="5768" y="4325"/>
                  <a:pt x="5768" y="4325"/>
                </a:cubicBezTo>
                <a:lnTo>
                  <a:pt x="1082" y="4329"/>
                </a:lnTo>
                <a:cubicBezTo>
                  <a:pt x="318" y="3809"/>
                  <a:pt x="9" y="3349"/>
                  <a:pt x="13" y="3351"/>
                </a:cubicBezTo>
                <a:lnTo>
                  <a:pt x="0" y="0"/>
                </a:lnTo>
                <a:lnTo>
                  <a:pt x="2428" y="7"/>
                </a:lnTo>
                <a:cubicBezTo>
                  <a:pt x="2428" y="12"/>
                  <a:pt x="3096" y="401"/>
                  <a:pt x="5766" y="605"/>
                </a:cubicBezTo>
                <a:close/>
              </a:path>
            </a:pathLst>
          </a:custGeom>
          <a:gradFill rotWithShape="1">
            <a:gsLst>
              <a:gs pos="0">
                <a:schemeClr val="bg1">
                  <a:gamma/>
                  <a:tint val="3137"/>
                  <a:invGamma/>
                </a:schemeClr>
              </a:gs>
              <a:gs pos="100000">
                <a:schemeClr val="bg1">
                  <a:alpha val="70000"/>
                </a:schemeClr>
              </a:gs>
            </a:gsLst>
            <a:lin ang="2700000" scaled="1"/>
          </a:gradFill>
          <a:ln w="9525">
            <a:noFill/>
            <a:round/>
            <a:headEnd/>
            <a:tailEnd/>
          </a:ln>
          <a:effectLst/>
        </p:spPr>
        <p:txBody>
          <a:bodyPr/>
          <a:lstStyle/>
          <a:p>
            <a:pPr>
              <a:defRPr/>
            </a:pPr>
            <a:endParaRPr lang="en-US">
              <a:latin typeface="Arial" charset="0"/>
              <a:cs typeface="Arial" charset="0"/>
            </a:endParaRPr>
          </a:p>
        </p:txBody>
      </p:sp>
      <p:sp>
        <p:nvSpPr>
          <p:cNvPr id="1033" name="Freeform 9"/>
          <p:cNvSpPr>
            <a:spLocks/>
          </p:cNvSpPr>
          <p:nvPr/>
        </p:nvSpPr>
        <p:spPr bwMode="gray">
          <a:xfrm>
            <a:off x="-4763" y="5500688"/>
            <a:ext cx="1441451" cy="1358900"/>
          </a:xfrm>
          <a:custGeom>
            <a:avLst/>
            <a:gdLst/>
            <a:ahLst/>
            <a:cxnLst>
              <a:cxn ang="0">
                <a:pos x="0" y="0"/>
              </a:cxn>
              <a:cxn ang="0">
                <a:pos x="0" y="1100"/>
              </a:cxn>
              <a:cxn ang="0">
                <a:pos x="1089" y="1100"/>
              </a:cxn>
              <a:cxn ang="0">
                <a:pos x="0" y="0"/>
              </a:cxn>
            </a:cxnLst>
            <a:rect l="0" t="0" r="r" b="b"/>
            <a:pathLst>
              <a:path w="1089" h="1100">
                <a:moveTo>
                  <a:pt x="0" y="0"/>
                </a:moveTo>
                <a:cubicBezTo>
                  <a:pt x="0" y="550"/>
                  <a:pt x="0" y="1100"/>
                  <a:pt x="0" y="1100"/>
                </a:cubicBezTo>
                <a:lnTo>
                  <a:pt x="1089" y="1100"/>
                </a:lnTo>
                <a:cubicBezTo>
                  <a:pt x="1089" y="1100"/>
                  <a:pt x="596" y="865"/>
                  <a:pt x="0" y="0"/>
                </a:cubicBezTo>
                <a:close/>
              </a:path>
            </a:pathLst>
          </a:custGeom>
          <a:solidFill>
            <a:schemeClr val="folHlink"/>
          </a:solidFill>
          <a:ln w="9525">
            <a:noFill/>
            <a:round/>
            <a:headEnd/>
            <a:tailEnd/>
          </a:ln>
          <a:effectLst/>
        </p:spPr>
        <p:txBody>
          <a:bodyPr/>
          <a:lstStyle/>
          <a:p>
            <a:pPr>
              <a:defRPr/>
            </a:pPr>
            <a:endParaRPr lang="en-US">
              <a:latin typeface="Arial" charset="0"/>
              <a:cs typeface="Arial" charset="0"/>
            </a:endParaRPr>
          </a:p>
        </p:txBody>
      </p:sp>
      <p:sp>
        <p:nvSpPr>
          <p:cNvPr id="1037" name="Line 13"/>
          <p:cNvSpPr>
            <a:spLocks noChangeShapeType="1"/>
          </p:cNvSpPr>
          <p:nvPr/>
        </p:nvSpPr>
        <p:spPr bwMode="gray">
          <a:xfrm>
            <a:off x="527050" y="0"/>
            <a:ext cx="0" cy="5910263"/>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38" name="Line 14"/>
          <p:cNvSpPr>
            <a:spLocks noChangeShapeType="1"/>
          </p:cNvSpPr>
          <p:nvPr/>
        </p:nvSpPr>
        <p:spPr bwMode="gray">
          <a:xfrm>
            <a:off x="1677988" y="0"/>
            <a:ext cx="0" cy="6832600"/>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39" name="Line 15"/>
          <p:cNvSpPr>
            <a:spLocks noChangeShapeType="1"/>
          </p:cNvSpPr>
          <p:nvPr/>
        </p:nvSpPr>
        <p:spPr bwMode="gray">
          <a:xfrm>
            <a:off x="2830513" y="0"/>
            <a:ext cx="0" cy="686117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0" name="Line 16"/>
          <p:cNvSpPr>
            <a:spLocks noChangeShapeType="1"/>
          </p:cNvSpPr>
          <p:nvPr/>
        </p:nvSpPr>
        <p:spPr bwMode="gray">
          <a:xfrm>
            <a:off x="3983038" y="0"/>
            <a:ext cx="0" cy="6875463"/>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1" name="Line 17"/>
          <p:cNvSpPr>
            <a:spLocks noChangeShapeType="1"/>
          </p:cNvSpPr>
          <p:nvPr/>
        </p:nvSpPr>
        <p:spPr bwMode="gray">
          <a:xfrm>
            <a:off x="5133975" y="388938"/>
            <a:ext cx="0" cy="648652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2" name="Line 18"/>
          <p:cNvSpPr>
            <a:spLocks noChangeShapeType="1"/>
          </p:cNvSpPr>
          <p:nvPr/>
        </p:nvSpPr>
        <p:spPr bwMode="gray">
          <a:xfrm>
            <a:off x="6286500" y="619125"/>
            <a:ext cx="0" cy="6256338"/>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3" name="Line 19"/>
          <p:cNvSpPr>
            <a:spLocks noChangeShapeType="1"/>
          </p:cNvSpPr>
          <p:nvPr/>
        </p:nvSpPr>
        <p:spPr bwMode="gray">
          <a:xfrm>
            <a:off x="7439025" y="773113"/>
            <a:ext cx="0" cy="6102350"/>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4" name="Line 20"/>
          <p:cNvSpPr>
            <a:spLocks noChangeShapeType="1"/>
          </p:cNvSpPr>
          <p:nvPr/>
        </p:nvSpPr>
        <p:spPr bwMode="gray">
          <a:xfrm>
            <a:off x="8591550" y="900113"/>
            <a:ext cx="0" cy="5975350"/>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6" name="Line 22"/>
          <p:cNvSpPr>
            <a:spLocks noChangeShapeType="1"/>
          </p:cNvSpPr>
          <p:nvPr/>
        </p:nvSpPr>
        <p:spPr bwMode="gray">
          <a:xfrm rot="5400000">
            <a:off x="2595563" y="-2176463"/>
            <a:ext cx="0" cy="519112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7" name="Line 23"/>
          <p:cNvSpPr>
            <a:spLocks noChangeShapeType="1"/>
          </p:cNvSpPr>
          <p:nvPr/>
        </p:nvSpPr>
        <p:spPr bwMode="gray">
          <a:xfrm rot="5400000">
            <a:off x="4578350" y="-3036887"/>
            <a:ext cx="0" cy="9156700"/>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8" name="Line 24"/>
          <p:cNvSpPr>
            <a:spLocks noChangeShapeType="1"/>
          </p:cNvSpPr>
          <p:nvPr/>
        </p:nvSpPr>
        <p:spPr bwMode="gray">
          <a:xfrm rot="5400000">
            <a:off x="4578350" y="-1912937"/>
            <a:ext cx="0" cy="9156700"/>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49" name="Line 25"/>
          <p:cNvSpPr>
            <a:spLocks noChangeShapeType="1"/>
          </p:cNvSpPr>
          <p:nvPr/>
        </p:nvSpPr>
        <p:spPr bwMode="gray">
          <a:xfrm rot="5400000">
            <a:off x="4579938" y="-788988"/>
            <a:ext cx="0" cy="915352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50" name="Line 26"/>
          <p:cNvSpPr>
            <a:spLocks noChangeShapeType="1"/>
          </p:cNvSpPr>
          <p:nvPr/>
        </p:nvSpPr>
        <p:spPr bwMode="gray">
          <a:xfrm rot="5400000">
            <a:off x="4579938" y="334962"/>
            <a:ext cx="0" cy="915352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51" name="Line 27"/>
          <p:cNvSpPr>
            <a:spLocks noChangeShapeType="1"/>
          </p:cNvSpPr>
          <p:nvPr/>
        </p:nvSpPr>
        <p:spPr bwMode="gray">
          <a:xfrm rot="5400000">
            <a:off x="4905376" y="1824037"/>
            <a:ext cx="0" cy="8423275"/>
          </a:xfrm>
          <a:prstGeom prst="line">
            <a:avLst/>
          </a:prstGeom>
          <a:noFill/>
          <a:ln w="9525">
            <a:solidFill>
              <a:srgbClr val="FFFFFF">
                <a:alpha val="50000"/>
              </a:srgbClr>
            </a:solidFill>
            <a:round/>
            <a:headEnd/>
            <a:tailEnd/>
          </a:ln>
          <a:effectLst>
            <a:outerShdw dist="17961" dir="2700000" algn="ctr" rotWithShape="0">
              <a:schemeClr val="accent2">
                <a:alpha val="35001"/>
              </a:schemeClr>
            </a:outerShdw>
          </a:effectLst>
        </p:spPr>
        <p:txBody>
          <a:bodyPr/>
          <a:lstStyle/>
          <a:p>
            <a:pPr>
              <a:defRPr/>
            </a:pPr>
            <a:endParaRPr lang="en-US">
              <a:latin typeface="Arial" charset="0"/>
              <a:cs typeface="Arial" charset="0"/>
            </a:endParaRPr>
          </a:p>
        </p:txBody>
      </p:sp>
      <p:sp>
        <p:nvSpPr>
          <p:cNvPr id="1052" name="Rectangle 28"/>
          <p:cNvSpPr>
            <a:spLocks noChangeArrowheads="1"/>
          </p:cNvSpPr>
          <p:nvPr/>
        </p:nvSpPr>
        <p:spPr bwMode="gray">
          <a:xfrm>
            <a:off x="4005263" y="2692400"/>
            <a:ext cx="1128712" cy="1079500"/>
          </a:xfrm>
          <a:prstGeom prst="rect">
            <a:avLst/>
          </a:prstGeom>
          <a:solidFill>
            <a:srgbClr val="FFFFFF">
              <a:alpha val="25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3" name="Rectangle 29"/>
          <p:cNvSpPr>
            <a:spLocks noChangeArrowheads="1"/>
          </p:cNvSpPr>
          <p:nvPr/>
        </p:nvSpPr>
        <p:spPr bwMode="gray">
          <a:xfrm>
            <a:off x="7459663" y="4937125"/>
            <a:ext cx="1120775" cy="1079500"/>
          </a:xfrm>
          <a:prstGeom prst="rect">
            <a:avLst/>
          </a:prstGeom>
          <a:solidFill>
            <a:srgbClr val="FFFFFF">
              <a:alpha val="3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4" name="Rectangle 30"/>
          <p:cNvSpPr>
            <a:spLocks noChangeArrowheads="1"/>
          </p:cNvSpPr>
          <p:nvPr/>
        </p:nvSpPr>
        <p:spPr bwMode="gray">
          <a:xfrm>
            <a:off x="549275" y="3808413"/>
            <a:ext cx="1128713" cy="1079500"/>
          </a:xfrm>
          <a:prstGeom prst="rect">
            <a:avLst/>
          </a:prstGeom>
          <a:solidFill>
            <a:srgbClr val="FFFFFF">
              <a:alpha val="2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5" name="Rectangle 31"/>
          <p:cNvSpPr>
            <a:spLocks noChangeArrowheads="1"/>
          </p:cNvSpPr>
          <p:nvPr/>
        </p:nvSpPr>
        <p:spPr bwMode="gray">
          <a:xfrm>
            <a:off x="6307138" y="6064250"/>
            <a:ext cx="1128712" cy="796925"/>
          </a:xfrm>
          <a:prstGeom prst="rect">
            <a:avLst/>
          </a:prstGeom>
          <a:solidFill>
            <a:srgbClr val="FFFFFF">
              <a:alpha val="2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6" name="Rectangle 32"/>
          <p:cNvSpPr>
            <a:spLocks noChangeArrowheads="1"/>
          </p:cNvSpPr>
          <p:nvPr/>
        </p:nvSpPr>
        <p:spPr bwMode="gray">
          <a:xfrm>
            <a:off x="2846388" y="0"/>
            <a:ext cx="1128712" cy="404813"/>
          </a:xfrm>
          <a:prstGeom prst="rect">
            <a:avLst/>
          </a:prstGeom>
          <a:solidFill>
            <a:srgbClr val="FFFFFF">
              <a:alpha val="39999"/>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7" name="Rectangle 33"/>
          <p:cNvSpPr>
            <a:spLocks noChangeArrowheads="1"/>
          </p:cNvSpPr>
          <p:nvPr/>
        </p:nvSpPr>
        <p:spPr bwMode="gray">
          <a:xfrm>
            <a:off x="2852738" y="4938713"/>
            <a:ext cx="1120775" cy="1079500"/>
          </a:xfrm>
          <a:prstGeom prst="rect">
            <a:avLst/>
          </a:prstGeom>
          <a:solidFill>
            <a:srgbClr val="FFFFFF">
              <a:alpha val="3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1058" name="Rectangle 34"/>
          <p:cNvSpPr>
            <a:spLocks noChangeArrowheads="1"/>
          </p:cNvSpPr>
          <p:nvPr/>
        </p:nvSpPr>
        <p:spPr bwMode="gray">
          <a:xfrm>
            <a:off x="6300788" y="1566863"/>
            <a:ext cx="1120775" cy="1079500"/>
          </a:xfrm>
          <a:prstGeom prst="rect">
            <a:avLst/>
          </a:prstGeom>
          <a:solidFill>
            <a:srgbClr val="FFFFFF">
              <a:alpha val="30000"/>
            </a:srgbClr>
          </a:solidFill>
          <a:ln w="9525">
            <a:noFill/>
            <a:miter lim="800000"/>
            <a:headEnd/>
            <a:tailEnd/>
          </a:ln>
          <a:effectLst/>
        </p:spPr>
        <p:txBody>
          <a:bodyPr wrap="none" anchor="ctr"/>
          <a:lstStyle/>
          <a:p>
            <a:pPr>
              <a:defRPr/>
            </a:pPr>
            <a:endParaRPr lang="en-US">
              <a:latin typeface="Arial" charset="0"/>
              <a:cs typeface="Arial" charset="0"/>
            </a:endParaRPr>
          </a:p>
        </p:txBody>
      </p:sp>
      <p:sp>
        <p:nvSpPr>
          <p:cNvPr id="5145" name="Rectangle 3"/>
          <p:cNvSpPr>
            <a:spLocks noGrp="1" noChangeArrowheads="1"/>
          </p:cNvSpPr>
          <p:nvPr>
            <p:ph type="body" idx="1"/>
          </p:nvPr>
        </p:nvSpPr>
        <p:spPr bwMode="gray">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gray">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Arial" charset="0"/>
                <a:cs typeface="Arial" charset="0"/>
              </a:defRPr>
            </a:lvl1pPr>
          </a:lstStyle>
          <a:p>
            <a:pPr>
              <a:defRPr/>
            </a:pPr>
            <a:fld id="{B8BE1358-9D0E-40EA-AF07-6E65FE784A17}" type="datetime1">
              <a:rPr lang="en-GB" smtClean="0"/>
              <a:t>21/05/2022</a:t>
            </a:fld>
            <a:endParaRPr lang="en-US"/>
          </a:p>
        </p:txBody>
      </p:sp>
      <p:sp>
        <p:nvSpPr>
          <p:cNvPr id="1029" name="Rectangle 5"/>
          <p:cNvSpPr>
            <a:spLocks noGrp="1" noChangeArrowheads="1"/>
          </p:cNvSpPr>
          <p:nvPr>
            <p:ph type="ftr" sz="quarter" idx="3"/>
          </p:nvPr>
        </p:nvSpPr>
        <p:spPr bwMode="gray">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Arial" charset="0"/>
                <a:cs typeface="Arial" charset="0"/>
              </a:defRPr>
            </a:lvl1pPr>
          </a:lstStyle>
          <a:p>
            <a:pPr>
              <a:defRPr/>
            </a:pPr>
            <a:endParaRPr lang="en-US"/>
          </a:p>
        </p:txBody>
      </p:sp>
      <p:sp>
        <p:nvSpPr>
          <p:cNvPr id="1030" name="Rectangle 6"/>
          <p:cNvSpPr>
            <a:spLocks noGrp="1" noChangeArrowheads="1"/>
          </p:cNvSpPr>
          <p:nvPr>
            <p:ph type="sldNum" sz="quarter" idx="4"/>
          </p:nvPr>
        </p:nvSpPr>
        <p:spPr bwMode="gray">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Arial" charset="0"/>
                <a:cs typeface="Arial" charset="0"/>
              </a:defRPr>
            </a:lvl1pPr>
          </a:lstStyle>
          <a:p>
            <a:pPr>
              <a:defRPr/>
            </a:pPr>
            <a:fld id="{A140CA3F-2D9B-454D-97B9-9A22F52F0C0F}" type="slidenum">
              <a:rPr lang="en-US"/>
              <a:pPr>
                <a:defRPr/>
              </a:pPr>
              <a:t>‹#›</a:t>
            </a:fld>
            <a:endParaRPr lang="en-US"/>
          </a:p>
        </p:txBody>
      </p:sp>
      <p:sp>
        <p:nvSpPr>
          <p:cNvPr id="1060" name="Freeform 36"/>
          <p:cNvSpPr>
            <a:spLocks/>
          </p:cNvSpPr>
          <p:nvPr/>
        </p:nvSpPr>
        <p:spPr bwMode="gray">
          <a:xfrm>
            <a:off x="4041775" y="0"/>
            <a:ext cx="5105400" cy="739775"/>
          </a:xfrm>
          <a:custGeom>
            <a:avLst/>
            <a:gdLst/>
            <a:ahLst/>
            <a:cxnLst>
              <a:cxn ang="0">
                <a:pos x="3130" y="453"/>
              </a:cxn>
              <a:cxn ang="0">
                <a:pos x="3130" y="0"/>
              </a:cxn>
              <a:cxn ang="0">
                <a:pos x="0" y="0"/>
              </a:cxn>
              <a:cxn ang="0">
                <a:pos x="3130" y="453"/>
              </a:cxn>
            </a:cxnLst>
            <a:rect l="0" t="0" r="r" b="b"/>
            <a:pathLst>
              <a:path w="3130" h="453">
                <a:moveTo>
                  <a:pt x="3130" y="453"/>
                </a:moveTo>
                <a:cubicBezTo>
                  <a:pt x="3130" y="226"/>
                  <a:pt x="3130" y="0"/>
                  <a:pt x="3130" y="0"/>
                </a:cubicBezTo>
                <a:lnTo>
                  <a:pt x="0" y="0"/>
                </a:lnTo>
                <a:cubicBezTo>
                  <a:pt x="0" y="0"/>
                  <a:pt x="1298" y="389"/>
                  <a:pt x="3130" y="453"/>
                </a:cubicBezTo>
                <a:close/>
              </a:path>
            </a:pathLst>
          </a:custGeom>
          <a:solidFill>
            <a:schemeClr val="hlink"/>
          </a:solidFill>
          <a:ln w="9525">
            <a:noFill/>
            <a:round/>
            <a:headEnd/>
            <a:tailEnd/>
          </a:ln>
          <a:effectLst/>
        </p:spPr>
        <p:txBody>
          <a:bodyPr/>
          <a:lstStyle/>
          <a:p>
            <a:pPr>
              <a:defRPr/>
            </a:pPr>
            <a:endParaRPr lang="en-US">
              <a:latin typeface="Arial" charset="0"/>
              <a:cs typeface="Arial" charset="0"/>
            </a:endParaRPr>
          </a:p>
        </p:txBody>
      </p:sp>
      <p:sp>
        <p:nvSpPr>
          <p:cNvPr id="1026" name="Rectangle 2"/>
          <p:cNvSpPr>
            <a:spLocks noGrp="1" noChangeArrowheads="1"/>
          </p:cNvSpPr>
          <p:nvPr>
            <p:ph type="title"/>
          </p:nvPr>
        </p:nvSpPr>
        <p:spPr bwMode="black">
          <a:xfrm>
            <a:off x="457200" y="325438"/>
            <a:ext cx="8229600" cy="927100"/>
          </a:xfrm>
          <a:prstGeom prst="rect">
            <a:avLst/>
          </a:prstGeom>
          <a:noFill/>
          <a:ln w="9525">
            <a:noFill/>
            <a:miter lim="800000"/>
            <a:headEnd/>
            <a:tailEnd/>
          </a:ln>
          <a:effectLst>
            <a:outerShdw dist="35921" dir="2700000" algn="ctr" rotWithShape="0">
              <a:srgbClr val="FFFFFF"/>
            </a:outerShdw>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pic>
        <p:nvPicPr>
          <p:cNvPr id="5151" name="Picture 37" descr="water"/>
          <p:cNvPicPr>
            <a:picLocks noChangeAspect="1" noChangeArrowheads="1"/>
          </p:cNvPicPr>
          <p:nvPr/>
        </p:nvPicPr>
        <p:blipFill>
          <a:blip r:embed="rId16"/>
          <a:srcRect l="22409" t="16374" b="27486"/>
          <a:stretch>
            <a:fillRect/>
          </a:stretch>
        </p:blipFill>
        <p:spPr bwMode="gray">
          <a:xfrm rot="786797">
            <a:off x="6629400" y="-381000"/>
            <a:ext cx="2417763" cy="1995488"/>
          </a:xfrm>
          <a:prstGeom prst="rect">
            <a:avLst/>
          </a:prstGeom>
          <a:noFill/>
          <a:ln w="9525">
            <a:noFill/>
            <a:miter lim="800000"/>
            <a:headEnd/>
            <a:tailEnd/>
          </a:ln>
        </p:spPr>
      </p:pic>
      <p:pic>
        <p:nvPicPr>
          <p:cNvPr id="5152" name="Picture 38" descr="3"/>
          <p:cNvPicPr>
            <a:picLocks noChangeAspect="1" noChangeArrowheads="1"/>
          </p:cNvPicPr>
          <p:nvPr/>
        </p:nvPicPr>
        <p:blipFill>
          <a:blip r:embed="rId17"/>
          <a:srcRect/>
          <a:stretch>
            <a:fillRect/>
          </a:stretch>
        </p:blipFill>
        <p:spPr bwMode="gray">
          <a:xfrm rot="20740733" flipH="1">
            <a:off x="49213" y="5726113"/>
            <a:ext cx="1223962" cy="1371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Lst>
  <p:hf sldNum="0" hdr="0" ftr="0" dt="0"/>
  <p:txStyles>
    <p:titleStyle>
      <a:lvl1pPr algn="l" rtl="0" fontAlgn="base">
        <a:spcBef>
          <a:spcPct val="0"/>
        </a:spcBef>
        <a:spcAft>
          <a:spcPct val="0"/>
        </a:spcAft>
        <a:defRPr sz="4400" b="1">
          <a:solidFill>
            <a:schemeClr val="tx2"/>
          </a:solidFill>
          <a:latin typeface="+mj-lt"/>
          <a:ea typeface="+mj-ea"/>
          <a:cs typeface="+mj-cs"/>
        </a:defRPr>
      </a:lvl1pPr>
      <a:lvl2pPr algn="l" rtl="0" fontAlgn="base">
        <a:spcBef>
          <a:spcPct val="0"/>
        </a:spcBef>
        <a:spcAft>
          <a:spcPct val="0"/>
        </a:spcAft>
        <a:defRPr sz="4400" b="1">
          <a:solidFill>
            <a:schemeClr val="tx2"/>
          </a:solidFill>
          <a:latin typeface="Arial" charset="0"/>
        </a:defRPr>
      </a:lvl2pPr>
      <a:lvl3pPr algn="l" rtl="0" fontAlgn="base">
        <a:spcBef>
          <a:spcPct val="0"/>
        </a:spcBef>
        <a:spcAft>
          <a:spcPct val="0"/>
        </a:spcAft>
        <a:defRPr sz="4400" b="1">
          <a:solidFill>
            <a:schemeClr val="tx2"/>
          </a:solidFill>
          <a:latin typeface="Arial" charset="0"/>
        </a:defRPr>
      </a:lvl3pPr>
      <a:lvl4pPr algn="l" rtl="0" fontAlgn="base">
        <a:spcBef>
          <a:spcPct val="0"/>
        </a:spcBef>
        <a:spcAft>
          <a:spcPct val="0"/>
        </a:spcAft>
        <a:defRPr sz="4400" b="1">
          <a:solidFill>
            <a:schemeClr val="tx2"/>
          </a:solidFill>
          <a:latin typeface="Arial" charset="0"/>
        </a:defRPr>
      </a:lvl4pPr>
      <a:lvl5pPr algn="l" rtl="0" fontAlgn="base">
        <a:spcBef>
          <a:spcPct val="0"/>
        </a:spcBef>
        <a:spcAft>
          <a:spcPct val="0"/>
        </a:spcAft>
        <a:defRPr sz="4400" b="1">
          <a:solidFill>
            <a:schemeClr val="tx2"/>
          </a:solidFill>
          <a:latin typeface="Arial" charset="0"/>
        </a:defRPr>
      </a:lvl5pPr>
      <a:lvl6pPr marL="457200" algn="l" rtl="0" eaLnBrk="1" fontAlgn="base" hangingPunct="1">
        <a:spcBef>
          <a:spcPct val="0"/>
        </a:spcBef>
        <a:spcAft>
          <a:spcPct val="0"/>
        </a:spcAft>
        <a:defRPr sz="4400" b="1">
          <a:solidFill>
            <a:schemeClr val="tx2"/>
          </a:solidFill>
          <a:latin typeface="Arial" charset="0"/>
        </a:defRPr>
      </a:lvl6pPr>
      <a:lvl7pPr marL="914400" algn="l" rtl="0" eaLnBrk="1" fontAlgn="base" hangingPunct="1">
        <a:spcBef>
          <a:spcPct val="0"/>
        </a:spcBef>
        <a:spcAft>
          <a:spcPct val="0"/>
        </a:spcAft>
        <a:defRPr sz="4400" b="1">
          <a:solidFill>
            <a:schemeClr val="tx2"/>
          </a:solidFill>
          <a:latin typeface="Arial" charset="0"/>
        </a:defRPr>
      </a:lvl7pPr>
      <a:lvl8pPr marL="1371600" algn="l" rtl="0" eaLnBrk="1" fontAlgn="base" hangingPunct="1">
        <a:spcBef>
          <a:spcPct val="0"/>
        </a:spcBef>
        <a:spcAft>
          <a:spcPct val="0"/>
        </a:spcAft>
        <a:defRPr sz="4400" b="1">
          <a:solidFill>
            <a:schemeClr val="tx2"/>
          </a:solidFill>
          <a:latin typeface="Arial" charset="0"/>
        </a:defRPr>
      </a:lvl8pPr>
      <a:lvl9pPr marL="1828800" algn="l" rtl="0" eaLnBrk="1" fontAlgn="base" hangingPunct="1">
        <a:spcBef>
          <a:spcPct val="0"/>
        </a:spcBef>
        <a:spcAft>
          <a:spcPct val="0"/>
        </a:spcAft>
        <a:defRPr sz="4400" b="1">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uonghtt@uit.edu.vn" TargetMode="External"/><Relationship Id="rId2" Type="http://schemas.openxmlformats.org/officeDocument/2006/relationships/hyperlink" Target="mailto:hh.thanhthuong@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hyperlink" Target="http://en.wikipedia.org/wiki/File:Honda_ASIMO_Walking_Stairs.JPG" TargetMode="External"/><Relationship Id="rId7" Type="http://schemas.openxmlformats.org/officeDocument/2006/relationships/hyperlink" Target="http://en.wikipedia.org/wiki/File:TOPIO_2.0.jpg" TargetMode="External"/><Relationship Id="rId12"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hyperlink" Target="http://en.wikipedia.org/wiki/TOSY" TargetMode="External"/><Relationship Id="rId5" Type="http://schemas.openxmlformats.org/officeDocument/2006/relationships/hyperlink" Target="http://en.wikipedia.org/wiki/ASIMO" TargetMode="External"/><Relationship Id="rId10" Type="http://schemas.openxmlformats.org/officeDocument/2006/relationships/hyperlink" Target="http://en.wikipedia.org/wiki/Ping-pong" TargetMode="External"/><Relationship Id="rId4" Type="http://schemas.openxmlformats.org/officeDocument/2006/relationships/image" Target="../media/image15.jpeg"/><Relationship Id="rId9" Type="http://schemas.openxmlformats.org/officeDocument/2006/relationships/hyperlink" Target="http://en.wikipedia.org/wiki/TOPIO"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ubtitle 2"/>
          <p:cNvSpPr>
            <a:spLocks noGrp="1"/>
          </p:cNvSpPr>
          <p:nvPr>
            <p:ph type="subTitle" idx="1"/>
          </p:nvPr>
        </p:nvSpPr>
        <p:spPr>
          <a:xfrm>
            <a:off x="333375" y="5084762"/>
            <a:ext cx="6400800" cy="1008533"/>
          </a:xfrm>
        </p:spPr>
        <p:txBody>
          <a:bodyPr/>
          <a:lstStyle/>
          <a:p>
            <a:pPr eaLnBrk="1" hangingPunct="1"/>
            <a:r>
              <a:rPr lang="en-US" dirty="0"/>
              <a:t>GV: HUỲNH THỊ THANH THƯƠNG</a:t>
            </a:r>
          </a:p>
          <a:p>
            <a:pPr eaLnBrk="1" hangingPunct="1"/>
            <a:r>
              <a:rPr lang="en-US" dirty="0"/>
              <a:t>Email: </a:t>
            </a:r>
            <a:r>
              <a:rPr lang="en-US" dirty="0">
                <a:hlinkClick r:id="rId2"/>
              </a:rPr>
              <a:t>hh.thanhthuong@gmail.com</a:t>
            </a:r>
            <a:endParaRPr lang="en-US" dirty="0"/>
          </a:p>
          <a:p>
            <a:pPr eaLnBrk="1" hangingPunct="1"/>
            <a:r>
              <a:rPr lang="en-US" dirty="0">
                <a:hlinkClick r:id="rId3"/>
              </a:rPr>
              <a:t>thuonghtt@uit.edu.vn</a:t>
            </a:r>
            <a:endParaRPr lang="en-US" dirty="0"/>
          </a:p>
          <a:p>
            <a:pPr eaLnBrk="1" hangingPunct="1"/>
            <a:endParaRPr lang="en-US" dirty="0"/>
          </a:p>
          <a:p>
            <a:pPr eaLnBrk="1" hangingPunct="1"/>
            <a:endParaRPr lang="en-US" dirty="0"/>
          </a:p>
          <a:p>
            <a:pPr eaLnBrk="1" hangingPunct="1"/>
            <a:endParaRPr lang="en-US" dirty="0"/>
          </a:p>
        </p:txBody>
      </p:sp>
      <p:sp>
        <p:nvSpPr>
          <p:cNvPr id="20482" name="Title 1"/>
          <p:cNvSpPr>
            <a:spLocks noGrp="1"/>
          </p:cNvSpPr>
          <p:nvPr>
            <p:ph type="ctrTitle"/>
          </p:nvPr>
        </p:nvSpPr>
        <p:spPr/>
        <p:txBody>
          <a:bodyPr/>
          <a:lstStyle/>
          <a:p>
            <a:pPr eaLnBrk="1" hangingPunct="1"/>
            <a:r>
              <a:rPr lang="en-US" dirty="0"/>
              <a:t>CHƯƠNG 1</a:t>
            </a:r>
            <a:br>
              <a:rPr lang="en-US" dirty="0"/>
            </a:br>
            <a:r>
              <a:rPr lang="en-US" dirty="0"/>
              <a:t>TỔNG QUAN VỀ TRÍ TUỆ NHÂN TẠO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flipV="1">
            <a:off x="2368550" y="2057400"/>
            <a:ext cx="381000" cy="381000"/>
          </a:xfrm>
          <a:prstGeom prst="line">
            <a:avLst/>
          </a:prstGeom>
          <a:noFill/>
          <a:ln w="12700" cap="rnd">
            <a:solidFill>
              <a:srgbClr val="003366"/>
            </a:solidFill>
            <a:prstDash val="sysDot"/>
            <a:round/>
            <a:headEnd/>
            <a:tailEnd/>
          </a:ln>
          <a:effectLst/>
        </p:spPr>
        <p:txBody>
          <a:bodyPr/>
          <a:lstStyle/>
          <a:p>
            <a:endParaRPr lang="en-US"/>
          </a:p>
        </p:txBody>
      </p:sp>
      <p:sp>
        <p:nvSpPr>
          <p:cNvPr id="7171" name="Line 3"/>
          <p:cNvSpPr>
            <a:spLocks noChangeShapeType="1"/>
          </p:cNvSpPr>
          <p:nvPr/>
        </p:nvSpPr>
        <p:spPr bwMode="auto">
          <a:xfrm>
            <a:off x="2292350" y="4724400"/>
            <a:ext cx="457200" cy="304800"/>
          </a:xfrm>
          <a:prstGeom prst="line">
            <a:avLst/>
          </a:prstGeom>
          <a:noFill/>
          <a:ln w="12700" cap="rnd">
            <a:solidFill>
              <a:srgbClr val="003366"/>
            </a:solidFill>
            <a:prstDash val="sysDot"/>
            <a:round/>
            <a:headEnd/>
            <a:tailEnd/>
          </a:ln>
          <a:effectLst/>
        </p:spPr>
        <p:txBody>
          <a:bodyPr/>
          <a:lstStyle/>
          <a:p>
            <a:endParaRPr lang="en-US"/>
          </a:p>
        </p:txBody>
      </p:sp>
      <p:sp>
        <p:nvSpPr>
          <p:cNvPr id="7172" name="Line 4"/>
          <p:cNvSpPr>
            <a:spLocks noChangeShapeType="1"/>
          </p:cNvSpPr>
          <p:nvPr/>
        </p:nvSpPr>
        <p:spPr bwMode="auto">
          <a:xfrm>
            <a:off x="2749550" y="2057400"/>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7173" name="Line 5"/>
          <p:cNvSpPr>
            <a:spLocks noChangeShapeType="1"/>
          </p:cNvSpPr>
          <p:nvPr/>
        </p:nvSpPr>
        <p:spPr bwMode="auto">
          <a:xfrm>
            <a:off x="2749550" y="5029200"/>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7174" name="Line 6"/>
          <p:cNvSpPr>
            <a:spLocks noChangeShapeType="1"/>
          </p:cNvSpPr>
          <p:nvPr/>
        </p:nvSpPr>
        <p:spPr bwMode="auto">
          <a:xfrm flipV="1">
            <a:off x="2673350" y="2819400"/>
            <a:ext cx="685800" cy="0"/>
          </a:xfrm>
          <a:prstGeom prst="line">
            <a:avLst/>
          </a:prstGeom>
          <a:noFill/>
          <a:ln w="12700" cap="rnd">
            <a:solidFill>
              <a:srgbClr val="003366"/>
            </a:solidFill>
            <a:prstDash val="sysDot"/>
            <a:round/>
            <a:headEnd/>
            <a:tailEnd/>
          </a:ln>
          <a:effectLst/>
        </p:spPr>
        <p:txBody>
          <a:bodyPr/>
          <a:lstStyle/>
          <a:p>
            <a:endParaRPr lang="en-US"/>
          </a:p>
        </p:txBody>
      </p:sp>
      <p:sp>
        <p:nvSpPr>
          <p:cNvPr id="7175" name="Line 7"/>
          <p:cNvSpPr>
            <a:spLocks noChangeShapeType="1"/>
          </p:cNvSpPr>
          <p:nvPr/>
        </p:nvSpPr>
        <p:spPr bwMode="auto">
          <a:xfrm>
            <a:off x="2749550" y="3581400"/>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7176" name="Line 8"/>
          <p:cNvSpPr>
            <a:spLocks noChangeShapeType="1"/>
          </p:cNvSpPr>
          <p:nvPr/>
        </p:nvSpPr>
        <p:spPr bwMode="auto">
          <a:xfrm flipV="1">
            <a:off x="2673350" y="4267200"/>
            <a:ext cx="685800" cy="0"/>
          </a:xfrm>
          <a:prstGeom prst="line">
            <a:avLst/>
          </a:prstGeom>
          <a:noFill/>
          <a:ln w="12700" cap="rnd">
            <a:solidFill>
              <a:srgbClr val="003366"/>
            </a:solidFill>
            <a:prstDash val="sysDot"/>
            <a:round/>
            <a:headEnd/>
            <a:tailEnd/>
          </a:ln>
          <a:effectLst/>
        </p:spPr>
        <p:txBody>
          <a:bodyPr/>
          <a:lstStyle/>
          <a:p>
            <a:endParaRPr lang="en-US"/>
          </a:p>
        </p:txBody>
      </p:sp>
      <p:sp>
        <p:nvSpPr>
          <p:cNvPr id="7177" name="Rectangle 9"/>
          <p:cNvSpPr>
            <a:spLocks noGrp="1" noChangeArrowheads="1"/>
          </p:cNvSpPr>
          <p:nvPr>
            <p:ph type="title"/>
          </p:nvPr>
        </p:nvSpPr>
        <p:spPr/>
        <p:txBody>
          <a:bodyPr/>
          <a:lstStyle/>
          <a:p>
            <a:r>
              <a:rPr lang="en-US" sz="4300" dirty="0" err="1"/>
              <a:t>Nội</a:t>
            </a:r>
            <a:r>
              <a:rPr lang="en-US" sz="4300" dirty="0"/>
              <a:t> dung</a:t>
            </a:r>
          </a:p>
        </p:txBody>
      </p:sp>
      <p:grpSp>
        <p:nvGrpSpPr>
          <p:cNvPr id="2" name="Group 10"/>
          <p:cNvGrpSpPr>
            <a:grpSpLocks/>
          </p:cNvGrpSpPr>
          <p:nvPr/>
        </p:nvGrpSpPr>
        <p:grpSpPr bwMode="auto">
          <a:xfrm>
            <a:off x="304800" y="22050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endParaRPr lang="en-US"/>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endParaRPr lang="en-US"/>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endParaRPr lang="en-US"/>
            </a:p>
          </p:txBody>
        </p:sp>
        <p:sp>
          <p:nvSpPr>
            <p:cNvPr id="7182" name="Oval 14"/>
            <p:cNvSpPr>
              <a:spLocks noChangeArrowheads="1"/>
            </p:cNvSpPr>
            <p:nvPr/>
          </p:nvSpPr>
          <p:spPr bwMode="gray">
            <a:xfrm>
              <a:off x="323" y="1602"/>
              <a:ext cx="1317" cy="1316"/>
            </a:xfrm>
            <a:prstGeom prst="ellipse">
              <a:avLst/>
            </a:prstGeom>
            <a:solidFill>
              <a:srgbClr val="000000"/>
            </a:solidFill>
            <a:ln w="38100" algn="ctr">
              <a:noFill/>
              <a:round/>
              <a:headEnd/>
              <a:tailEnd/>
            </a:ln>
            <a:effectLst/>
          </p:spPr>
          <p:txBody>
            <a:bodyPr anchor="ctr">
              <a:spAutoFit/>
            </a:bodyPr>
            <a:lstStyle/>
            <a:p>
              <a:endParaRPr lang="en-US"/>
            </a:p>
          </p:txBody>
        </p:sp>
        <p:sp>
          <p:nvSpPr>
            <p:cNvPr id="7183" name="Oval 15"/>
            <p:cNvSpPr>
              <a:spLocks noChangeArrowheads="1"/>
            </p:cNvSpPr>
            <p:nvPr/>
          </p:nvSpPr>
          <p:spPr bwMode="gray">
            <a:xfrm>
              <a:off x="344" y="1623"/>
              <a:ext cx="1276" cy="1277"/>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7184" name="Oval 16"/>
            <p:cNvSpPr>
              <a:spLocks noChangeArrowheads="1"/>
            </p:cNvSpPr>
            <p:nvPr/>
          </p:nvSpPr>
          <p:spPr bwMode="gray">
            <a:xfrm>
              <a:off x="360" y="1630"/>
              <a:ext cx="1246" cy="1246"/>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7185" name="Oval 17"/>
            <p:cNvSpPr>
              <a:spLocks noChangeArrowheads="1"/>
            </p:cNvSpPr>
            <p:nvPr/>
          </p:nvSpPr>
          <p:spPr bwMode="gray">
            <a:xfrm>
              <a:off x="374" y="1642"/>
              <a:ext cx="1184" cy="1164"/>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7186" name="Oval 18"/>
            <p:cNvSpPr>
              <a:spLocks noChangeArrowheads="1"/>
            </p:cNvSpPr>
            <p:nvPr/>
          </p:nvSpPr>
          <p:spPr bwMode="gray">
            <a:xfrm>
              <a:off x="443" y="1675"/>
              <a:ext cx="1053" cy="945"/>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pic>
          <p:nvPicPr>
            <p:cNvPr id="7187" name="Picture 19" descr="mark"/>
            <p:cNvPicPr>
              <a:picLocks noChangeAspect="1" noChangeArrowheads="1"/>
            </p:cNvPicPr>
            <p:nvPr/>
          </p:nvPicPr>
          <p:blipFill>
            <a:blip r:embed="rId2"/>
            <a:srcRect/>
            <a:stretch>
              <a:fillRect/>
            </a:stretch>
          </p:blipFill>
          <p:spPr bwMode="auto">
            <a:xfrm>
              <a:off x="452" y="1773"/>
              <a:ext cx="1011" cy="1003"/>
            </a:xfrm>
            <a:prstGeom prst="rect">
              <a:avLst/>
            </a:prstGeom>
            <a:noFill/>
          </p:spPr>
        </p:pic>
      </p:grpSp>
      <p:sp>
        <p:nvSpPr>
          <p:cNvPr id="7188" name="AutoShape 20"/>
          <p:cNvSpPr>
            <a:spLocks noChangeArrowheads="1"/>
          </p:cNvSpPr>
          <p:nvPr/>
        </p:nvSpPr>
        <p:spPr bwMode="gray">
          <a:xfrm>
            <a:off x="3352800" y="1828800"/>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it-IT" dirty="0"/>
              <a:t>   </a:t>
            </a:r>
          </a:p>
          <a:p>
            <a:r>
              <a:rPr lang="it-IT" dirty="0"/>
              <a:t>    Trí tuệ nhân tạo (AI)?</a:t>
            </a:r>
          </a:p>
          <a:p>
            <a:endParaRPr lang="en-US" dirty="0"/>
          </a:p>
        </p:txBody>
      </p:sp>
      <p:sp>
        <p:nvSpPr>
          <p:cNvPr id="7190" name="AutoShape 22"/>
          <p:cNvSpPr>
            <a:spLocks noChangeArrowheads="1"/>
          </p:cNvSpPr>
          <p:nvPr/>
        </p:nvSpPr>
        <p:spPr bwMode="gray">
          <a:xfrm>
            <a:off x="3352800" y="2578100"/>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dirty="0"/>
              <a:t>    </a:t>
            </a:r>
            <a:r>
              <a:rPr lang="en-US" dirty="0" err="1"/>
              <a:t>Mục</a:t>
            </a:r>
            <a:r>
              <a:rPr lang="en-US" dirty="0"/>
              <a:t> </a:t>
            </a:r>
            <a:r>
              <a:rPr lang="en-US" dirty="0" err="1"/>
              <a:t>tiêu</a:t>
            </a:r>
            <a:r>
              <a:rPr lang="en-US" dirty="0"/>
              <a:t> </a:t>
            </a:r>
            <a:r>
              <a:rPr lang="en-US" dirty="0" err="1"/>
              <a:t>nghiên</a:t>
            </a:r>
            <a:r>
              <a:rPr lang="en-US" dirty="0"/>
              <a:t> </a:t>
            </a:r>
            <a:r>
              <a:rPr lang="en-US" dirty="0" err="1"/>
              <a:t>cứu</a:t>
            </a:r>
            <a:endParaRPr lang="en-US" dirty="0"/>
          </a:p>
        </p:txBody>
      </p:sp>
      <p:sp>
        <p:nvSpPr>
          <p:cNvPr id="7192" name="AutoShape 24"/>
          <p:cNvSpPr>
            <a:spLocks noChangeArrowheads="1"/>
          </p:cNvSpPr>
          <p:nvPr/>
        </p:nvSpPr>
        <p:spPr bwMode="gray">
          <a:xfrm>
            <a:off x="3349625" y="3321050"/>
            <a:ext cx="5105400" cy="488950"/>
          </a:xfrm>
          <a:prstGeom prst="roundRect">
            <a:avLst>
              <a:gd name="adj" fmla="val 50000"/>
            </a:avLst>
          </a:prstGeom>
          <a:gradFill>
            <a:gsLst>
              <a:gs pos="0">
                <a:srgbClr val="F8F8F8"/>
              </a:gs>
              <a:gs pos="100000">
                <a:srgbClr val="F8F8F8">
                  <a:gamma/>
                  <a:shade val="76471"/>
                  <a:invGamma/>
                </a:srgbClr>
              </a:gs>
            </a:gsLst>
            <a:lin ang="5400000" scaled="1"/>
          </a:gradFill>
          <a:ln w="19050">
            <a:solidFill>
              <a:srgbClr val="C0C0C0"/>
            </a:solidFill>
            <a:round/>
            <a:headEnd/>
            <a:tailEnd/>
          </a:ln>
          <a:effectLst>
            <a:outerShdw blurRad="76200" dist="12700" dir="2700000" sy="-23000" kx="-800400" algn="bl" rotWithShape="0">
              <a:srgbClr val="FF0000">
                <a:alpha val="20000"/>
              </a:srgbClr>
            </a:outerShdw>
          </a:effectLst>
        </p:spPr>
        <p:txBody>
          <a:bodyPr wrap="none" anchor="ctr"/>
          <a:lstStyle/>
          <a:p>
            <a:r>
              <a:rPr lang="en-US" dirty="0"/>
              <a:t>    </a:t>
            </a:r>
            <a:r>
              <a:rPr lang="en-US" dirty="0" err="1"/>
              <a:t>Nền</a:t>
            </a:r>
            <a:r>
              <a:rPr lang="en-US" dirty="0"/>
              <a:t> </a:t>
            </a:r>
            <a:r>
              <a:rPr lang="en-US" dirty="0" err="1"/>
              <a:t>tảng</a:t>
            </a:r>
            <a:r>
              <a:rPr lang="en-US" dirty="0"/>
              <a:t> </a:t>
            </a:r>
            <a:r>
              <a:rPr lang="en-US" dirty="0" err="1"/>
              <a:t>của</a:t>
            </a:r>
            <a:r>
              <a:rPr lang="en-US" dirty="0"/>
              <a:t> AI</a:t>
            </a:r>
          </a:p>
        </p:txBody>
      </p:sp>
      <p:sp>
        <p:nvSpPr>
          <p:cNvPr id="7194" name="Oval 26"/>
          <p:cNvSpPr>
            <a:spLocks noChangeArrowheads="1"/>
          </p:cNvSpPr>
          <p:nvPr/>
        </p:nvSpPr>
        <p:spPr bwMode="gray">
          <a:xfrm>
            <a:off x="3263900" y="1946275"/>
            <a:ext cx="228600" cy="228600"/>
          </a:xfrm>
          <a:prstGeom prst="ellipse">
            <a:avLst/>
          </a:prstGeom>
          <a:gradFill rotWithShape="1">
            <a:gsLst>
              <a:gs pos="0">
                <a:srgbClr val="E96E29"/>
              </a:gs>
              <a:gs pos="100000">
                <a:srgbClr val="E96E29">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7195" name="Oval 27"/>
          <p:cNvSpPr>
            <a:spLocks noChangeArrowheads="1"/>
          </p:cNvSpPr>
          <p:nvPr/>
        </p:nvSpPr>
        <p:spPr bwMode="gray">
          <a:xfrm>
            <a:off x="3276600" y="2711450"/>
            <a:ext cx="228600" cy="228600"/>
          </a:xfrm>
          <a:prstGeom prst="ellipse">
            <a:avLst/>
          </a:prstGeom>
          <a:gradFill rotWithShape="1">
            <a:gsLst>
              <a:gs pos="0">
                <a:srgbClr val="DCDC48"/>
              </a:gs>
              <a:gs pos="100000">
                <a:srgbClr val="DCDC48">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7196" name="Oval 28"/>
          <p:cNvSpPr>
            <a:spLocks noChangeArrowheads="1"/>
          </p:cNvSpPr>
          <p:nvPr/>
        </p:nvSpPr>
        <p:spPr bwMode="gray">
          <a:xfrm>
            <a:off x="3276600" y="34671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7197" name="AutoShape 29"/>
          <p:cNvSpPr>
            <a:spLocks noChangeArrowheads="1"/>
          </p:cNvSpPr>
          <p:nvPr/>
        </p:nvSpPr>
        <p:spPr bwMode="gray">
          <a:xfrm>
            <a:off x="3352800" y="4052888"/>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pPr eaLnBrk="0" hangingPunct="0"/>
            <a:r>
              <a:rPr lang="en-US" dirty="0"/>
              <a:t>   </a:t>
            </a:r>
          </a:p>
          <a:p>
            <a:pPr eaLnBrk="0" hangingPunct="0"/>
            <a:r>
              <a:rPr lang="en-US" dirty="0"/>
              <a:t>    </a:t>
            </a:r>
            <a:r>
              <a:rPr lang="en-US" dirty="0" err="1"/>
              <a:t>Lịch</a:t>
            </a:r>
            <a:r>
              <a:rPr lang="en-US" dirty="0"/>
              <a:t> </a:t>
            </a:r>
            <a:r>
              <a:rPr lang="en-US" dirty="0" err="1"/>
              <a:t>sử</a:t>
            </a:r>
            <a:r>
              <a:rPr lang="en-US" dirty="0"/>
              <a:t> </a:t>
            </a:r>
            <a:r>
              <a:rPr lang="en-US" dirty="0" err="1"/>
              <a:t>của</a:t>
            </a:r>
            <a:r>
              <a:rPr lang="en-US" dirty="0"/>
              <a:t> AI</a:t>
            </a:r>
          </a:p>
          <a:p>
            <a:pPr eaLnBrk="0" hangingPunct="0"/>
            <a:endParaRPr lang="vi-VN" dirty="0"/>
          </a:p>
        </p:txBody>
      </p:sp>
      <p:sp>
        <p:nvSpPr>
          <p:cNvPr id="7199" name="Oval 31"/>
          <p:cNvSpPr>
            <a:spLocks noChangeArrowheads="1"/>
          </p:cNvSpPr>
          <p:nvPr/>
        </p:nvSpPr>
        <p:spPr bwMode="gray">
          <a:xfrm>
            <a:off x="3263900" y="4191000"/>
            <a:ext cx="228600" cy="228600"/>
          </a:xfrm>
          <a:prstGeom prst="ellipse">
            <a:avLst/>
          </a:prstGeom>
          <a:gradFill rotWithShape="1">
            <a:gsLst>
              <a:gs pos="0">
                <a:srgbClr val="E96E29"/>
              </a:gs>
              <a:gs pos="100000">
                <a:srgbClr val="E96E29">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7200" name="AutoShape 32"/>
          <p:cNvSpPr>
            <a:spLocks noChangeArrowheads="1"/>
          </p:cNvSpPr>
          <p:nvPr/>
        </p:nvSpPr>
        <p:spPr bwMode="gray">
          <a:xfrm>
            <a:off x="3352800" y="4841875"/>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dirty="0"/>
              <a:t>   </a:t>
            </a:r>
          </a:p>
          <a:p>
            <a:r>
              <a:rPr lang="en-US" dirty="0"/>
              <a:t>    </a:t>
            </a:r>
            <a:r>
              <a:rPr lang="en-US" dirty="0" err="1"/>
              <a:t>Một</a:t>
            </a:r>
            <a:r>
              <a:rPr lang="en-US" dirty="0"/>
              <a:t> </a:t>
            </a:r>
            <a:r>
              <a:rPr lang="en-US" dirty="0" err="1"/>
              <a:t>số</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ứng</a:t>
            </a:r>
            <a:r>
              <a:rPr lang="en-US" dirty="0"/>
              <a:t> </a:t>
            </a:r>
            <a:r>
              <a:rPr lang="en-US" dirty="0" err="1"/>
              <a:t>dụng</a:t>
            </a:r>
            <a:endParaRPr lang="en-US" dirty="0"/>
          </a:p>
          <a:p>
            <a:endParaRPr lang="vi-VN" dirty="0"/>
          </a:p>
        </p:txBody>
      </p:sp>
      <p:sp>
        <p:nvSpPr>
          <p:cNvPr id="7202" name="Oval 34"/>
          <p:cNvSpPr>
            <a:spLocks noChangeArrowheads="1"/>
          </p:cNvSpPr>
          <p:nvPr/>
        </p:nvSpPr>
        <p:spPr bwMode="gray">
          <a:xfrm>
            <a:off x="3276600" y="4975225"/>
            <a:ext cx="228600" cy="228600"/>
          </a:xfrm>
          <a:prstGeom prst="ellipse">
            <a:avLst/>
          </a:prstGeom>
          <a:gradFill rotWithShape="1">
            <a:gsLst>
              <a:gs pos="0">
                <a:srgbClr val="DCDC48"/>
              </a:gs>
              <a:gs pos="100000">
                <a:srgbClr val="DCDC48">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Tree>
    <p:extLst>
      <p:ext uri="{BB962C8B-B14F-4D97-AF65-F5344CB8AC3E}">
        <p14:creationId xmlns:p14="http://schemas.microsoft.com/office/powerpoint/2010/main" val="394678903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bài</a:t>
            </a:r>
            <a:r>
              <a:rPr lang="en-US" dirty="0"/>
              <a:t> </a:t>
            </a:r>
            <a:r>
              <a:rPr lang="en-US" dirty="0" err="1"/>
              <a:t>học</a:t>
            </a:r>
            <a:endParaRPr lang="en-US" dirty="0"/>
          </a:p>
        </p:txBody>
      </p:sp>
      <p:sp>
        <p:nvSpPr>
          <p:cNvPr id="3" name="Content Placeholder 2"/>
          <p:cNvSpPr>
            <a:spLocks noGrp="1"/>
          </p:cNvSpPr>
          <p:nvPr>
            <p:ph idx="1"/>
          </p:nvPr>
        </p:nvSpPr>
        <p:spPr/>
        <p:txBody>
          <a:bodyPr/>
          <a:lstStyle/>
          <a:p>
            <a:r>
              <a:rPr lang="en-US" dirty="0" err="1"/>
              <a:t>Hiểu</a:t>
            </a:r>
            <a:r>
              <a:rPr lang="en-US" dirty="0"/>
              <a:t> </a:t>
            </a:r>
            <a:r>
              <a:rPr lang="en-US" dirty="0" err="1"/>
              <a:t>được</a:t>
            </a:r>
            <a:r>
              <a:rPr lang="en-US" dirty="0"/>
              <a:t> </a:t>
            </a:r>
            <a:r>
              <a:rPr lang="en-US" dirty="0" err="1"/>
              <a:t>khái</a:t>
            </a:r>
            <a:r>
              <a:rPr lang="en-US" dirty="0"/>
              <a:t> </a:t>
            </a:r>
            <a:r>
              <a:rPr lang="en-US" dirty="0" err="1"/>
              <a:t>niệm</a:t>
            </a:r>
            <a:r>
              <a:rPr lang="en-US" dirty="0"/>
              <a:t> </a:t>
            </a:r>
            <a:r>
              <a:rPr lang="en-US" dirty="0" err="1"/>
              <a:t>về</a:t>
            </a:r>
            <a:r>
              <a:rPr lang="en-US" dirty="0"/>
              <a:t> AI </a:t>
            </a:r>
          </a:p>
          <a:p>
            <a:r>
              <a:rPr lang="en-US" dirty="0" err="1"/>
              <a:t>Biết</a:t>
            </a:r>
            <a:r>
              <a:rPr lang="en-US" dirty="0"/>
              <a:t> </a:t>
            </a:r>
            <a:r>
              <a:rPr lang="en-US" dirty="0" err="1"/>
              <a:t>các</a:t>
            </a:r>
            <a:r>
              <a:rPr lang="en-US" dirty="0"/>
              <a:t> </a:t>
            </a:r>
            <a:r>
              <a:rPr lang="en-US" dirty="0" err="1"/>
              <a:t>lĩnh</a:t>
            </a:r>
            <a:r>
              <a:rPr lang="en-US" dirty="0"/>
              <a:t> </a:t>
            </a:r>
            <a:r>
              <a:rPr lang="en-US" dirty="0" err="1"/>
              <a:t>vực</a:t>
            </a:r>
            <a:r>
              <a:rPr lang="en-US" dirty="0"/>
              <a:t> </a:t>
            </a:r>
            <a:r>
              <a:rPr lang="en-US" dirty="0" err="1"/>
              <a:t>liên</a:t>
            </a:r>
            <a:r>
              <a:rPr lang="en-US" dirty="0"/>
              <a:t> </a:t>
            </a:r>
            <a:r>
              <a:rPr lang="en-US" dirty="0" err="1"/>
              <a:t>quan</a:t>
            </a:r>
            <a:r>
              <a:rPr lang="en-US" dirty="0"/>
              <a:t> </a:t>
            </a:r>
            <a:r>
              <a:rPr lang="en-US" dirty="0" err="1"/>
              <a:t>đến</a:t>
            </a:r>
            <a:r>
              <a:rPr lang="en-US" dirty="0"/>
              <a:t> AI.</a:t>
            </a:r>
          </a:p>
          <a:p>
            <a:r>
              <a:rPr lang="en-US" dirty="0" err="1"/>
              <a:t>Biết</a:t>
            </a:r>
            <a:r>
              <a:rPr lang="en-US" dirty="0"/>
              <a:t> </a:t>
            </a:r>
            <a:r>
              <a:rPr lang="en-US" dirty="0" err="1"/>
              <a:t>một</a:t>
            </a:r>
            <a:r>
              <a:rPr lang="en-US" dirty="0"/>
              <a:t> </a:t>
            </a:r>
            <a:r>
              <a:rPr lang="en-US" dirty="0" err="1"/>
              <a:t>số</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hiện</a:t>
            </a:r>
            <a:r>
              <a:rPr lang="en-US" dirty="0"/>
              <a:t> nay </a:t>
            </a:r>
            <a:r>
              <a:rPr lang="en-US" dirty="0" err="1"/>
              <a:t>về</a:t>
            </a:r>
            <a:r>
              <a:rPr lang="en-US" dirty="0"/>
              <a:t> AI.</a:t>
            </a:r>
          </a:p>
        </p:txBody>
      </p:sp>
    </p:spTree>
    <p:extLst>
      <p:ext uri="{BB962C8B-B14F-4D97-AF65-F5344CB8AC3E}">
        <p14:creationId xmlns:p14="http://schemas.microsoft.com/office/powerpoint/2010/main" val="3770943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1	2   4   5   7   8  10  11  …  …  … …</a:t>
            </a:r>
          </a:p>
          <a:p>
            <a:endParaRPr lang="en-US" dirty="0"/>
          </a:p>
          <a:p>
            <a:r>
              <a:rPr lang="en-US" dirty="0"/>
              <a:t>4 	  9 	29	127  … … … …</a:t>
            </a:r>
          </a:p>
          <a:p>
            <a:endParaRPr lang="en-US" dirty="0"/>
          </a:p>
          <a:p>
            <a:r>
              <a:rPr lang="en-US" dirty="0"/>
              <a:t>One     chair   hair               </a:t>
            </a:r>
          </a:p>
          <a:p>
            <a:pPr marL="0" indent="0">
              <a:buNone/>
            </a:pPr>
            <a:r>
              <a:rPr lang="en-US" dirty="0"/>
              <a:t>   Two  mean   man</a:t>
            </a:r>
          </a:p>
          <a:p>
            <a:pPr>
              <a:buNone/>
            </a:pPr>
            <a:r>
              <a:rPr lang="en-US" dirty="0"/>
              <a:t>    Three   mind    ….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3017194"/>
            <a:ext cx="2714228" cy="3012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675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arn(inHorizont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arn(in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err="1"/>
              <a:t>Trí</a:t>
            </a:r>
            <a:r>
              <a:rPr lang="en-US" sz="3600" dirty="0"/>
              <a:t> </a:t>
            </a:r>
            <a:r>
              <a:rPr lang="en-US" sz="3600" dirty="0" err="1"/>
              <a:t>tuệ</a:t>
            </a:r>
            <a:r>
              <a:rPr lang="en-US" sz="3600" dirty="0"/>
              <a:t> </a:t>
            </a:r>
            <a:r>
              <a:rPr lang="en-US" sz="3600" dirty="0" err="1"/>
              <a:t>nhân</a:t>
            </a:r>
            <a:r>
              <a:rPr lang="en-US" sz="3600" dirty="0"/>
              <a:t> </a:t>
            </a:r>
            <a:r>
              <a:rPr lang="en-US" sz="3600" dirty="0" err="1"/>
              <a:t>tạo</a:t>
            </a:r>
            <a:r>
              <a:rPr lang="en-US" sz="3600" dirty="0"/>
              <a:t> </a:t>
            </a:r>
            <a:br>
              <a:rPr lang="en-US" sz="3600" dirty="0"/>
            </a:br>
            <a:r>
              <a:rPr lang="en-US" sz="3600" dirty="0"/>
              <a:t>(Artificial Intelligence - AI)</a:t>
            </a:r>
          </a:p>
        </p:txBody>
      </p:sp>
      <p:sp>
        <p:nvSpPr>
          <p:cNvPr id="10" name="Content Placeholder 9"/>
          <p:cNvSpPr>
            <a:spLocks noGrp="1"/>
          </p:cNvSpPr>
          <p:nvPr>
            <p:ph sz="half" idx="1"/>
          </p:nvPr>
        </p:nvSpPr>
        <p:spPr>
          <a:xfrm>
            <a:off x="152400" y="2743200"/>
            <a:ext cx="4343400" cy="3505200"/>
          </a:xfrm>
        </p:spPr>
        <p:txBody>
          <a:bodyPr/>
          <a:lstStyle/>
          <a:p>
            <a:r>
              <a:rPr lang="en-US" sz="2400" dirty="0"/>
              <a:t>“</a:t>
            </a:r>
            <a:r>
              <a:rPr lang="en-US" sz="2400" dirty="0" err="1"/>
              <a:t>Khả</a:t>
            </a:r>
            <a:r>
              <a:rPr lang="en-US" sz="2400" dirty="0"/>
              <a:t> năng </a:t>
            </a:r>
            <a:r>
              <a:rPr lang="en-US" sz="2400" dirty="0" err="1"/>
              <a:t>học</a:t>
            </a:r>
            <a:r>
              <a:rPr lang="en-US" sz="2400" dirty="0"/>
              <a:t>, </a:t>
            </a:r>
            <a:r>
              <a:rPr lang="en-US" sz="2400" dirty="0" err="1"/>
              <a:t>hiểu</a:t>
            </a:r>
            <a:r>
              <a:rPr lang="en-US" sz="2400" dirty="0"/>
              <a:t>, </a:t>
            </a:r>
            <a:r>
              <a:rPr lang="en-US" sz="2400" dirty="0" err="1"/>
              <a:t>suy</a:t>
            </a:r>
            <a:r>
              <a:rPr lang="en-US" sz="2400" dirty="0"/>
              <a:t> </a:t>
            </a:r>
            <a:r>
              <a:rPr lang="en-US" sz="2400" dirty="0" err="1"/>
              <a:t>nghĩ</a:t>
            </a:r>
            <a:r>
              <a:rPr lang="en-US" sz="2400" dirty="0"/>
              <a:t>” (Oxford)</a:t>
            </a:r>
          </a:p>
          <a:p>
            <a:r>
              <a:rPr lang="en-US" sz="2400" dirty="0" err="1"/>
              <a:t>Thể</a:t>
            </a:r>
            <a:r>
              <a:rPr lang="en-US" sz="2400" dirty="0"/>
              <a:t> </a:t>
            </a:r>
            <a:r>
              <a:rPr lang="en-US" sz="2400" dirty="0" err="1"/>
              <a:t>hiện</a:t>
            </a:r>
            <a:r>
              <a:rPr lang="en-US" sz="2400" dirty="0"/>
              <a:t>:</a:t>
            </a:r>
          </a:p>
          <a:p>
            <a:pPr lvl="1"/>
            <a:r>
              <a:rPr lang="en-US" sz="2000" dirty="0"/>
              <a:t> </a:t>
            </a:r>
            <a:r>
              <a:rPr lang="en-US" sz="2000" dirty="0" err="1"/>
              <a:t>Thích</a:t>
            </a:r>
            <a:r>
              <a:rPr lang="en-US" sz="2000" dirty="0"/>
              <a:t> </a:t>
            </a:r>
            <a:r>
              <a:rPr lang="en-US" sz="2000" dirty="0" err="1"/>
              <a:t>nghi</a:t>
            </a:r>
            <a:r>
              <a:rPr lang="en-US" sz="2000" dirty="0"/>
              <a:t> </a:t>
            </a:r>
            <a:r>
              <a:rPr lang="en-US" sz="2000" dirty="0" err="1"/>
              <a:t>linh</a:t>
            </a:r>
            <a:r>
              <a:rPr lang="en-US" sz="2000" dirty="0"/>
              <a:t> </a:t>
            </a:r>
            <a:r>
              <a:rPr lang="en-US" sz="2000" dirty="0" err="1"/>
              <a:t>hoạt</a:t>
            </a:r>
            <a:r>
              <a:rPr lang="en-US" sz="2000" dirty="0"/>
              <a:t> </a:t>
            </a:r>
            <a:r>
              <a:rPr lang="en-US" sz="2000" dirty="0" err="1"/>
              <a:t>với</a:t>
            </a:r>
            <a:r>
              <a:rPr lang="en-US" sz="2000" dirty="0"/>
              <a:t> </a:t>
            </a:r>
            <a:r>
              <a:rPr lang="en-US" sz="2000" dirty="0" err="1"/>
              <a:t>môi</a:t>
            </a:r>
            <a:r>
              <a:rPr lang="en-US" sz="2000" dirty="0"/>
              <a:t> </a:t>
            </a:r>
            <a:r>
              <a:rPr lang="en-US" sz="2000" dirty="0" err="1"/>
              <a:t>trường</a:t>
            </a:r>
            <a:r>
              <a:rPr lang="en-US" sz="2000" dirty="0"/>
              <a:t>.</a:t>
            </a:r>
          </a:p>
          <a:p>
            <a:pPr lvl="1"/>
            <a:r>
              <a:rPr lang="en-US" sz="2000" dirty="0" err="1"/>
              <a:t>Tư</a:t>
            </a:r>
            <a:r>
              <a:rPr lang="en-US" sz="2000" dirty="0"/>
              <a:t> </a:t>
            </a:r>
            <a:r>
              <a:rPr lang="en-US" sz="2000" dirty="0" err="1"/>
              <a:t>duy</a:t>
            </a:r>
            <a:r>
              <a:rPr lang="en-US" sz="2000" dirty="0"/>
              <a:t> </a:t>
            </a:r>
            <a:r>
              <a:rPr lang="en-US" sz="2000" dirty="0" err="1"/>
              <a:t>trừu</a:t>
            </a:r>
            <a:r>
              <a:rPr lang="en-US" sz="2000" dirty="0"/>
              <a:t> </a:t>
            </a:r>
            <a:r>
              <a:rPr lang="en-US" sz="2000" dirty="0" err="1"/>
              <a:t>tượng</a:t>
            </a:r>
            <a:endParaRPr lang="en-US" sz="2000" dirty="0"/>
          </a:p>
          <a:p>
            <a:pPr lvl="1"/>
            <a:r>
              <a:rPr lang="en-US" sz="2000" dirty="0" err="1"/>
              <a:t>Vận</a:t>
            </a:r>
            <a:r>
              <a:rPr lang="en-US" sz="2000" dirty="0"/>
              <a:t> </a:t>
            </a:r>
            <a:r>
              <a:rPr lang="en-US" sz="2000" dirty="0" err="1"/>
              <a:t>dụng</a:t>
            </a:r>
            <a:r>
              <a:rPr lang="en-US" sz="2000" dirty="0"/>
              <a:t> qui </a:t>
            </a:r>
            <a:r>
              <a:rPr lang="en-US" sz="2000" dirty="0" err="1"/>
              <a:t>luật</a:t>
            </a:r>
            <a:r>
              <a:rPr lang="en-US" sz="2000" dirty="0"/>
              <a:t> </a:t>
            </a:r>
            <a:r>
              <a:rPr lang="en-US" sz="2000" dirty="0" err="1"/>
              <a:t>vào</a:t>
            </a:r>
            <a:r>
              <a:rPr lang="en-US" sz="2000" dirty="0"/>
              <a:t> </a:t>
            </a:r>
            <a:r>
              <a:rPr lang="en-US" sz="2000" dirty="0" err="1"/>
              <a:t>thực</a:t>
            </a:r>
            <a:r>
              <a:rPr lang="en-US" sz="2000" dirty="0"/>
              <a:t> </a:t>
            </a:r>
            <a:r>
              <a:rPr lang="en-US" sz="2000" dirty="0" err="1"/>
              <a:t>tiễn</a:t>
            </a:r>
            <a:endParaRPr lang="en-US" sz="2000" dirty="0"/>
          </a:p>
          <a:p>
            <a:endParaRPr lang="en-US" sz="2400" dirty="0"/>
          </a:p>
        </p:txBody>
      </p:sp>
      <p:sp>
        <p:nvSpPr>
          <p:cNvPr id="11" name="Content Placeholder 10"/>
          <p:cNvSpPr>
            <a:spLocks noGrp="1"/>
          </p:cNvSpPr>
          <p:nvPr>
            <p:ph sz="half" idx="2"/>
          </p:nvPr>
        </p:nvSpPr>
        <p:spPr>
          <a:xfrm>
            <a:off x="4495800" y="2743200"/>
            <a:ext cx="4495800" cy="3505200"/>
          </a:xfrm>
        </p:spPr>
        <p:txBody>
          <a:bodyPr/>
          <a:lstStyle/>
          <a:p>
            <a:r>
              <a:rPr lang="en-US" sz="2400" dirty="0" err="1"/>
              <a:t>Chỉ</a:t>
            </a:r>
            <a:r>
              <a:rPr lang="en-US" sz="2400" dirty="0"/>
              <a:t> </a:t>
            </a:r>
            <a:r>
              <a:rPr lang="en-US" sz="2400" dirty="0" err="1"/>
              <a:t>cần</a:t>
            </a:r>
            <a:r>
              <a:rPr lang="en-US" sz="2400" dirty="0"/>
              <a:t> </a:t>
            </a:r>
            <a:r>
              <a:rPr lang="en-US" sz="2400" dirty="0" err="1"/>
              <a:t>thể</a:t>
            </a:r>
            <a:r>
              <a:rPr lang="en-US" sz="2400" dirty="0"/>
              <a:t> </a:t>
            </a:r>
            <a:r>
              <a:rPr lang="en-US" sz="2400" dirty="0" err="1"/>
              <a:t>hiện</a:t>
            </a:r>
            <a:r>
              <a:rPr lang="en-US" sz="2400" dirty="0"/>
              <a:t> </a:t>
            </a:r>
            <a:r>
              <a:rPr lang="en-US" sz="2400" dirty="0" err="1"/>
              <a:t>được</a:t>
            </a:r>
            <a:r>
              <a:rPr lang="en-US" sz="2400" dirty="0"/>
              <a:t> </a:t>
            </a:r>
            <a:r>
              <a:rPr lang="en-US" sz="2400" dirty="0" err="1">
                <a:solidFill>
                  <a:srgbClr val="FF0000"/>
                </a:solidFill>
              </a:rPr>
              <a:t>một</a:t>
            </a:r>
            <a:r>
              <a:rPr lang="en-US" sz="2400" dirty="0">
                <a:solidFill>
                  <a:srgbClr val="FF0000"/>
                </a:solidFill>
              </a:rPr>
              <a:t> </a:t>
            </a:r>
            <a:r>
              <a:rPr lang="en-US" sz="2400" dirty="0" err="1">
                <a:solidFill>
                  <a:srgbClr val="FF0000"/>
                </a:solidFill>
              </a:rPr>
              <a:t>khía</a:t>
            </a:r>
            <a:r>
              <a:rPr lang="en-US" sz="2400" dirty="0">
                <a:solidFill>
                  <a:srgbClr val="FF0000"/>
                </a:solidFill>
              </a:rPr>
              <a:t> </a:t>
            </a:r>
            <a:r>
              <a:rPr lang="en-US" sz="2400" dirty="0" err="1">
                <a:solidFill>
                  <a:srgbClr val="FF0000"/>
                </a:solidFill>
              </a:rPr>
              <a:t>cạnh</a:t>
            </a:r>
            <a:r>
              <a:rPr lang="en-US" sz="2400" dirty="0">
                <a:solidFill>
                  <a:srgbClr val="FF0000"/>
                </a:solidFill>
              </a:rPr>
              <a:t> </a:t>
            </a:r>
            <a:r>
              <a:rPr lang="en-US" sz="2400" dirty="0" err="1">
                <a:solidFill>
                  <a:srgbClr val="FF0000"/>
                </a:solidFill>
              </a:rPr>
              <a:t>nào</a:t>
            </a:r>
            <a:r>
              <a:rPr lang="en-US" sz="2400" dirty="0">
                <a:solidFill>
                  <a:srgbClr val="FF0000"/>
                </a:solidFill>
              </a:rPr>
              <a:t> </a:t>
            </a:r>
            <a:r>
              <a:rPr lang="en-US" sz="2400" dirty="0" err="1">
                <a:solidFill>
                  <a:srgbClr val="FF0000"/>
                </a:solidFill>
              </a:rPr>
              <a:t>đó</a:t>
            </a:r>
            <a:r>
              <a:rPr lang="en-US" sz="2400" dirty="0">
                <a:solidFill>
                  <a:srgbClr val="FF0000"/>
                </a:solidFill>
              </a:rPr>
              <a:t> </a:t>
            </a:r>
            <a:r>
              <a:rPr lang="en-US" sz="2400" dirty="0" err="1">
                <a:solidFill>
                  <a:srgbClr val="FF0000"/>
                </a:solidFill>
              </a:rPr>
              <a:t>trong</a:t>
            </a:r>
            <a:r>
              <a:rPr lang="en-US" sz="2400" dirty="0">
                <a:solidFill>
                  <a:srgbClr val="FF0000"/>
                </a:solidFill>
              </a:rPr>
              <a:t> </a:t>
            </a:r>
            <a:r>
              <a:rPr lang="en-US" sz="2400" dirty="0" err="1">
                <a:solidFill>
                  <a:srgbClr val="FF0000"/>
                </a:solidFill>
              </a:rPr>
              <a:t>một</a:t>
            </a:r>
            <a:r>
              <a:rPr lang="en-US" sz="2400" dirty="0">
                <a:solidFill>
                  <a:srgbClr val="FF0000"/>
                </a:solidFill>
              </a:rPr>
              <a:t> </a:t>
            </a:r>
            <a:r>
              <a:rPr lang="en-US" sz="2400" dirty="0" err="1">
                <a:solidFill>
                  <a:srgbClr val="FF0000"/>
                </a:solidFill>
              </a:rPr>
              <a:t>phạm</a:t>
            </a:r>
            <a:r>
              <a:rPr lang="en-US" sz="2400" dirty="0">
                <a:solidFill>
                  <a:srgbClr val="FF0000"/>
                </a:solidFill>
              </a:rPr>
              <a:t> vi </a:t>
            </a:r>
            <a:r>
              <a:rPr lang="en-US" sz="2400" dirty="0" err="1">
                <a:solidFill>
                  <a:srgbClr val="FF0000"/>
                </a:solidFill>
              </a:rPr>
              <a:t>nhất</a:t>
            </a:r>
            <a:r>
              <a:rPr lang="en-US" sz="2400" dirty="0">
                <a:solidFill>
                  <a:srgbClr val="FF0000"/>
                </a:solidFill>
              </a:rPr>
              <a:t> </a:t>
            </a:r>
            <a:r>
              <a:rPr lang="en-US" sz="2400" dirty="0" err="1">
                <a:solidFill>
                  <a:srgbClr val="FF0000"/>
                </a:solidFill>
              </a:rPr>
              <a:t>định</a:t>
            </a:r>
            <a:r>
              <a:rPr lang="en-US" sz="2400" dirty="0"/>
              <a:t> </a:t>
            </a:r>
            <a:r>
              <a:rPr lang="en-US" sz="2400" dirty="0" err="1"/>
              <a:t>tương</a:t>
            </a:r>
            <a:r>
              <a:rPr lang="en-US" sz="2400" dirty="0"/>
              <a:t> </a:t>
            </a:r>
            <a:r>
              <a:rPr lang="en-US" sz="2400" dirty="0" err="1"/>
              <a:t>tự</a:t>
            </a:r>
            <a:r>
              <a:rPr lang="en-US" sz="2400" dirty="0"/>
              <a:t> </a:t>
            </a:r>
            <a:r>
              <a:rPr lang="en-US" sz="2400" dirty="0" err="1"/>
              <a:t>như</a:t>
            </a:r>
            <a:r>
              <a:rPr lang="en-US" sz="2400" dirty="0"/>
              <a:t> </a:t>
            </a:r>
            <a:r>
              <a:rPr lang="en-US" sz="2400" dirty="0" err="1"/>
              <a:t>hoạt</a:t>
            </a:r>
            <a:r>
              <a:rPr lang="en-US" sz="2400" dirty="0"/>
              <a:t> </a:t>
            </a:r>
            <a:r>
              <a:rPr lang="en-US" sz="2400" dirty="0" err="1"/>
              <a:t>động</a:t>
            </a:r>
            <a:r>
              <a:rPr lang="en-US" sz="2400" dirty="0"/>
              <a:t> </a:t>
            </a:r>
            <a:r>
              <a:rPr lang="en-US" sz="2400" dirty="0" err="1"/>
              <a:t>thông</a:t>
            </a:r>
            <a:r>
              <a:rPr lang="en-US" sz="2400" dirty="0"/>
              <a:t> minh </a:t>
            </a:r>
            <a:r>
              <a:rPr lang="en-US" sz="2400" dirty="0" err="1"/>
              <a:t>của</a:t>
            </a:r>
            <a:r>
              <a:rPr lang="en-US" sz="2400" dirty="0"/>
              <a:t> con </a:t>
            </a:r>
            <a:r>
              <a:rPr lang="en-US" sz="2400" dirty="0" err="1"/>
              <a:t>người</a:t>
            </a:r>
            <a:endParaRPr lang="en-US" sz="2400" dirty="0"/>
          </a:p>
          <a:p>
            <a:r>
              <a:rPr lang="en-US" sz="2400" dirty="0" err="1"/>
              <a:t>Ví</a:t>
            </a:r>
            <a:r>
              <a:rPr lang="en-US" sz="2400" dirty="0"/>
              <a:t> </a:t>
            </a:r>
            <a:r>
              <a:rPr lang="en-US" sz="2400" dirty="0" err="1"/>
              <a:t>dụ</a:t>
            </a:r>
            <a:r>
              <a:rPr lang="en-US" sz="2400" dirty="0"/>
              <a:t>: </a:t>
            </a:r>
          </a:p>
          <a:p>
            <a:pPr lvl="1"/>
            <a:r>
              <a:rPr lang="en-US" sz="2000" dirty="0" err="1"/>
              <a:t>Giải</a:t>
            </a:r>
            <a:r>
              <a:rPr lang="en-US" sz="2000" dirty="0"/>
              <a:t> </a:t>
            </a:r>
            <a:r>
              <a:rPr lang="en-US" sz="2000" dirty="0" err="1"/>
              <a:t>quyết</a:t>
            </a:r>
            <a:r>
              <a:rPr lang="en-US" sz="2000" dirty="0"/>
              <a:t> </a:t>
            </a:r>
            <a:r>
              <a:rPr lang="en-US" sz="2000" dirty="0" err="1"/>
              <a:t>các</a:t>
            </a:r>
            <a:r>
              <a:rPr lang="en-US" sz="2000" dirty="0"/>
              <a:t> </a:t>
            </a:r>
            <a:r>
              <a:rPr lang="en-US" sz="2000" dirty="0" err="1"/>
              <a:t>vấn</a:t>
            </a:r>
            <a:r>
              <a:rPr lang="en-US" sz="2000" dirty="0"/>
              <a:t> </a:t>
            </a:r>
            <a:r>
              <a:rPr lang="en-US" sz="2000" dirty="0" err="1"/>
              <a:t>đề</a:t>
            </a:r>
            <a:r>
              <a:rPr lang="en-US" sz="2000" dirty="0"/>
              <a:t> </a:t>
            </a:r>
            <a:r>
              <a:rPr lang="en-US" sz="2000" dirty="0" err="1"/>
              <a:t>phức</a:t>
            </a:r>
            <a:r>
              <a:rPr lang="en-US" sz="2000" dirty="0"/>
              <a:t> </a:t>
            </a:r>
            <a:r>
              <a:rPr lang="en-US" sz="2000" dirty="0" err="1"/>
              <a:t>tạp</a:t>
            </a:r>
            <a:endParaRPr lang="en-US" sz="2000" dirty="0"/>
          </a:p>
          <a:p>
            <a:pPr lvl="1"/>
            <a:r>
              <a:rPr lang="en-US" sz="2000" dirty="0" err="1"/>
              <a:t>khả</a:t>
            </a:r>
            <a:r>
              <a:rPr lang="en-US" sz="2000" dirty="0"/>
              <a:t> </a:t>
            </a:r>
            <a:r>
              <a:rPr lang="en-US" sz="2000" dirty="0" err="1"/>
              <a:t>năng</a:t>
            </a:r>
            <a:r>
              <a:rPr lang="en-US" sz="2000" dirty="0"/>
              <a:t> </a:t>
            </a:r>
            <a:r>
              <a:rPr lang="en-US" sz="2000" dirty="0" err="1"/>
              <a:t>suy</a:t>
            </a:r>
            <a:r>
              <a:rPr lang="en-US" sz="2000" dirty="0"/>
              <a:t> </a:t>
            </a:r>
            <a:r>
              <a:rPr lang="en-US" sz="2000" dirty="0" err="1"/>
              <a:t>luận</a:t>
            </a:r>
            <a:endParaRPr lang="en-US" sz="2000" dirty="0"/>
          </a:p>
          <a:p>
            <a:pPr lvl="1"/>
            <a:r>
              <a:rPr lang="en-US" sz="2000" dirty="0" err="1"/>
              <a:t>Khả</a:t>
            </a:r>
            <a:r>
              <a:rPr lang="en-US" sz="2000" dirty="0"/>
              <a:t> </a:t>
            </a:r>
            <a:r>
              <a:rPr lang="en-US" sz="2000" dirty="0" err="1"/>
              <a:t>năng</a:t>
            </a:r>
            <a:r>
              <a:rPr lang="en-US" sz="2000" dirty="0"/>
              <a:t> </a:t>
            </a:r>
            <a:r>
              <a:rPr lang="en-US" sz="2000" dirty="0" err="1"/>
              <a:t>học</a:t>
            </a:r>
            <a:r>
              <a:rPr lang="en-US" sz="2000" dirty="0"/>
              <a:t>,…</a:t>
            </a:r>
          </a:p>
        </p:txBody>
      </p:sp>
      <p:sp>
        <p:nvSpPr>
          <p:cNvPr id="15" name="TextBox 14"/>
          <p:cNvSpPr txBox="1"/>
          <p:nvPr/>
        </p:nvSpPr>
        <p:spPr>
          <a:xfrm>
            <a:off x="1524000" y="1524000"/>
            <a:ext cx="5943600" cy="523220"/>
          </a:xfrm>
          <a:prstGeom prst="rect">
            <a:avLst/>
          </a:prstGeom>
          <a:noFill/>
        </p:spPr>
        <p:txBody>
          <a:bodyPr wrap="square" rtlCol="0">
            <a:spAutoFit/>
          </a:bodyPr>
          <a:lstStyle/>
          <a:p>
            <a:r>
              <a:rPr lang="en-US" sz="2800"/>
              <a:t>Quan niệm về trí tuệ (trí thông minh)</a:t>
            </a:r>
          </a:p>
        </p:txBody>
      </p:sp>
      <p:sp>
        <p:nvSpPr>
          <p:cNvPr id="17" name="TextBox 16"/>
          <p:cNvSpPr txBox="1"/>
          <p:nvPr/>
        </p:nvSpPr>
        <p:spPr>
          <a:xfrm>
            <a:off x="1371600" y="2209800"/>
            <a:ext cx="1905000" cy="523220"/>
          </a:xfrm>
          <a:prstGeom prst="rect">
            <a:avLst/>
          </a:prstGeom>
          <a:noFill/>
        </p:spPr>
        <p:txBody>
          <a:bodyPr wrap="square" rtlCol="0">
            <a:spAutoFit/>
          </a:bodyPr>
          <a:lstStyle/>
          <a:p>
            <a:r>
              <a:rPr lang="en-US" sz="2800"/>
              <a:t>Con người</a:t>
            </a:r>
          </a:p>
        </p:txBody>
      </p:sp>
      <p:sp>
        <p:nvSpPr>
          <p:cNvPr id="18" name="TextBox 17"/>
          <p:cNvSpPr txBox="1"/>
          <p:nvPr/>
        </p:nvSpPr>
        <p:spPr>
          <a:xfrm>
            <a:off x="5791200" y="2209800"/>
            <a:ext cx="1676400" cy="523220"/>
          </a:xfrm>
          <a:prstGeom prst="rect">
            <a:avLst/>
          </a:prstGeom>
          <a:noFill/>
        </p:spPr>
        <p:txBody>
          <a:bodyPr wrap="square" rtlCol="0">
            <a:spAutoFit/>
          </a:bodyPr>
          <a:lstStyle/>
          <a:p>
            <a:r>
              <a:rPr lang="en-US" sz="2800"/>
              <a:t>Máy móc</a:t>
            </a:r>
          </a:p>
        </p:txBody>
      </p:sp>
    </p:spTree>
    <p:extLst>
      <p:ext uri="{BB962C8B-B14F-4D97-AF65-F5344CB8AC3E}">
        <p14:creationId xmlns:p14="http://schemas.microsoft.com/office/powerpoint/2010/main" val="197802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blinds(horizontal)">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blinds(horizontal)">
                                      <p:cBhvr>
                                        <p:cTn id="22" dur="500"/>
                                        <p:tgtEl>
                                          <p:spTgt spid="10">
                                            <p:txEl>
                                              <p:pRg st="1" end="1"/>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Effect transition="in" filter="blinds(horizontal)">
                                      <p:cBhvr>
                                        <p:cTn id="25" dur="500"/>
                                        <p:tgtEl>
                                          <p:spTgt spid="10">
                                            <p:txEl>
                                              <p:pRg st="2" end="2"/>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
                                            <p:txEl>
                                              <p:pRg st="3" end="3"/>
                                            </p:txEl>
                                          </p:spTgt>
                                        </p:tgtEl>
                                        <p:attrNameLst>
                                          <p:attrName>style.visibility</p:attrName>
                                        </p:attrNameLst>
                                      </p:cBhvr>
                                      <p:to>
                                        <p:strVal val="visible"/>
                                      </p:to>
                                    </p:set>
                                    <p:animEffect transition="in" filter="blinds(horizontal)">
                                      <p:cBhvr>
                                        <p:cTn id="28" dur="500"/>
                                        <p:tgtEl>
                                          <p:spTgt spid="10">
                                            <p:txEl>
                                              <p:pRg st="3" end="3"/>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Effect transition="in" filter="blinds(horizontal)">
                                      <p:cBhvr>
                                        <p:cTn id="31" dur="500"/>
                                        <p:tgtEl>
                                          <p:spTgt spid="10">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1">
                                            <p:txEl>
                                              <p:pRg st="0" end="0"/>
                                            </p:txEl>
                                          </p:spTgt>
                                        </p:tgtEl>
                                        <p:attrNameLst>
                                          <p:attrName>style.visibility</p:attrName>
                                        </p:attrNameLst>
                                      </p:cBhvr>
                                      <p:to>
                                        <p:strVal val="visible"/>
                                      </p:to>
                                    </p:set>
                                    <p:animEffect transition="in" filter="blinds(horizontal)">
                                      <p:cBhvr>
                                        <p:cTn id="36" dur="500"/>
                                        <p:tgtEl>
                                          <p:spTgt spid="1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1">
                                            <p:txEl>
                                              <p:pRg st="1" end="1"/>
                                            </p:txEl>
                                          </p:spTgt>
                                        </p:tgtEl>
                                        <p:attrNameLst>
                                          <p:attrName>style.visibility</p:attrName>
                                        </p:attrNameLst>
                                      </p:cBhvr>
                                      <p:to>
                                        <p:strVal val="visible"/>
                                      </p:to>
                                    </p:set>
                                    <p:animEffect transition="in" filter="blinds(horizontal)">
                                      <p:cBhvr>
                                        <p:cTn id="41" dur="500"/>
                                        <p:tgtEl>
                                          <p:spTgt spid="11">
                                            <p:txEl>
                                              <p:pRg st="1" end="1"/>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1">
                                            <p:txEl>
                                              <p:pRg st="2" end="2"/>
                                            </p:txEl>
                                          </p:spTgt>
                                        </p:tgtEl>
                                        <p:attrNameLst>
                                          <p:attrName>style.visibility</p:attrName>
                                        </p:attrNameLst>
                                      </p:cBhvr>
                                      <p:to>
                                        <p:strVal val="visible"/>
                                      </p:to>
                                    </p:set>
                                    <p:animEffect transition="in" filter="blinds(horizontal)">
                                      <p:cBhvr>
                                        <p:cTn id="44" dur="500"/>
                                        <p:tgtEl>
                                          <p:spTgt spid="11">
                                            <p:txEl>
                                              <p:pRg st="2" end="2"/>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1">
                                            <p:txEl>
                                              <p:pRg st="3" end="3"/>
                                            </p:txEl>
                                          </p:spTgt>
                                        </p:tgtEl>
                                        <p:attrNameLst>
                                          <p:attrName>style.visibility</p:attrName>
                                        </p:attrNameLst>
                                      </p:cBhvr>
                                      <p:to>
                                        <p:strVal val="visible"/>
                                      </p:to>
                                    </p:set>
                                    <p:animEffect transition="in" filter="blinds(horizontal)">
                                      <p:cBhvr>
                                        <p:cTn id="47" dur="500"/>
                                        <p:tgtEl>
                                          <p:spTgt spid="11">
                                            <p:txEl>
                                              <p:pRg st="3" end="3"/>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1">
                                            <p:txEl>
                                              <p:pRg st="4" end="4"/>
                                            </p:txEl>
                                          </p:spTgt>
                                        </p:tgtEl>
                                        <p:attrNameLst>
                                          <p:attrName>style.visibility</p:attrName>
                                        </p:attrNameLst>
                                      </p:cBhvr>
                                      <p:to>
                                        <p:strVal val="visible"/>
                                      </p:to>
                                    </p:set>
                                    <p:animEffect transition="in" filter="blinds(horizontal)">
                                      <p:cBhvr>
                                        <p:cTn id="50"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Trí</a:t>
            </a:r>
            <a:r>
              <a:rPr lang="en-US" dirty="0"/>
              <a:t> </a:t>
            </a:r>
            <a:r>
              <a:rPr lang="en-US" dirty="0" err="1"/>
              <a:t>tuệ</a:t>
            </a:r>
            <a:r>
              <a:rPr lang="en-US" dirty="0"/>
              <a:t> </a:t>
            </a:r>
            <a:r>
              <a:rPr lang="en-US" dirty="0" err="1"/>
              <a:t>nhân</a:t>
            </a:r>
            <a:r>
              <a:rPr lang="en-US" dirty="0"/>
              <a:t> </a:t>
            </a:r>
            <a:r>
              <a:rPr lang="en-US" dirty="0" err="1"/>
              <a:t>tạo</a:t>
            </a:r>
            <a:endParaRPr lang="en-US" dirty="0"/>
          </a:p>
        </p:txBody>
      </p:sp>
      <p:sp>
        <p:nvSpPr>
          <p:cNvPr id="6" name="Content Placeholder 5"/>
          <p:cNvSpPr>
            <a:spLocks noGrp="1"/>
          </p:cNvSpPr>
          <p:nvPr>
            <p:ph idx="1"/>
          </p:nvPr>
        </p:nvSpPr>
        <p:spPr/>
        <p:txBody>
          <a:bodyPr/>
          <a:lstStyle/>
          <a:p>
            <a:pPr>
              <a:spcBef>
                <a:spcPts val="1200"/>
              </a:spcBef>
            </a:pPr>
            <a:r>
              <a:rPr lang="en-US" sz="2600" dirty="0"/>
              <a:t>AI </a:t>
            </a:r>
            <a:r>
              <a:rPr lang="en-US" sz="2600" dirty="0" err="1"/>
              <a:t>là</a:t>
            </a:r>
            <a:r>
              <a:rPr lang="en-US" sz="2600" dirty="0"/>
              <a:t> </a:t>
            </a:r>
            <a:r>
              <a:rPr lang="en-US" sz="2600" dirty="0" err="1"/>
              <a:t>một</a:t>
            </a:r>
            <a:r>
              <a:rPr lang="en-US" sz="2600" dirty="0"/>
              <a:t> </a:t>
            </a:r>
            <a:r>
              <a:rPr lang="en-US" sz="2600" dirty="0" err="1"/>
              <a:t>nhánh</a:t>
            </a:r>
            <a:r>
              <a:rPr lang="en-US" sz="2600" dirty="0"/>
              <a:t> </a:t>
            </a:r>
            <a:r>
              <a:rPr lang="en-US" sz="2600" dirty="0" err="1"/>
              <a:t>của</a:t>
            </a:r>
            <a:r>
              <a:rPr lang="en-US" sz="2600" dirty="0"/>
              <a:t> </a:t>
            </a:r>
            <a:r>
              <a:rPr lang="vi-VN" sz="2600" dirty="0"/>
              <a:t>khoa học </a:t>
            </a:r>
            <a:r>
              <a:rPr lang="en-US" sz="2600" dirty="0" err="1"/>
              <a:t>máy</a:t>
            </a:r>
            <a:r>
              <a:rPr lang="en-US" sz="2600" dirty="0"/>
              <a:t> </a:t>
            </a:r>
            <a:r>
              <a:rPr lang="en-US" sz="2600" dirty="0" err="1"/>
              <a:t>tính</a:t>
            </a:r>
            <a:r>
              <a:rPr lang="en-US" sz="2600" dirty="0"/>
              <a:t> </a:t>
            </a:r>
            <a:r>
              <a:rPr lang="vi-VN" sz="2600" dirty="0"/>
              <a:t>liên quan đến việc </a:t>
            </a:r>
            <a:r>
              <a:rPr lang="vi-VN" sz="2600" dirty="0">
                <a:solidFill>
                  <a:srgbClr val="FF0000"/>
                </a:solidFill>
              </a:rPr>
              <a:t>làm cho</a:t>
            </a:r>
            <a:r>
              <a:rPr lang="en-US" sz="2600" dirty="0">
                <a:solidFill>
                  <a:srgbClr val="FF0000"/>
                </a:solidFill>
              </a:rPr>
              <a:t> </a:t>
            </a:r>
            <a:r>
              <a:rPr lang="vi-VN" sz="2600" dirty="0">
                <a:solidFill>
                  <a:srgbClr val="FF0000"/>
                </a:solidFill>
              </a:rPr>
              <a:t>máy tính có những khả năng của trí</a:t>
            </a:r>
            <a:r>
              <a:rPr lang="en-US" sz="2600" dirty="0">
                <a:solidFill>
                  <a:srgbClr val="FF0000"/>
                </a:solidFill>
              </a:rPr>
              <a:t> </a:t>
            </a:r>
            <a:r>
              <a:rPr lang="vi-VN" sz="2600" dirty="0">
                <a:solidFill>
                  <a:srgbClr val="FF0000"/>
                </a:solidFill>
              </a:rPr>
              <a:t>tuệ con người</a:t>
            </a:r>
            <a:r>
              <a:rPr lang="vi-VN" sz="2600" dirty="0"/>
              <a:t>, tiêu biểu như các khả</a:t>
            </a:r>
            <a:r>
              <a:rPr lang="en-US" sz="2600" dirty="0"/>
              <a:t> </a:t>
            </a:r>
            <a:r>
              <a:rPr lang="vi-VN" sz="2600" dirty="0"/>
              <a:t>năng “suy nghĩ”, “hiểu ngôn ngữ”, và</a:t>
            </a:r>
            <a:r>
              <a:rPr lang="en-US" sz="2600" dirty="0"/>
              <a:t> </a:t>
            </a:r>
            <a:r>
              <a:rPr lang="en-US" sz="2600" dirty="0" err="1"/>
              <a:t>biết</a:t>
            </a:r>
            <a:r>
              <a:rPr lang="en-US" sz="2600" dirty="0"/>
              <a:t> “</a:t>
            </a:r>
            <a:r>
              <a:rPr lang="en-US" sz="2600" dirty="0" err="1"/>
              <a:t>học</a:t>
            </a:r>
            <a:r>
              <a:rPr lang="en-US" sz="2600" dirty="0"/>
              <a:t> </a:t>
            </a:r>
            <a:r>
              <a:rPr lang="en-US" sz="2600" dirty="0" err="1"/>
              <a:t>tập</a:t>
            </a:r>
            <a:r>
              <a:rPr lang="en-US" sz="2600" dirty="0"/>
              <a:t>”.</a:t>
            </a:r>
          </a:p>
          <a:p>
            <a:pPr>
              <a:spcBef>
                <a:spcPts val="1200"/>
              </a:spcBef>
            </a:pPr>
            <a:endParaRPr lang="en-US" sz="2600" dirty="0"/>
          </a:p>
          <a:p>
            <a:pPr>
              <a:spcBef>
                <a:spcPts val="1200"/>
              </a:spcBef>
            </a:pPr>
            <a:r>
              <a:rPr lang="en-US" sz="2600" dirty="0"/>
              <a:t>AI </a:t>
            </a:r>
            <a:r>
              <a:rPr lang="en-US" sz="2600" dirty="0" err="1"/>
              <a:t>là</a:t>
            </a:r>
            <a:r>
              <a:rPr lang="en-US" sz="2600" dirty="0"/>
              <a:t> </a:t>
            </a:r>
            <a:r>
              <a:rPr lang="en-US" sz="2600" dirty="0" err="1"/>
              <a:t>ngành</a:t>
            </a:r>
            <a:r>
              <a:rPr lang="en-US" sz="2600" dirty="0"/>
              <a:t> </a:t>
            </a:r>
            <a:r>
              <a:rPr lang="en-US" sz="2600" dirty="0" err="1"/>
              <a:t>nghiên</a:t>
            </a:r>
            <a:r>
              <a:rPr lang="en-US" sz="2600" dirty="0"/>
              <a:t> </a:t>
            </a:r>
            <a:r>
              <a:rPr lang="en-US" sz="2600" dirty="0" err="1"/>
              <a:t>cứu</a:t>
            </a:r>
            <a:r>
              <a:rPr lang="en-US" sz="2600" dirty="0"/>
              <a:t> </a:t>
            </a:r>
            <a:r>
              <a:rPr lang="en-US" sz="2600" dirty="0" err="1"/>
              <a:t>về</a:t>
            </a:r>
            <a:r>
              <a:rPr lang="en-US" sz="2600" dirty="0"/>
              <a:t> </a:t>
            </a:r>
            <a:r>
              <a:rPr lang="en-US" sz="2600" dirty="0" err="1"/>
              <a:t>các</a:t>
            </a:r>
            <a:r>
              <a:rPr lang="en-US" sz="2600" dirty="0"/>
              <a:t> </a:t>
            </a:r>
            <a:r>
              <a:rPr lang="en-US" sz="2600" dirty="0" err="1"/>
              <a:t>hành</a:t>
            </a:r>
            <a:r>
              <a:rPr lang="en-US" sz="2600" dirty="0"/>
              <a:t> </a:t>
            </a:r>
            <a:r>
              <a:rPr lang="en-US" sz="2600" dirty="0" err="1"/>
              <a:t>xử</a:t>
            </a:r>
            <a:r>
              <a:rPr lang="en-US" sz="2600" dirty="0"/>
              <a:t> </a:t>
            </a:r>
            <a:r>
              <a:rPr lang="en-US" sz="2600" dirty="0" err="1"/>
              <a:t>thông</a:t>
            </a:r>
            <a:r>
              <a:rPr lang="en-US" sz="2600" dirty="0"/>
              <a:t> minh (intelligent </a:t>
            </a:r>
            <a:r>
              <a:rPr lang="en-US" sz="2600" dirty="0" err="1"/>
              <a:t>behaviour</a:t>
            </a:r>
            <a:r>
              <a:rPr lang="en-US" sz="2600" dirty="0"/>
              <a:t>) </a:t>
            </a:r>
            <a:r>
              <a:rPr lang="en-US" sz="2600" dirty="0" err="1"/>
              <a:t>bao</a:t>
            </a:r>
            <a:r>
              <a:rPr lang="en-US" sz="2600" dirty="0"/>
              <a:t> </a:t>
            </a:r>
            <a:r>
              <a:rPr lang="en-US" sz="2600" dirty="0" err="1"/>
              <a:t>gồm</a:t>
            </a:r>
            <a:r>
              <a:rPr lang="en-US" sz="2600" dirty="0"/>
              <a:t>: </a:t>
            </a:r>
            <a:r>
              <a:rPr lang="en-US" sz="2600" dirty="0" err="1"/>
              <a:t>thu</a:t>
            </a:r>
            <a:r>
              <a:rPr lang="en-US" sz="2600" dirty="0"/>
              <a:t> </a:t>
            </a:r>
            <a:r>
              <a:rPr lang="en-US" sz="2600" dirty="0" err="1"/>
              <a:t>thập</a:t>
            </a:r>
            <a:r>
              <a:rPr lang="en-US" sz="2600" dirty="0"/>
              <a:t>, </a:t>
            </a:r>
            <a:r>
              <a:rPr lang="en-US" sz="2600" dirty="0" err="1"/>
              <a:t>lưu</a:t>
            </a:r>
            <a:r>
              <a:rPr lang="en-US" sz="2600" dirty="0"/>
              <a:t> </a:t>
            </a:r>
            <a:r>
              <a:rPr lang="en-US" sz="2600" dirty="0" err="1"/>
              <a:t>trữ</a:t>
            </a:r>
            <a:r>
              <a:rPr lang="en-US" sz="2600" dirty="0"/>
              <a:t> tri </a:t>
            </a:r>
            <a:r>
              <a:rPr lang="en-US" sz="2600" dirty="0" err="1"/>
              <a:t>thức</a:t>
            </a:r>
            <a:r>
              <a:rPr lang="en-US" sz="2600" dirty="0"/>
              <a:t>, </a:t>
            </a:r>
            <a:r>
              <a:rPr lang="en-US" sz="2600" dirty="0" err="1"/>
              <a:t>suy</a:t>
            </a:r>
            <a:r>
              <a:rPr lang="en-US" sz="2600" dirty="0"/>
              <a:t> </a:t>
            </a:r>
            <a:r>
              <a:rPr lang="en-US" sz="2600" dirty="0" err="1"/>
              <a:t>luận</a:t>
            </a:r>
            <a:r>
              <a:rPr lang="en-US" sz="2600" dirty="0"/>
              <a:t>, </a:t>
            </a:r>
            <a:r>
              <a:rPr lang="en-US" sz="2600" dirty="0" err="1"/>
              <a:t>hoạt</a:t>
            </a:r>
            <a:r>
              <a:rPr lang="en-US" sz="2600" dirty="0"/>
              <a:t> </a:t>
            </a:r>
            <a:r>
              <a:rPr lang="en-US" sz="2600" dirty="0" err="1"/>
              <a:t>động</a:t>
            </a:r>
            <a:r>
              <a:rPr lang="en-US" sz="2600" dirty="0"/>
              <a:t> </a:t>
            </a:r>
            <a:r>
              <a:rPr lang="en-US" sz="2600" dirty="0" err="1"/>
              <a:t>và</a:t>
            </a:r>
            <a:r>
              <a:rPr lang="en-US" sz="2600" dirty="0"/>
              <a:t> </a:t>
            </a:r>
            <a:r>
              <a:rPr lang="en-US" sz="2600" dirty="0" err="1"/>
              <a:t>kỹ</a:t>
            </a:r>
            <a:r>
              <a:rPr lang="en-US" sz="2600" dirty="0"/>
              <a:t> </a:t>
            </a:r>
            <a:r>
              <a:rPr lang="en-US" sz="2600" dirty="0" err="1"/>
              <a:t>năng</a:t>
            </a:r>
            <a:r>
              <a:rPr lang="en-US" sz="2600" dirty="0"/>
              <a:t>.</a:t>
            </a:r>
          </a:p>
          <a:p>
            <a:pPr>
              <a:spcBef>
                <a:spcPts val="1200"/>
              </a:spcBef>
            </a:pPr>
            <a:endParaRPr lang="en-US" sz="2600" dirty="0"/>
          </a:p>
          <a:p>
            <a:pPr>
              <a:spcBef>
                <a:spcPts val="1200"/>
              </a:spcBef>
              <a:buNone/>
            </a:pPr>
            <a:r>
              <a:rPr lang="en-US" sz="2600" dirty="0">
                <a:sym typeface="Wingdings" pitchFamily="2" charset="2"/>
              </a:rPr>
              <a:t>				</a:t>
            </a:r>
            <a:r>
              <a:rPr lang="en-US" sz="2600" dirty="0">
                <a:solidFill>
                  <a:srgbClr val="FF0000"/>
                </a:solidFill>
                <a:sym typeface="Wingdings" pitchFamily="2" charset="2"/>
              </a:rPr>
              <a:t> </a:t>
            </a:r>
            <a:r>
              <a:rPr lang="en-US" sz="2600" dirty="0" err="1">
                <a:solidFill>
                  <a:srgbClr val="FF0000"/>
                </a:solidFill>
              </a:rPr>
              <a:t>Đối</a:t>
            </a:r>
            <a:r>
              <a:rPr lang="en-US" sz="2600" dirty="0">
                <a:solidFill>
                  <a:srgbClr val="FF0000"/>
                </a:solidFill>
              </a:rPr>
              <a:t> </a:t>
            </a:r>
            <a:r>
              <a:rPr lang="en-US" sz="2600" dirty="0" err="1">
                <a:solidFill>
                  <a:srgbClr val="FF0000"/>
                </a:solidFill>
              </a:rPr>
              <a:t>tượng</a:t>
            </a:r>
            <a:r>
              <a:rPr lang="en-US" sz="2600" dirty="0">
                <a:solidFill>
                  <a:srgbClr val="FF0000"/>
                </a:solidFill>
              </a:rPr>
              <a:t> </a:t>
            </a:r>
            <a:r>
              <a:rPr lang="en-US" sz="2600" dirty="0" err="1">
                <a:solidFill>
                  <a:srgbClr val="FF0000"/>
                </a:solidFill>
              </a:rPr>
              <a:t>nghiên</a:t>
            </a:r>
            <a:r>
              <a:rPr lang="en-US" sz="2600" dirty="0">
                <a:solidFill>
                  <a:srgbClr val="FF0000"/>
                </a:solidFill>
              </a:rPr>
              <a:t> </a:t>
            </a:r>
            <a:r>
              <a:rPr lang="en-US" sz="2600" dirty="0" err="1">
                <a:solidFill>
                  <a:srgbClr val="FF0000"/>
                </a:solidFill>
              </a:rPr>
              <a:t>cứu</a:t>
            </a:r>
            <a:r>
              <a:rPr lang="en-US" sz="2600" dirty="0">
                <a:solidFill>
                  <a:srgbClr val="FF0000"/>
                </a:solidFill>
              </a:rPr>
              <a:t> </a:t>
            </a:r>
            <a:r>
              <a:rPr lang="en-US" sz="2600" dirty="0" err="1">
                <a:solidFill>
                  <a:srgbClr val="FF0000"/>
                </a:solidFill>
              </a:rPr>
              <a:t>của</a:t>
            </a:r>
            <a:r>
              <a:rPr lang="en-US" sz="2600" dirty="0">
                <a:solidFill>
                  <a:srgbClr val="FF0000"/>
                </a:solidFill>
              </a:rPr>
              <a:t> AI ?</a:t>
            </a:r>
          </a:p>
          <a:p>
            <a:pPr>
              <a:spcBef>
                <a:spcPts val="1200"/>
              </a:spcBef>
            </a:pPr>
            <a:endParaRPr lang="en-US" sz="2600" dirty="0"/>
          </a:p>
          <a:p>
            <a:pPr>
              <a:spcBef>
                <a:spcPts val="1200"/>
              </a:spcBef>
            </a:pPr>
            <a:endParaRPr lang="en-US" sz="2600" dirty="0"/>
          </a:p>
        </p:txBody>
      </p:sp>
    </p:spTree>
    <p:extLst>
      <p:ext uri="{BB962C8B-B14F-4D97-AF65-F5344CB8AC3E}">
        <p14:creationId xmlns:p14="http://schemas.microsoft.com/office/powerpoint/2010/main" val="244111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linds(horizontal)">
                                      <p:cBhvr>
                                        <p:cTn id="1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Mục tiêu của AI</a:t>
            </a:r>
          </a:p>
        </p:txBody>
      </p:sp>
      <p:sp>
        <p:nvSpPr>
          <p:cNvPr id="3" name="Content Placeholder 2"/>
          <p:cNvSpPr>
            <a:spLocks noGrp="1"/>
          </p:cNvSpPr>
          <p:nvPr>
            <p:ph idx="1"/>
          </p:nvPr>
        </p:nvSpPr>
        <p:spPr/>
        <p:txBody>
          <a:bodyPr/>
          <a:lstStyle/>
          <a:p>
            <a:pPr>
              <a:spcBef>
                <a:spcPts val="1200"/>
              </a:spcBef>
              <a:buClr>
                <a:srgbClr val="0000FF"/>
              </a:buClr>
              <a:buFont typeface="Wingdings" pitchFamily="2" charset="2"/>
              <a:buChar char="§"/>
            </a:pPr>
            <a:r>
              <a:rPr lang="en-US" sz="2600" dirty="0" err="1"/>
              <a:t>Xây</a:t>
            </a:r>
            <a:r>
              <a:rPr lang="en-US" sz="2600" dirty="0"/>
              <a:t> </a:t>
            </a:r>
            <a:r>
              <a:rPr lang="en-US" sz="2600" dirty="0" err="1"/>
              <a:t>dựng</a:t>
            </a:r>
            <a:r>
              <a:rPr lang="en-US" sz="2600" dirty="0"/>
              <a:t> </a:t>
            </a:r>
            <a:r>
              <a:rPr lang="en-US" sz="2600" dirty="0" err="1"/>
              <a:t>lý</a:t>
            </a:r>
            <a:r>
              <a:rPr lang="en-US" sz="2600" dirty="0"/>
              <a:t> </a:t>
            </a:r>
            <a:r>
              <a:rPr lang="en-US" sz="2600" dirty="0" err="1"/>
              <a:t>thuyết</a:t>
            </a:r>
            <a:r>
              <a:rPr lang="en-US" sz="2600" dirty="0"/>
              <a:t> </a:t>
            </a:r>
            <a:r>
              <a:rPr lang="en-US" sz="2600" dirty="0" err="1"/>
              <a:t>về</a:t>
            </a:r>
            <a:r>
              <a:rPr lang="en-US" sz="2600" dirty="0"/>
              <a:t> </a:t>
            </a:r>
            <a:r>
              <a:rPr lang="en-US" sz="2600" dirty="0" err="1"/>
              <a:t>thông</a:t>
            </a:r>
            <a:r>
              <a:rPr lang="en-US" sz="2600" dirty="0"/>
              <a:t> minh </a:t>
            </a:r>
            <a:r>
              <a:rPr lang="en-US" sz="2600" dirty="0" err="1"/>
              <a:t>để</a:t>
            </a:r>
            <a:r>
              <a:rPr lang="en-US" sz="2600" dirty="0"/>
              <a:t> </a:t>
            </a:r>
            <a:r>
              <a:rPr lang="en-US" sz="2600" dirty="0" err="1"/>
              <a:t>giải</a:t>
            </a:r>
            <a:r>
              <a:rPr lang="en-US" sz="2600" dirty="0"/>
              <a:t> </a:t>
            </a:r>
            <a:r>
              <a:rPr lang="en-US" sz="2600" dirty="0" err="1"/>
              <a:t>thích</a:t>
            </a:r>
            <a:r>
              <a:rPr lang="en-US" sz="2600" dirty="0"/>
              <a:t> </a:t>
            </a:r>
            <a:r>
              <a:rPr lang="en-US" sz="2600" dirty="0" err="1"/>
              <a:t>các</a:t>
            </a:r>
            <a:r>
              <a:rPr lang="en-US" sz="2600" dirty="0"/>
              <a:t> </a:t>
            </a:r>
            <a:r>
              <a:rPr lang="en-US" sz="2600" dirty="0" err="1"/>
              <a:t>hoạt</a:t>
            </a:r>
            <a:r>
              <a:rPr lang="en-US" sz="2600" dirty="0"/>
              <a:t> </a:t>
            </a:r>
            <a:r>
              <a:rPr lang="en-US" sz="2600" dirty="0" err="1"/>
              <a:t>động</a:t>
            </a:r>
            <a:r>
              <a:rPr lang="en-US" sz="2600" dirty="0"/>
              <a:t> </a:t>
            </a:r>
            <a:r>
              <a:rPr lang="en-US" sz="2600" dirty="0" err="1"/>
              <a:t>thông</a:t>
            </a:r>
            <a:r>
              <a:rPr lang="en-US" sz="2600" dirty="0"/>
              <a:t> minh</a:t>
            </a:r>
          </a:p>
          <a:p>
            <a:pPr>
              <a:spcBef>
                <a:spcPts val="1200"/>
              </a:spcBef>
              <a:buClr>
                <a:srgbClr val="0000FF"/>
              </a:buClr>
              <a:buFont typeface="Wingdings" pitchFamily="2" charset="2"/>
              <a:buChar char="§"/>
            </a:pPr>
            <a:r>
              <a:rPr lang="en-US" sz="2600" dirty="0" err="1"/>
              <a:t>Tìm</a:t>
            </a:r>
            <a:r>
              <a:rPr lang="en-US" sz="2600" dirty="0"/>
              <a:t> </a:t>
            </a:r>
            <a:r>
              <a:rPr lang="en-US" sz="2600" dirty="0" err="1"/>
              <a:t>hiểu</a:t>
            </a:r>
            <a:r>
              <a:rPr lang="en-US" sz="2600" dirty="0"/>
              <a:t> </a:t>
            </a:r>
            <a:r>
              <a:rPr lang="en-US" sz="2600" dirty="0" err="1"/>
              <a:t>cơ</a:t>
            </a:r>
            <a:r>
              <a:rPr lang="en-US" sz="2600" dirty="0"/>
              <a:t> </a:t>
            </a:r>
            <a:r>
              <a:rPr lang="en-US" sz="2600" dirty="0" err="1"/>
              <a:t>chế</a:t>
            </a:r>
            <a:r>
              <a:rPr lang="en-US" sz="2600" dirty="0"/>
              <a:t> </a:t>
            </a:r>
            <a:r>
              <a:rPr lang="en-US" sz="2600" dirty="0" err="1"/>
              <a:t>sự</a:t>
            </a:r>
            <a:r>
              <a:rPr lang="en-US" sz="2600" dirty="0"/>
              <a:t> </a:t>
            </a:r>
            <a:r>
              <a:rPr lang="en-US" sz="2600" dirty="0" err="1"/>
              <a:t>thông</a:t>
            </a:r>
            <a:r>
              <a:rPr lang="en-US" sz="2600" dirty="0"/>
              <a:t> minh </a:t>
            </a:r>
            <a:r>
              <a:rPr lang="en-US" sz="2600" dirty="0" err="1"/>
              <a:t>của</a:t>
            </a:r>
            <a:r>
              <a:rPr lang="en-US" sz="2600" dirty="0"/>
              <a:t> con </a:t>
            </a:r>
            <a:r>
              <a:rPr lang="en-US" sz="2600" dirty="0" err="1"/>
              <a:t>người</a:t>
            </a:r>
            <a:endParaRPr lang="en-US" sz="2600" dirty="0"/>
          </a:p>
          <a:p>
            <a:pPr lvl="2">
              <a:spcBef>
                <a:spcPts val="1200"/>
              </a:spcBef>
              <a:buClr>
                <a:srgbClr val="0000FF"/>
              </a:buClr>
              <a:buFont typeface="Wingdings" pitchFamily="2" charset="2"/>
              <a:buChar char="ü"/>
            </a:pPr>
            <a:r>
              <a:rPr lang="en-US" sz="2000" dirty="0" err="1"/>
              <a:t>Cơ</a:t>
            </a:r>
            <a:r>
              <a:rPr lang="en-US" sz="2000" dirty="0"/>
              <a:t> </a:t>
            </a:r>
            <a:r>
              <a:rPr lang="en-US" sz="2000" dirty="0" err="1"/>
              <a:t>chế</a:t>
            </a:r>
            <a:r>
              <a:rPr lang="en-US" sz="2000" dirty="0"/>
              <a:t> </a:t>
            </a:r>
            <a:r>
              <a:rPr lang="en-US" sz="2000" dirty="0" err="1"/>
              <a:t>lưu</a:t>
            </a:r>
            <a:r>
              <a:rPr lang="en-US" sz="2000" dirty="0"/>
              <a:t> </a:t>
            </a:r>
            <a:r>
              <a:rPr lang="en-US" sz="2000" dirty="0" err="1"/>
              <a:t>trữ</a:t>
            </a:r>
            <a:r>
              <a:rPr lang="en-US" sz="2000" dirty="0"/>
              <a:t> tri </a:t>
            </a:r>
            <a:r>
              <a:rPr lang="en-US" sz="2000" dirty="0" err="1"/>
              <a:t>thức</a:t>
            </a:r>
            <a:endParaRPr lang="en-US" sz="2000" dirty="0"/>
          </a:p>
          <a:p>
            <a:pPr lvl="2">
              <a:spcBef>
                <a:spcPts val="1200"/>
              </a:spcBef>
              <a:buClr>
                <a:srgbClr val="0000FF"/>
              </a:buClr>
              <a:buFont typeface="Wingdings" pitchFamily="2" charset="2"/>
              <a:buChar char="ü"/>
            </a:pPr>
            <a:r>
              <a:rPr lang="en-US" sz="2000" dirty="0" err="1"/>
              <a:t>Cơ</a:t>
            </a:r>
            <a:r>
              <a:rPr lang="en-US" sz="2000" dirty="0"/>
              <a:t> </a:t>
            </a:r>
            <a:r>
              <a:rPr lang="en-US" sz="2000" dirty="0" err="1"/>
              <a:t>chế</a:t>
            </a:r>
            <a:r>
              <a:rPr lang="en-US" sz="2000" dirty="0"/>
              <a:t> </a:t>
            </a:r>
            <a:r>
              <a:rPr lang="en-US" sz="2000" dirty="0" err="1"/>
              <a:t>khai</a:t>
            </a:r>
            <a:r>
              <a:rPr lang="en-US" sz="2000" dirty="0"/>
              <a:t> </a:t>
            </a:r>
            <a:r>
              <a:rPr lang="en-US" sz="2000" dirty="0" err="1"/>
              <a:t>thác</a:t>
            </a:r>
            <a:r>
              <a:rPr lang="en-US" sz="2000" dirty="0"/>
              <a:t> tri </a:t>
            </a:r>
            <a:r>
              <a:rPr lang="en-US" sz="2000" dirty="0" err="1"/>
              <a:t>thức</a:t>
            </a:r>
            <a:endParaRPr lang="en-US" sz="2000" dirty="0"/>
          </a:p>
          <a:p>
            <a:pPr>
              <a:spcBef>
                <a:spcPts val="1200"/>
              </a:spcBef>
              <a:buClr>
                <a:srgbClr val="0000FF"/>
              </a:buClr>
              <a:buFont typeface="Wingdings" pitchFamily="2" charset="2"/>
              <a:buChar char="§"/>
            </a:pPr>
            <a:r>
              <a:rPr lang="en-US" sz="2600" dirty="0" err="1"/>
              <a:t>Xây</a:t>
            </a:r>
            <a:r>
              <a:rPr lang="en-US" sz="2600" dirty="0"/>
              <a:t> </a:t>
            </a:r>
            <a:r>
              <a:rPr lang="en-US" sz="2600" dirty="0" err="1"/>
              <a:t>dựng</a:t>
            </a:r>
            <a:r>
              <a:rPr lang="en-US" sz="2600" dirty="0"/>
              <a:t> </a:t>
            </a:r>
            <a:r>
              <a:rPr lang="en-US" sz="2600" dirty="0" err="1"/>
              <a:t>cơ</a:t>
            </a:r>
            <a:r>
              <a:rPr lang="en-US" sz="2600" dirty="0"/>
              <a:t> </a:t>
            </a:r>
            <a:r>
              <a:rPr lang="en-US" sz="2600" dirty="0" err="1"/>
              <a:t>chế</a:t>
            </a:r>
            <a:r>
              <a:rPr lang="en-US" sz="2600" dirty="0"/>
              <a:t> </a:t>
            </a:r>
            <a:r>
              <a:rPr lang="en-US" sz="2600" dirty="0" err="1"/>
              <a:t>hiện</a:t>
            </a:r>
            <a:r>
              <a:rPr lang="en-US" sz="2600" dirty="0"/>
              <a:t> </a:t>
            </a:r>
            <a:r>
              <a:rPr lang="en-US" sz="2600" dirty="0" err="1"/>
              <a:t>thực</a:t>
            </a:r>
            <a:r>
              <a:rPr lang="en-US" sz="2600" dirty="0"/>
              <a:t> </a:t>
            </a:r>
            <a:r>
              <a:rPr lang="en-US" sz="2600" dirty="0" err="1"/>
              <a:t>sự</a:t>
            </a:r>
            <a:r>
              <a:rPr lang="en-US" sz="2600" dirty="0"/>
              <a:t> </a:t>
            </a:r>
            <a:r>
              <a:rPr lang="en-US" sz="2600" dirty="0" err="1"/>
              <a:t>thông</a:t>
            </a:r>
            <a:r>
              <a:rPr lang="en-US" sz="2600" dirty="0"/>
              <a:t> minh</a:t>
            </a:r>
          </a:p>
          <a:p>
            <a:pPr>
              <a:spcBef>
                <a:spcPts val="1200"/>
              </a:spcBef>
              <a:buClr>
                <a:srgbClr val="0000FF"/>
              </a:buClr>
              <a:buFont typeface="Wingdings" pitchFamily="2" charset="2"/>
              <a:buChar char="§"/>
            </a:pPr>
            <a:r>
              <a:rPr lang="en-US" sz="2600" dirty="0" err="1"/>
              <a:t>Áp</a:t>
            </a:r>
            <a:r>
              <a:rPr lang="en-US" sz="2600" dirty="0"/>
              <a:t> </a:t>
            </a:r>
            <a:r>
              <a:rPr lang="en-US" sz="2600" dirty="0" err="1"/>
              <a:t>dụng</a:t>
            </a:r>
            <a:r>
              <a:rPr lang="en-US" sz="2600" dirty="0"/>
              <a:t> </a:t>
            </a:r>
            <a:r>
              <a:rPr lang="en-US" sz="2600" dirty="0" err="1"/>
              <a:t>các</a:t>
            </a:r>
            <a:r>
              <a:rPr lang="en-US" sz="2600" dirty="0"/>
              <a:t> </a:t>
            </a:r>
            <a:r>
              <a:rPr lang="en-US" sz="2600" dirty="0" err="1"/>
              <a:t>hiểu</a:t>
            </a:r>
            <a:r>
              <a:rPr lang="en-US" sz="2600" dirty="0"/>
              <a:t> </a:t>
            </a:r>
            <a:r>
              <a:rPr lang="en-US" sz="2600" dirty="0" err="1"/>
              <a:t>biết</a:t>
            </a:r>
            <a:r>
              <a:rPr lang="en-US" sz="2600" dirty="0"/>
              <a:t> </a:t>
            </a:r>
            <a:r>
              <a:rPr lang="en-US" sz="2600" dirty="0" err="1"/>
              <a:t>này</a:t>
            </a:r>
            <a:r>
              <a:rPr lang="en-US" sz="2600" dirty="0"/>
              <a:t> </a:t>
            </a:r>
            <a:r>
              <a:rPr lang="en-US" sz="2600" dirty="0" err="1"/>
              <a:t>vào</a:t>
            </a:r>
            <a:r>
              <a:rPr lang="en-US" sz="2600" dirty="0"/>
              <a:t> </a:t>
            </a:r>
            <a:r>
              <a:rPr lang="en-US" sz="2600" dirty="0" err="1"/>
              <a:t>các</a:t>
            </a:r>
            <a:r>
              <a:rPr lang="en-US" sz="2600" dirty="0"/>
              <a:t> </a:t>
            </a:r>
            <a:r>
              <a:rPr lang="en-US" sz="2600" dirty="0" err="1"/>
              <a:t>máy</a:t>
            </a:r>
            <a:r>
              <a:rPr lang="en-US" sz="2600" dirty="0"/>
              <a:t> </a:t>
            </a:r>
            <a:r>
              <a:rPr lang="en-US" sz="2600" dirty="0" err="1"/>
              <a:t>móc</a:t>
            </a:r>
            <a:r>
              <a:rPr lang="en-US" sz="2600" dirty="0"/>
              <a:t> </a:t>
            </a:r>
            <a:r>
              <a:rPr lang="en-US" sz="2600" dirty="0" err="1"/>
              <a:t>phục</a:t>
            </a:r>
            <a:r>
              <a:rPr lang="en-US" sz="2600" dirty="0"/>
              <a:t> </a:t>
            </a:r>
            <a:r>
              <a:rPr lang="en-US" sz="2600" dirty="0" err="1"/>
              <a:t>vụ</a:t>
            </a:r>
            <a:r>
              <a:rPr lang="en-US" sz="2600" dirty="0"/>
              <a:t> con </a:t>
            </a:r>
            <a:r>
              <a:rPr lang="en-US" sz="2600" dirty="0" err="1"/>
              <a:t>người</a:t>
            </a:r>
            <a:r>
              <a:rPr lang="en-US" sz="2600" dirty="0"/>
              <a:t>. </a:t>
            </a:r>
          </a:p>
          <a:p>
            <a:pPr>
              <a:spcBef>
                <a:spcPts val="1200"/>
              </a:spcBef>
            </a:pPr>
            <a:endParaRPr lang="en-US" sz="2600" dirty="0"/>
          </a:p>
        </p:txBody>
      </p:sp>
    </p:spTree>
    <p:extLst>
      <p:ext uri="{BB962C8B-B14F-4D97-AF65-F5344CB8AC3E}">
        <p14:creationId xmlns:p14="http://schemas.microsoft.com/office/powerpoint/2010/main" val="333232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Mục tiêu của AI</a:t>
            </a:r>
          </a:p>
        </p:txBody>
      </p:sp>
      <p:sp>
        <p:nvSpPr>
          <p:cNvPr id="3" name="Content Placeholder 2"/>
          <p:cNvSpPr>
            <a:spLocks noGrp="1"/>
          </p:cNvSpPr>
          <p:nvPr>
            <p:ph idx="1"/>
          </p:nvPr>
        </p:nvSpPr>
        <p:spPr/>
        <p:txBody>
          <a:bodyPr/>
          <a:lstStyle/>
          <a:p>
            <a:pPr>
              <a:spcBef>
                <a:spcPts val="1200"/>
              </a:spcBef>
              <a:buFont typeface="Wingdings" pitchFamily="2" charset="2"/>
              <a:buChar char="§"/>
            </a:pPr>
            <a:r>
              <a:rPr lang="en-US" sz="2600" dirty="0" err="1"/>
              <a:t>Cụ</a:t>
            </a:r>
            <a:r>
              <a:rPr lang="en-US" sz="2600" dirty="0"/>
              <a:t> </a:t>
            </a:r>
            <a:r>
              <a:rPr lang="en-US" sz="2600" dirty="0" err="1"/>
              <a:t>thể</a:t>
            </a:r>
            <a:r>
              <a:rPr lang="en-US" sz="2600" dirty="0"/>
              <a:t>:</a:t>
            </a:r>
          </a:p>
          <a:p>
            <a:pPr>
              <a:spcBef>
                <a:spcPts val="1200"/>
              </a:spcBef>
            </a:pPr>
            <a:endParaRPr lang="en-US" sz="2600" dirty="0"/>
          </a:p>
          <a:p>
            <a:pPr lvl="1">
              <a:spcBef>
                <a:spcPts val="1200"/>
              </a:spcBef>
            </a:pPr>
            <a:r>
              <a:rPr lang="en-US" sz="2600" dirty="0" err="1"/>
              <a:t>Kỹ</a:t>
            </a:r>
            <a:r>
              <a:rPr lang="en-US" sz="2600" dirty="0"/>
              <a:t> </a:t>
            </a:r>
            <a:r>
              <a:rPr lang="en-US" sz="2600" dirty="0" err="1"/>
              <a:t>thuật</a:t>
            </a:r>
            <a:r>
              <a:rPr lang="en-US" sz="2600" dirty="0"/>
              <a:t>: </a:t>
            </a:r>
            <a:r>
              <a:rPr lang="en-US" sz="2600" dirty="0" err="1"/>
              <a:t>xây</a:t>
            </a:r>
            <a:r>
              <a:rPr lang="en-US" sz="2600" dirty="0"/>
              <a:t> </a:t>
            </a:r>
            <a:r>
              <a:rPr lang="en-US" sz="2600" dirty="0" err="1"/>
              <a:t>dựng</a:t>
            </a:r>
            <a:r>
              <a:rPr lang="en-US" sz="2600" dirty="0"/>
              <a:t> </a:t>
            </a:r>
            <a:r>
              <a:rPr lang="en-US" sz="2600" dirty="0" err="1"/>
              <a:t>các</a:t>
            </a:r>
            <a:r>
              <a:rPr lang="en-US" sz="2600" dirty="0"/>
              <a:t> </a:t>
            </a:r>
            <a:r>
              <a:rPr lang="en-US" sz="2600" dirty="0" err="1"/>
              <a:t>máy</a:t>
            </a:r>
            <a:r>
              <a:rPr lang="en-US" sz="2600" dirty="0"/>
              <a:t> </a:t>
            </a:r>
            <a:r>
              <a:rPr lang="en-US" sz="2600" dirty="0" err="1"/>
              <a:t>móc</a:t>
            </a:r>
            <a:r>
              <a:rPr lang="en-US" sz="2600" dirty="0"/>
              <a:t> </a:t>
            </a:r>
            <a:r>
              <a:rPr lang="en-US" sz="2600" dirty="0" err="1"/>
              <a:t>có</a:t>
            </a:r>
            <a:r>
              <a:rPr lang="en-US" sz="2600" dirty="0"/>
              <a:t> </a:t>
            </a:r>
            <a:r>
              <a:rPr lang="en-US" sz="2600" dirty="0" err="1"/>
              <a:t>tính</a:t>
            </a:r>
            <a:r>
              <a:rPr lang="en-US" sz="2600" dirty="0"/>
              <a:t> </a:t>
            </a:r>
            <a:r>
              <a:rPr lang="en-US" sz="2600" dirty="0" err="1"/>
              <a:t>thông</a:t>
            </a:r>
            <a:r>
              <a:rPr lang="en-US" sz="2600" dirty="0"/>
              <a:t> minh </a:t>
            </a:r>
            <a:r>
              <a:rPr lang="en-US" sz="2600" dirty="0" err="1"/>
              <a:t>nhằm</a:t>
            </a:r>
            <a:r>
              <a:rPr lang="en-US" sz="2600" dirty="0"/>
              <a:t> </a:t>
            </a:r>
            <a:r>
              <a:rPr lang="en-US" sz="2600" dirty="0" err="1"/>
              <a:t>đáp</a:t>
            </a:r>
            <a:r>
              <a:rPr lang="en-US" sz="2600" dirty="0"/>
              <a:t> </a:t>
            </a:r>
            <a:r>
              <a:rPr lang="en-US" sz="2600" dirty="0" err="1"/>
              <a:t>ứng</a:t>
            </a:r>
            <a:r>
              <a:rPr lang="en-US" sz="2600" dirty="0"/>
              <a:t> </a:t>
            </a:r>
            <a:r>
              <a:rPr lang="en-US" sz="2600" dirty="0" err="1"/>
              <a:t>tốt</a:t>
            </a:r>
            <a:r>
              <a:rPr lang="en-US" sz="2600" dirty="0"/>
              <a:t> </a:t>
            </a:r>
            <a:r>
              <a:rPr lang="en-US" sz="2600" dirty="0" err="1"/>
              <a:t>hơn</a:t>
            </a:r>
            <a:r>
              <a:rPr lang="en-US" sz="2600" dirty="0"/>
              <a:t> </a:t>
            </a:r>
            <a:r>
              <a:rPr lang="en-US" sz="2600" dirty="0" err="1"/>
              <a:t>nhu</a:t>
            </a:r>
            <a:r>
              <a:rPr lang="en-US" sz="2600" dirty="0"/>
              <a:t> </a:t>
            </a:r>
            <a:r>
              <a:rPr lang="en-US" sz="2600" dirty="0" err="1"/>
              <a:t>cầu</a:t>
            </a:r>
            <a:r>
              <a:rPr lang="en-US" sz="2600" dirty="0"/>
              <a:t> </a:t>
            </a:r>
            <a:r>
              <a:rPr lang="en-US" sz="2600" dirty="0" err="1"/>
              <a:t>của</a:t>
            </a:r>
            <a:r>
              <a:rPr lang="en-US" sz="2600" dirty="0"/>
              <a:t> con </a:t>
            </a:r>
            <a:r>
              <a:rPr lang="en-US" sz="2600" dirty="0" err="1"/>
              <a:t>người</a:t>
            </a:r>
            <a:r>
              <a:rPr lang="en-US" sz="2600" dirty="0"/>
              <a:t>.</a:t>
            </a:r>
          </a:p>
          <a:p>
            <a:pPr lvl="1">
              <a:spcBef>
                <a:spcPts val="1200"/>
              </a:spcBef>
            </a:pPr>
            <a:r>
              <a:rPr lang="en-US" sz="2600" dirty="0" err="1"/>
              <a:t>Khoa</a:t>
            </a:r>
            <a:r>
              <a:rPr lang="en-US" sz="2600" dirty="0"/>
              <a:t> </a:t>
            </a:r>
            <a:r>
              <a:rPr lang="en-US" sz="2600" dirty="0" err="1"/>
              <a:t>học</a:t>
            </a:r>
            <a:r>
              <a:rPr lang="en-US" sz="2600" dirty="0"/>
              <a:t>: </a:t>
            </a:r>
            <a:r>
              <a:rPr lang="en-US" sz="2600" dirty="0" err="1"/>
              <a:t>xây</a:t>
            </a:r>
            <a:r>
              <a:rPr lang="en-US" sz="2600" dirty="0"/>
              <a:t> </a:t>
            </a:r>
            <a:r>
              <a:rPr lang="en-US" sz="2600" dirty="0" err="1"/>
              <a:t>dựng</a:t>
            </a:r>
            <a:r>
              <a:rPr lang="en-US" sz="2600" dirty="0"/>
              <a:t> </a:t>
            </a:r>
            <a:r>
              <a:rPr lang="en-US" sz="2600" dirty="0" err="1"/>
              <a:t>và</a:t>
            </a:r>
            <a:r>
              <a:rPr lang="en-US" sz="2600" dirty="0"/>
              <a:t> </a:t>
            </a:r>
            <a:r>
              <a:rPr lang="en-US" sz="2600" dirty="0" err="1"/>
              <a:t>phát</a:t>
            </a:r>
            <a:r>
              <a:rPr lang="en-US" sz="2600" dirty="0"/>
              <a:t> </a:t>
            </a:r>
            <a:r>
              <a:rPr lang="en-US" sz="2600" dirty="0" err="1"/>
              <a:t>triển</a:t>
            </a:r>
            <a:r>
              <a:rPr lang="en-US" sz="2600" dirty="0"/>
              <a:t> </a:t>
            </a:r>
            <a:r>
              <a:rPr lang="en-US" sz="2600" dirty="0" err="1"/>
              <a:t>các</a:t>
            </a:r>
            <a:r>
              <a:rPr lang="en-US" sz="2600" dirty="0"/>
              <a:t> </a:t>
            </a:r>
            <a:r>
              <a:rPr lang="en-US" sz="2600" dirty="0" err="1"/>
              <a:t>khái</a:t>
            </a:r>
            <a:r>
              <a:rPr lang="en-US" sz="2600" dirty="0"/>
              <a:t> </a:t>
            </a:r>
            <a:r>
              <a:rPr lang="en-US" sz="2600" dirty="0" err="1"/>
              <a:t>niệm</a:t>
            </a:r>
            <a:r>
              <a:rPr lang="en-US" sz="2600" dirty="0"/>
              <a:t>, </a:t>
            </a:r>
            <a:r>
              <a:rPr lang="en-US" sz="2600" dirty="0" err="1"/>
              <a:t>thuật</a:t>
            </a:r>
            <a:r>
              <a:rPr lang="en-US" sz="2600" dirty="0"/>
              <a:t> </a:t>
            </a:r>
            <a:r>
              <a:rPr lang="en-US" sz="2600" dirty="0" err="1"/>
              <a:t>ngữ</a:t>
            </a:r>
            <a:r>
              <a:rPr lang="en-US" sz="2600" dirty="0"/>
              <a:t>, </a:t>
            </a:r>
            <a:r>
              <a:rPr lang="en-US" sz="2600" dirty="0" err="1"/>
              <a:t>phương</a:t>
            </a:r>
            <a:r>
              <a:rPr lang="en-US" sz="2600" dirty="0"/>
              <a:t> </a:t>
            </a:r>
            <a:r>
              <a:rPr lang="en-US" sz="2600" dirty="0" err="1"/>
              <a:t>pháp</a:t>
            </a:r>
            <a:r>
              <a:rPr lang="en-US" sz="2600" dirty="0"/>
              <a:t> </a:t>
            </a:r>
            <a:r>
              <a:rPr lang="en-US" sz="2600" dirty="0" err="1"/>
              <a:t>để</a:t>
            </a:r>
            <a:r>
              <a:rPr lang="en-US" sz="2600" dirty="0"/>
              <a:t> </a:t>
            </a:r>
            <a:r>
              <a:rPr lang="en-US" sz="2600" dirty="0" err="1"/>
              <a:t>hiểu</a:t>
            </a:r>
            <a:r>
              <a:rPr lang="en-US" sz="2600" dirty="0"/>
              <a:t> </a:t>
            </a:r>
            <a:r>
              <a:rPr lang="en-US" sz="2600" dirty="0" err="1"/>
              <a:t>được</a:t>
            </a:r>
            <a:r>
              <a:rPr lang="en-US" sz="2600" dirty="0"/>
              <a:t> </a:t>
            </a:r>
            <a:r>
              <a:rPr lang="en-US" sz="2600" dirty="0" err="1"/>
              <a:t>các</a:t>
            </a:r>
            <a:r>
              <a:rPr lang="en-US" sz="2600" dirty="0"/>
              <a:t> </a:t>
            </a:r>
            <a:r>
              <a:rPr lang="en-US" sz="2600" dirty="0" err="1"/>
              <a:t>hành</a:t>
            </a:r>
            <a:r>
              <a:rPr lang="en-US" sz="2600" dirty="0"/>
              <a:t> </a:t>
            </a:r>
            <a:r>
              <a:rPr lang="en-US" sz="2600" dirty="0" err="1"/>
              <a:t>xử</a:t>
            </a:r>
            <a:r>
              <a:rPr lang="en-US" sz="2600" dirty="0"/>
              <a:t> </a:t>
            </a:r>
            <a:r>
              <a:rPr lang="en-US" sz="2600" dirty="0" err="1"/>
              <a:t>thông</a:t>
            </a:r>
            <a:r>
              <a:rPr lang="en-US" sz="2600" dirty="0"/>
              <a:t> minh </a:t>
            </a:r>
            <a:r>
              <a:rPr lang="en-US" sz="2600" dirty="0" err="1"/>
              <a:t>của</a:t>
            </a:r>
            <a:r>
              <a:rPr lang="en-US" sz="2600" dirty="0"/>
              <a:t> </a:t>
            </a:r>
            <a:r>
              <a:rPr lang="en-US" sz="2600" dirty="0" err="1"/>
              <a:t>sinh</a:t>
            </a:r>
            <a:r>
              <a:rPr lang="en-US" sz="2600" dirty="0"/>
              <a:t> </a:t>
            </a:r>
            <a:r>
              <a:rPr lang="en-US" sz="2600" dirty="0" err="1"/>
              <a:t>vật</a:t>
            </a:r>
            <a:r>
              <a:rPr lang="en-US" sz="2600" dirty="0"/>
              <a:t>.</a:t>
            </a:r>
          </a:p>
          <a:p>
            <a:pPr lvl="1">
              <a:spcBef>
                <a:spcPts val="1200"/>
              </a:spcBef>
            </a:pPr>
            <a:endParaRPr lang="en-US" sz="2600" dirty="0"/>
          </a:p>
          <a:p>
            <a:pPr>
              <a:spcBef>
                <a:spcPts val="1200"/>
              </a:spcBef>
            </a:pPr>
            <a:endParaRPr lang="en-US" sz="2600" dirty="0"/>
          </a:p>
        </p:txBody>
      </p:sp>
    </p:spTree>
    <p:extLst>
      <p:ext uri="{BB962C8B-B14F-4D97-AF65-F5344CB8AC3E}">
        <p14:creationId xmlns:p14="http://schemas.microsoft.com/office/powerpoint/2010/main" val="1770408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t>Turing Test: </a:t>
            </a:r>
            <a:r>
              <a:rPr lang="en-US" sz="2400">
                <a:solidFill>
                  <a:srgbClr val="FF0000"/>
                </a:solidFill>
              </a:rPr>
              <a:t>Thử tính thông minh</a:t>
            </a:r>
            <a:endParaRPr lang="en-GB">
              <a:solidFill>
                <a:srgbClr val="FF0000"/>
              </a:solidFill>
            </a:endParaRPr>
          </a:p>
        </p:txBody>
      </p:sp>
      <p:sp>
        <p:nvSpPr>
          <p:cNvPr id="14340" name="Rectangle 3"/>
          <p:cNvSpPr>
            <a:spLocks noGrp="1" noChangeArrowheads="1"/>
          </p:cNvSpPr>
          <p:nvPr>
            <p:ph type="body" idx="1"/>
          </p:nvPr>
        </p:nvSpPr>
        <p:spPr/>
        <p:txBody>
          <a:bodyPr/>
          <a:lstStyle/>
          <a:p>
            <a:pPr eaLnBrk="1" hangingPunct="1">
              <a:buClr>
                <a:schemeClr val="tx1"/>
              </a:buClr>
              <a:buSzPct val="120000"/>
            </a:pPr>
            <a:r>
              <a:rPr lang="en-GB"/>
              <a:t>Alan Turing (1912-1954)</a:t>
            </a:r>
          </a:p>
          <a:p>
            <a:pPr eaLnBrk="1" hangingPunct="1">
              <a:lnSpc>
                <a:spcPct val="150000"/>
              </a:lnSpc>
              <a:spcBef>
                <a:spcPct val="0"/>
              </a:spcBef>
              <a:buClr>
                <a:schemeClr val="tx1"/>
              </a:buClr>
              <a:buSzPct val="120000"/>
              <a:buNone/>
            </a:pPr>
            <a:endParaRPr lang="en-GB"/>
          </a:p>
        </p:txBody>
      </p:sp>
      <p:grpSp>
        <p:nvGrpSpPr>
          <p:cNvPr id="18" name="Group 17"/>
          <p:cNvGrpSpPr/>
          <p:nvPr/>
        </p:nvGrpSpPr>
        <p:grpSpPr>
          <a:xfrm>
            <a:off x="1752600" y="2362200"/>
            <a:ext cx="6559550" cy="3048000"/>
            <a:chOff x="1828800" y="3276600"/>
            <a:chExt cx="6559550" cy="3048000"/>
          </a:xfrm>
        </p:grpSpPr>
        <p:sp>
          <p:nvSpPr>
            <p:cNvPr id="14344" name="Line 137"/>
            <p:cNvSpPr>
              <a:spLocks noChangeShapeType="1"/>
            </p:cNvSpPr>
            <p:nvPr/>
          </p:nvSpPr>
          <p:spPr bwMode="auto">
            <a:xfrm>
              <a:off x="4572000" y="3276600"/>
              <a:ext cx="0" cy="3048000"/>
            </a:xfrm>
            <a:prstGeom prst="line">
              <a:avLst/>
            </a:prstGeom>
            <a:noFill/>
            <a:ln w="76200">
              <a:solidFill>
                <a:schemeClr val="tx1"/>
              </a:solidFill>
              <a:round/>
              <a:headEnd/>
              <a:tailEnd/>
            </a:ln>
          </p:spPr>
          <p:txBody>
            <a:bodyPr/>
            <a:lstStyle/>
            <a:p>
              <a:endParaRPr lang="en-US"/>
            </a:p>
          </p:txBody>
        </p:sp>
        <p:grpSp>
          <p:nvGrpSpPr>
            <p:cNvPr id="17" name="Group 16"/>
            <p:cNvGrpSpPr/>
            <p:nvPr/>
          </p:nvGrpSpPr>
          <p:grpSpPr>
            <a:xfrm>
              <a:off x="1828800" y="3352800"/>
              <a:ext cx="6559550" cy="2716213"/>
              <a:chOff x="1828800" y="3352800"/>
              <a:chExt cx="6559550" cy="2716213"/>
            </a:xfrm>
          </p:grpSpPr>
          <p:pic>
            <p:nvPicPr>
              <p:cNvPr id="14341" name="Picture 5" descr="bs00580_"/>
              <p:cNvPicPr>
                <a:picLocks noChangeAspect="1" noChangeArrowheads="1"/>
              </p:cNvPicPr>
              <p:nvPr/>
            </p:nvPicPr>
            <p:blipFill>
              <a:blip r:embed="rId2"/>
              <a:srcRect/>
              <a:stretch>
                <a:fillRect/>
              </a:stretch>
            </p:blipFill>
            <p:spPr bwMode="auto">
              <a:xfrm>
                <a:off x="5486400" y="5105400"/>
                <a:ext cx="1144588" cy="963613"/>
              </a:xfrm>
              <a:prstGeom prst="rect">
                <a:avLst/>
              </a:prstGeom>
              <a:noFill/>
              <a:ln w="9525">
                <a:noFill/>
                <a:miter lim="800000"/>
                <a:headEnd/>
                <a:tailEnd/>
              </a:ln>
            </p:spPr>
          </p:pic>
          <p:sp>
            <p:nvSpPr>
              <p:cNvPr id="14350" name="Text Box 143"/>
              <p:cNvSpPr txBox="1">
                <a:spLocks noChangeArrowheads="1"/>
              </p:cNvSpPr>
              <p:nvPr/>
            </p:nvSpPr>
            <p:spPr bwMode="auto">
              <a:xfrm>
                <a:off x="6781800" y="5486400"/>
                <a:ext cx="1606550" cy="396875"/>
              </a:xfrm>
              <a:prstGeom prst="rect">
                <a:avLst/>
              </a:prstGeom>
              <a:noFill/>
              <a:ln w="9525">
                <a:noFill/>
                <a:miter lim="800000"/>
                <a:headEnd/>
                <a:tailEnd/>
              </a:ln>
            </p:spPr>
            <p:txBody>
              <a:bodyPr>
                <a:spAutoFit/>
              </a:bodyPr>
              <a:lstStyle/>
              <a:p>
                <a:pPr>
                  <a:spcBef>
                    <a:spcPct val="50000"/>
                  </a:spcBef>
                </a:pPr>
                <a:r>
                  <a:rPr lang="en-GB" sz="2000">
                    <a:latin typeface="Arial Unicode MS" pitchFamily="34" charset="-128"/>
                  </a:rPr>
                  <a:t>Hệ thống AI</a:t>
                </a:r>
              </a:p>
            </p:txBody>
          </p:sp>
          <p:grpSp>
            <p:nvGrpSpPr>
              <p:cNvPr id="16" name="Group 15"/>
              <p:cNvGrpSpPr/>
              <p:nvPr/>
            </p:nvGrpSpPr>
            <p:grpSpPr>
              <a:xfrm>
                <a:off x="1828800" y="3352800"/>
                <a:ext cx="6343650" cy="2378075"/>
                <a:chOff x="1828800" y="3352800"/>
                <a:chExt cx="6343650" cy="2378075"/>
              </a:xfrm>
            </p:grpSpPr>
            <p:pic>
              <p:nvPicPr>
                <p:cNvPr id="14342" name="Picture 135" descr="bd06790_"/>
                <p:cNvPicPr>
                  <a:picLocks noChangeAspect="1" noChangeArrowheads="1"/>
                </p:cNvPicPr>
                <p:nvPr/>
              </p:nvPicPr>
              <p:blipFill>
                <a:blip r:embed="rId3"/>
                <a:srcRect/>
                <a:stretch>
                  <a:fillRect/>
                </a:stretch>
              </p:blipFill>
              <p:spPr bwMode="auto">
                <a:xfrm>
                  <a:off x="2362200" y="4191000"/>
                  <a:ext cx="1287463" cy="1063625"/>
                </a:xfrm>
                <a:prstGeom prst="rect">
                  <a:avLst/>
                </a:prstGeom>
                <a:noFill/>
                <a:ln w="9525">
                  <a:noFill/>
                  <a:miter lim="800000"/>
                  <a:headEnd/>
                  <a:tailEnd/>
                </a:ln>
              </p:spPr>
            </p:pic>
            <p:pic>
              <p:nvPicPr>
                <p:cNvPr id="14343" name="Picture 136" descr="bd07153_"/>
                <p:cNvPicPr>
                  <a:picLocks noChangeAspect="1" noChangeArrowheads="1"/>
                </p:cNvPicPr>
                <p:nvPr/>
              </p:nvPicPr>
              <p:blipFill>
                <a:blip r:embed="rId4"/>
                <a:srcRect/>
                <a:stretch>
                  <a:fillRect/>
                </a:stretch>
              </p:blipFill>
              <p:spPr bwMode="auto">
                <a:xfrm>
                  <a:off x="5486400" y="3429000"/>
                  <a:ext cx="1158875" cy="1268413"/>
                </a:xfrm>
                <a:prstGeom prst="rect">
                  <a:avLst/>
                </a:prstGeom>
                <a:noFill/>
                <a:ln w="9525">
                  <a:noFill/>
                  <a:miter lim="800000"/>
                  <a:headEnd/>
                  <a:tailEnd/>
                </a:ln>
              </p:spPr>
            </p:pic>
            <p:sp>
              <p:nvSpPr>
                <p:cNvPr id="14345" name="Line 138"/>
                <p:cNvSpPr>
                  <a:spLocks noChangeShapeType="1"/>
                </p:cNvSpPr>
                <p:nvPr/>
              </p:nvSpPr>
              <p:spPr bwMode="auto">
                <a:xfrm>
                  <a:off x="3657600" y="4724400"/>
                  <a:ext cx="914400" cy="0"/>
                </a:xfrm>
                <a:prstGeom prst="line">
                  <a:avLst/>
                </a:prstGeom>
                <a:noFill/>
                <a:ln w="12700">
                  <a:solidFill>
                    <a:schemeClr val="tx1"/>
                  </a:solidFill>
                  <a:round/>
                  <a:headEnd type="triangle" w="lg" len="lg"/>
                  <a:tailEnd type="triangle" w="lg" len="lg"/>
                </a:ln>
              </p:spPr>
              <p:txBody>
                <a:bodyPr/>
                <a:lstStyle/>
                <a:p>
                  <a:endParaRPr lang="en-US"/>
                </a:p>
              </p:txBody>
            </p:sp>
            <p:sp>
              <p:nvSpPr>
                <p:cNvPr id="14346" name="Line 139"/>
                <p:cNvSpPr>
                  <a:spLocks noChangeShapeType="1"/>
                </p:cNvSpPr>
                <p:nvPr/>
              </p:nvSpPr>
              <p:spPr bwMode="auto">
                <a:xfrm>
                  <a:off x="4572000" y="4114800"/>
                  <a:ext cx="914400" cy="0"/>
                </a:xfrm>
                <a:prstGeom prst="line">
                  <a:avLst/>
                </a:prstGeom>
                <a:noFill/>
                <a:ln w="12700">
                  <a:solidFill>
                    <a:schemeClr val="tx1"/>
                  </a:solidFill>
                  <a:round/>
                  <a:headEnd type="triangle" w="lg" len="lg"/>
                  <a:tailEnd type="triangle" w="lg" len="lg"/>
                </a:ln>
              </p:spPr>
              <p:txBody>
                <a:bodyPr/>
                <a:lstStyle/>
                <a:p>
                  <a:endParaRPr lang="en-US"/>
                </a:p>
              </p:txBody>
            </p:sp>
            <p:sp>
              <p:nvSpPr>
                <p:cNvPr id="14347" name="Line 140"/>
                <p:cNvSpPr>
                  <a:spLocks noChangeShapeType="1"/>
                </p:cNvSpPr>
                <p:nvPr/>
              </p:nvSpPr>
              <p:spPr bwMode="auto">
                <a:xfrm>
                  <a:off x="4572000" y="5410200"/>
                  <a:ext cx="914400" cy="0"/>
                </a:xfrm>
                <a:prstGeom prst="line">
                  <a:avLst/>
                </a:prstGeom>
                <a:noFill/>
                <a:ln w="12700">
                  <a:solidFill>
                    <a:schemeClr val="tx1"/>
                  </a:solidFill>
                  <a:round/>
                  <a:headEnd type="triangle" w="lg" len="lg"/>
                  <a:tailEnd type="triangle" w="lg" len="lg"/>
                </a:ln>
              </p:spPr>
              <p:txBody>
                <a:bodyPr/>
                <a:lstStyle/>
                <a:p>
                  <a:endParaRPr lang="en-US"/>
                </a:p>
              </p:txBody>
            </p:sp>
            <p:sp>
              <p:nvSpPr>
                <p:cNvPr id="14348" name="Text Box 141"/>
                <p:cNvSpPr txBox="1">
                  <a:spLocks noChangeArrowheads="1"/>
                </p:cNvSpPr>
                <p:nvPr/>
              </p:nvSpPr>
              <p:spPr bwMode="auto">
                <a:xfrm>
                  <a:off x="1828800" y="5334000"/>
                  <a:ext cx="2438400" cy="396875"/>
                </a:xfrm>
                <a:prstGeom prst="rect">
                  <a:avLst/>
                </a:prstGeom>
                <a:noFill/>
                <a:ln w="9525">
                  <a:noFill/>
                  <a:miter lim="800000"/>
                  <a:headEnd/>
                  <a:tailEnd/>
                </a:ln>
              </p:spPr>
              <p:txBody>
                <a:bodyPr>
                  <a:spAutoFit/>
                </a:bodyPr>
                <a:lstStyle/>
                <a:p>
                  <a:pPr>
                    <a:spcBef>
                      <a:spcPct val="50000"/>
                    </a:spcBef>
                  </a:pPr>
                  <a:r>
                    <a:rPr lang="en-GB" sz="2000">
                      <a:latin typeface="Arial Unicode MS" pitchFamily="34" charset="-128"/>
                    </a:rPr>
                    <a:t>Người chất vấn</a:t>
                  </a:r>
                </a:p>
              </p:txBody>
            </p:sp>
            <p:sp>
              <p:nvSpPr>
                <p:cNvPr id="14349" name="Text Box 142"/>
                <p:cNvSpPr txBox="1">
                  <a:spLocks noChangeArrowheads="1"/>
                </p:cNvSpPr>
                <p:nvPr/>
              </p:nvSpPr>
              <p:spPr bwMode="auto">
                <a:xfrm>
                  <a:off x="6781800" y="3810000"/>
                  <a:ext cx="1390650" cy="396875"/>
                </a:xfrm>
                <a:prstGeom prst="rect">
                  <a:avLst/>
                </a:prstGeom>
                <a:noFill/>
                <a:ln w="9525">
                  <a:noFill/>
                  <a:miter lim="800000"/>
                  <a:headEnd/>
                  <a:tailEnd/>
                </a:ln>
              </p:spPr>
              <p:txBody>
                <a:bodyPr>
                  <a:spAutoFit/>
                </a:bodyPr>
                <a:lstStyle/>
                <a:p>
                  <a:pPr>
                    <a:spcBef>
                      <a:spcPct val="50000"/>
                    </a:spcBef>
                  </a:pPr>
                  <a:r>
                    <a:rPr lang="en-GB" sz="2000">
                      <a:latin typeface="Arial Unicode MS" pitchFamily="34" charset="-128"/>
                    </a:rPr>
                    <a:t>Con người</a:t>
                  </a:r>
                </a:p>
              </p:txBody>
            </p:sp>
            <p:sp>
              <p:nvSpPr>
                <p:cNvPr id="14351" name="Text Box 144"/>
                <p:cNvSpPr txBox="1">
                  <a:spLocks noChangeArrowheads="1"/>
                </p:cNvSpPr>
                <p:nvPr/>
              </p:nvSpPr>
              <p:spPr bwMode="auto">
                <a:xfrm>
                  <a:off x="1981200" y="3352800"/>
                  <a:ext cx="2438400" cy="396875"/>
                </a:xfrm>
                <a:prstGeom prst="rect">
                  <a:avLst/>
                </a:prstGeom>
                <a:noFill/>
                <a:ln w="9525">
                  <a:noFill/>
                  <a:miter lim="800000"/>
                  <a:headEnd/>
                  <a:tailEnd/>
                </a:ln>
              </p:spPr>
              <p:txBody>
                <a:bodyPr>
                  <a:spAutoFit/>
                </a:bodyPr>
                <a:lstStyle/>
                <a:p>
                  <a:pPr>
                    <a:spcBef>
                      <a:spcPct val="50000"/>
                    </a:spcBef>
                  </a:pPr>
                  <a:r>
                    <a:rPr lang="en-GB" sz="2000">
                      <a:solidFill>
                        <a:srgbClr val="6600FF"/>
                      </a:solidFill>
                      <a:latin typeface="Arial Unicode MS" pitchFamily="34" charset="-128"/>
                    </a:rPr>
                    <a:t>Trò chơi mô phỏng</a:t>
                  </a:r>
                </a:p>
              </p:txBody>
            </p:sp>
          </p:grpSp>
        </p:grpSp>
      </p:grpSp>
    </p:spTree>
    <p:extLst>
      <p:ext uri="{BB962C8B-B14F-4D97-AF65-F5344CB8AC3E}">
        <p14:creationId xmlns:p14="http://schemas.microsoft.com/office/powerpoint/2010/main" val="323751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Turing Test: </a:t>
            </a:r>
            <a:r>
              <a:rPr lang="en-US">
                <a:solidFill>
                  <a:srgbClr val="FF0000"/>
                </a:solidFill>
              </a:rPr>
              <a:t>Thử tính thông minh</a:t>
            </a:r>
            <a:endParaRPr lang="en-US"/>
          </a:p>
        </p:txBody>
      </p:sp>
      <p:sp>
        <p:nvSpPr>
          <p:cNvPr id="3" name="Content Placeholder 2"/>
          <p:cNvSpPr>
            <a:spLocks noGrp="1"/>
          </p:cNvSpPr>
          <p:nvPr>
            <p:ph idx="1"/>
          </p:nvPr>
        </p:nvSpPr>
        <p:spPr/>
        <p:txBody>
          <a:bodyPr/>
          <a:lstStyle/>
          <a:p>
            <a:pPr>
              <a:lnSpc>
                <a:spcPct val="90000"/>
              </a:lnSpc>
            </a:pPr>
            <a:r>
              <a:rPr lang="en-US" sz="2400"/>
              <a:t>Ưu điểm</a:t>
            </a:r>
          </a:p>
          <a:p>
            <a:pPr lvl="1">
              <a:lnSpc>
                <a:spcPct val="90000"/>
              </a:lnSpc>
            </a:pPr>
            <a:r>
              <a:rPr lang="en-US" sz="1800"/>
              <a:t>Đem lại quan điểm khách quan về sự thông minh: Thông minh hay không thể hiện qua các trả lời của các câu hỏi</a:t>
            </a:r>
          </a:p>
          <a:p>
            <a:pPr lvl="1">
              <a:lnSpc>
                <a:spcPct val="90000"/>
              </a:lnSpc>
            </a:pPr>
            <a:r>
              <a:rPr lang="en-US" sz="1800"/>
              <a:t>Loại trừ các thành kiến: không thích công nhận tính thông minh của máy móc. </a:t>
            </a:r>
          </a:p>
          <a:p>
            <a:pPr>
              <a:lnSpc>
                <a:spcPct val="90000"/>
              </a:lnSpc>
            </a:pPr>
            <a:r>
              <a:rPr lang="en-US" sz="2400"/>
              <a:t>Khuyết điểm:</a:t>
            </a:r>
          </a:p>
          <a:p>
            <a:pPr lvl="1"/>
            <a:r>
              <a:rPr lang="en-US" sz="1800"/>
              <a:t>Phép thử tập trung vào các công việc biểu diển hoàn toàn bằng ký hiệu do đó làm mất một đặc tính rất quan trọng của máy tính là tính toán chính xác và hiệu quả</a:t>
            </a:r>
          </a:p>
          <a:p>
            <a:pPr lvl="1"/>
            <a:r>
              <a:rPr lang="en-US" sz="1800"/>
              <a:t>Không thử nghiệm được các khả năng tri giác và khéo léo</a:t>
            </a:r>
          </a:p>
          <a:p>
            <a:pPr lvl="1"/>
            <a:r>
              <a:rPr lang="en-US" sz="1800"/>
              <a:t>Giới hạn khả năng thông minh của máy tính theo khuôn mẫu con người. Nhưng con người chưa hẳn là thông minh hoàn hảo.</a:t>
            </a:r>
          </a:p>
          <a:p>
            <a:pPr lvl="1"/>
            <a:r>
              <a:rPr lang="en-US" sz="1800"/>
              <a:t>Không có một chỉ số rõ ràng định lượng cho sự thông minh. Phụ thuộc vào người tester.</a:t>
            </a:r>
          </a:p>
          <a:p>
            <a:endParaRPr lang="en-US"/>
          </a:p>
        </p:txBody>
      </p:sp>
    </p:spTree>
    <p:extLst>
      <p:ext uri="{BB962C8B-B14F-4D97-AF65-F5344CB8AC3E}">
        <p14:creationId xmlns:p14="http://schemas.microsoft.com/office/powerpoint/2010/main" val="330544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linds(horizontal)">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t>Tâm lý học</a:t>
            </a:r>
          </a:p>
          <a:p>
            <a:r>
              <a:rPr lang="en-US"/>
              <a:t>Ngôn ngữ học</a:t>
            </a:r>
          </a:p>
          <a:p>
            <a:r>
              <a:rPr lang="en-US"/>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endParaRPr lang="en-US"/>
          </a:p>
        </p:txBody>
      </p:sp>
    </p:spTree>
    <p:extLst>
      <p:ext uri="{BB962C8B-B14F-4D97-AF65-F5344CB8AC3E}">
        <p14:creationId xmlns:p14="http://schemas.microsoft.com/office/powerpoint/2010/main" val="232566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linds(horizontal)">
                                      <p:cBhvr>
                                        <p:cTn id="3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solidFill>
                  <a:srgbClr val="0070C0"/>
                </a:solidFill>
              </a:rPr>
              <a:t>Triết học</a:t>
            </a:r>
          </a:p>
          <a:p>
            <a:r>
              <a:rPr lang="en-US"/>
              <a:t>Toán học</a:t>
            </a:r>
          </a:p>
          <a:p>
            <a:r>
              <a:rPr lang="en-US"/>
              <a:t>Tâm lý học</a:t>
            </a:r>
          </a:p>
          <a:p>
            <a:r>
              <a:rPr lang="en-US"/>
              <a:t>Ngôn ngữ học</a:t>
            </a:r>
          </a:p>
          <a:p>
            <a:r>
              <a:rPr lang="en-US"/>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r>
              <a:rPr lang="vi-VN" sz="2400"/>
              <a:t>Ý thức là gì? Chúng được sinh ra như thế nào?</a:t>
            </a:r>
          </a:p>
          <a:p>
            <a:r>
              <a:rPr lang="vi-VN" sz="2400"/>
              <a:t>Logic, phương pháp suy luận.</a:t>
            </a:r>
          </a:p>
          <a:p>
            <a:r>
              <a:rPr lang="vi-VN" sz="2400"/>
              <a:t>Xuất hiện nghiên cứu về học tập, ngôn ngữ, suy luận.</a:t>
            </a:r>
          </a:p>
          <a:p>
            <a:endParaRPr lang="en-US"/>
          </a:p>
        </p:txBody>
      </p:sp>
    </p:spTree>
    <p:extLst>
      <p:ext uri="{BB962C8B-B14F-4D97-AF65-F5344CB8AC3E}">
        <p14:creationId xmlns:p14="http://schemas.microsoft.com/office/powerpoint/2010/main" val="3799416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solidFill>
                  <a:srgbClr val="0070C0"/>
                </a:solidFill>
              </a:rPr>
              <a:t>Toán học</a:t>
            </a:r>
          </a:p>
          <a:p>
            <a:r>
              <a:rPr lang="en-US"/>
              <a:t>Tâm lý học</a:t>
            </a:r>
          </a:p>
          <a:p>
            <a:r>
              <a:rPr lang="en-US"/>
              <a:t>Ngôn ngữ học</a:t>
            </a:r>
          </a:p>
          <a:p>
            <a:r>
              <a:rPr lang="en-US"/>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r>
              <a:rPr lang="vi-VN" sz="2400"/>
              <a:t>Các phương pháp biểu diễn và chứng minh hình thức.</a:t>
            </a:r>
          </a:p>
          <a:p>
            <a:r>
              <a:rPr lang="vi-VN" sz="2400"/>
              <a:t>Thuật toán, tính toán uớc lượng, lựa chọn quyết định,.</a:t>
            </a:r>
          </a:p>
          <a:p>
            <a:r>
              <a:rPr lang="vi-VN" sz="2400"/>
              <a:t>Xác suất.</a:t>
            </a:r>
          </a:p>
          <a:p>
            <a:endParaRPr lang="en-US"/>
          </a:p>
        </p:txBody>
      </p:sp>
    </p:spTree>
    <p:extLst>
      <p:ext uri="{BB962C8B-B14F-4D97-AF65-F5344CB8AC3E}">
        <p14:creationId xmlns:p14="http://schemas.microsoft.com/office/powerpoint/2010/main" val="2517730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solidFill>
                  <a:srgbClr val="0070C0"/>
                </a:solidFill>
              </a:rPr>
              <a:t>Tâm lý học</a:t>
            </a:r>
          </a:p>
          <a:p>
            <a:r>
              <a:rPr lang="en-US"/>
              <a:t>Ngôn ngữ học</a:t>
            </a:r>
          </a:p>
          <a:p>
            <a:r>
              <a:rPr lang="en-US"/>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r>
              <a:rPr lang="vi-VN" sz="2400"/>
              <a:t>Con người suy nghĩ và hành động như thế nào ?</a:t>
            </a:r>
          </a:p>
          <a:p>
            <a:r>
              <a:rPr lang="vi-VN" sz="2400"/>
              <a:t>Sự thích nghi.</a:t>
            </a:r>
          </a:p>
          <a:p>
            <a:r>
              <a:rPr lang="vi-VN" sz="2400"/>
              <a:t>Nhân thức và động cơ điều khiển.</a:t>
            </a:r>
          </a:p>
          <a:p>
            <a:r>
              <a:rPr lang="vi-VN" sz="2400"/>
              <a:t>Kỹ thuật thực nghiệm.</a:t>
            </a:r>
          </a:p>
          <a:p>
            <a:endParaRPr lang="en-US" sz="2400"/>
          </a:p>
        </p:txBody>
      </p:sp>
    </p:spTree>
    <p:extLst>
      <p:ext uri="{BB962C8B-B14F-4D97-AF65-F5344CB8AC3E}">
        <p14:creationId xmlns:p14="http://schemas.microsoft.com/office/powerpoint/2010/main" val="3983475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t>Tâm lý học</a:t>
            </a:r>
          </a:p>
          <a:p>
            <a:r>
              <a:rPr lang="en-US">
                <a:solidFill>
                  <a:srgbClr val="0070C0"/>
                </a:solidFill>
              </a:rPr>
              <a:t>Ngôn ngữ học</a:t>
            </a:r>
          </a:p>
          <a:p>
            <a:r>
              <a:rPr lang="en-US"/>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r>
              <a:rPr lang="en-US" sz="2400"/>
              <a:t>Biểu diễn tri thức.</a:t>
            </a:r>
          </a:p>
          <a:p>
            <a:r>
              <a:rPr lang="en-US" sz="2400"/>
              <a:t>Ngữ pháp.</a:t>
            </a:r>
          </a:p>
          <a:p>
            <a:endParaRPr lang="en-US"/>
          </a:p>
        </p:txBody>
      </p:sp>
    </p:spTree>
    <p:extLst>
      <p:ext uri="{BB962C8B-B14F-4D97-AF65-F5344CB8AC3E}">
        <p14:creationId xmlns:p14="http://schemas.microsoft.com/office/powerpoint/2010/main" val="1735267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t>Tâm lý học</a:t>
            </a:r>
          </a:p>
          <a:p>
            <a:r>
              <a:rPr lang="en-US"/>
              <a:t>Ngôn ngữ học</a:t>
            </a:r>
          </a:p>
          <a:p>
            <a:r>
              <a:rPr lang="en-US">
                <a:solidFill>
                  <a:srgbClr val="0070C0"/>
                </a:solidFill>
              </a:rPr>
              <a:t>Công nghệ máy tính</a:t>
            </a:r>
          </a:p>
          <a:p>
            <a:r>
              <a:rPr lang="en-US"/>
              <a:t>Điều khiển học</a:t>
            </a:r>
          </a:p>
          <a:p>
            <a:r>
              <a:rPr lang="en-US"/>
              <a:t>Kinh tế học</a:t>
            </a:r>
          </a:p>
        </p:txBody>
      </p:sp>
      <p:sp>
        <p:nvSpPr>
          <p:cNvPr id="5" name="Content Placeholder 4"/>
          <p:cNvSpPr>
            <a:spLocks noGrp="1"/>
          </p:cNvSpPr>
          <p:nvPr>
            <p:ph sz="half" idx="2"/>
          </p:nvPr>
        </p:nvSpPr>
        <p:spPr/>
        <p:txBody>
          <a:bodyPr/>
          <a:lstStyle/>
          <a:p>
            <a:r>
              <a:rPr lang="vi-VN" sz="2400"/>
              <a:t>Làm sao để có thể xây dựng máy tính hiệu quả?</a:t>
            </a:r>
          </a:p>
          <a:p>
            <a:r>
              <a:rPr lang="vi-VN" sz="2400"/>
              <a:t>Xây dựng các hệ thống ngày càng mạnh mẽ.</a:t>
            </a:r>
          </a:p>
          <a:p>
            <a:endParaRPr lang="en-US"/>
          </a:p>
        </p:txBody>
      </p:sp>
    </p:spTree>
    <p:extLst>
      <p:ext uri="{BB962C8B-B14F-4D97-AF65-F5344CB8AC3E}">
        <p14:creationId xmlns:p14="http://schemas.microsoft.com/office/powerpoint/2010/main" val="251929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t>Tâm lý học</a:t>
            </a:r>
          </a:p>
          <a:p>
            <a:r>
              <a:rPr lang="en-US"/>
              <a:t>Ngôn ngữ học</a:t>
            </a:r>
          </a:p>
          <a:p>
            <a:r>
              <a:rPr lang="en-US"/>
              <a:t>Công nghệ máy tính</a:t>
            </a:r>
          </a:p>
          <a:p>
            <a:r>
              <a:rPr lang="en-US">
                <a:solidFill>
                  <a:srgbClr val="0070C0"/>
                </a:solidFill>
              </a:rPr>
              <a:t>Điều khiển học</a:t>
            </a:r>
          </a:p>
          <a:p>
            <a:r>
              <a:rPr lang="en-US"/>
              <a:t>Kinh tế học</a:t>
            </a:r>
          </a:p>
        </p:txBody>
      </p:sp>
      <p:sp>
        <p:nvSpPr>
          <p:cNvPr id="5" name="Content Placeholder 4"/>
          <p:cNvSpPr>
            <a:spLocks noGrp="1"/>
          </p:cNvSpPr>
          <p:nvPr>
            <p:ph sz="half" idx="2"/>
          </p:nvPr>
        </p:nvSpPr>
        <p:spPr/>
        <p:txBody>
          <a:bodyPr/>
          <a:lstStyle/>
          <a:p>
            <a:r>
              <a:rPr lang="vi-VN" sz="2400"/>
              <a:t>Các công cụ điều khiển hoạt động như thế nào?</a:t>
            </a:r>
          </a:p>
          <a:p>
            <a:r>
              <a:rPr lang="vi-VN" sz="2400"/>
              <a:t>Thiết kế các hệ thống tối đa hoá hàm mục tiêu theo thời gian</a:t>
            </a:r>
          </a:p>
          <a:p>
            <a:endParaRPr lang="en-US"/>
          </a:p>
        </p:txBody>
      </p:sp>
    </p:spTree>
    <p:extLst>
      <p:ext uri="{BB962C8B-B14F-4D97-AF65-F5344CB8AC3E}">
        <p14:creationId xmlns:p14="http://schemas.microsoft.com/office/powerpoint/2010/main" val="1030874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Nền tảng của AI</a:t>
            </a:r>
          </a:p>
        </p:txBody>
      </p:sp>
      <p:sp>
        <p:nvSpPr>
          <p:cNvPr id="4" name="Content Placeholder 3"/>
          <p:cNvSpPr>
            <a:spLocks noGrp="1"/>
          </p:cNvSpPr>
          <p:nvPr>
            <p:ph sz="half" idx="1"/>
          </p:nvPr>
        </p:nvSpPr>
        <p:spPr/>
        <p:txBody>
          <a:bodyPr/>
          <a:lstStyle/>
          <a:p>
            <a:r>
              <a:rPr lang="en-US"/>
              <a:t>Triết học</a:t>
            </a:r>
          </a:p>
          <a:p>
            <a:r>
              <a:rPr lang="en-US"/>
              <a:t>Toán học</a:t>
            </a:r>
          </a:p>
          <a:p>
            <a:r>
              <a:rPr lang="en-US"/>
              <a:t>Tâm lý học</a:t>
            </a:r>
          </a:p>
          <a:p>
            <a:r>
              <a:rPr lang="en-US"/>
              <a:t>Ngôn ngữ học</a:t>
            </a:r>
          </a:p>
          <a:p>
            <a:r>
              <a:rPr lang="en-US"/>
              <a:t>Công nghệ máy tính</a:t>
            </a:r>
          </a:p>
          <a:p>
            <a:r>
              <a:rPr lang="en-US"/>
              <a:t>Điều khiển học</a:t>
            </a:r>
          </a:p>
          <a:p>
            <a:r>
              <a:rPr lang="en-US">
                <a:solidFill>
                  <a:srgbClr val="0070C0"/>
                </a:solidFill>
              </a:rPr>
              <a:t>Kinh tế học</a:t>
            </a:r>
          </a:p>
        </p:txBody>
      </p:sp>
      <p:sp>
        <p:nvSpPr>
          <p:cNvPr id="5" name="Content Placeholder 4"/>
          <p:cNvSpPr>
            <a:spLocks noGrp="1"/>
          </p:cNvSpPr>
          <p:nvPr>
            <p:ph sz="half" idx="2"/>
          </p:nvPr>
        </p:nvSpPr>
        <p:spPr/>
        <p:txBody>
          <a:bodyPr/>
          <a:lstStyle/>
          <a:p>
            <a:r>
              <a:rPr lang="vi-VN"/>
              <a:t>Chúng ta quyết định như thế nào để tối đa hoá lợi nhuận?</a:t>
            </a:r>
          </a:p>
          <a:p>
            <a:r>
              <a:rPr lang="vi-VN"/>
              <a:t>Tính tiện ích, Leon Walras.</a:t>
            </a:r>
          </a:p>
          <a:p>
            <a:r>
              <a:rPr lang="vi-VN"/>
              <a:t>Lý thuyết quyết định, Lý thuyết trò chơi</a:t>
            </a:r>
          </a:p>
          <a:p>
            <a:endParaRPr lang="en-US"/>
          </a:p>
        </p:txBody>
      </p:sp>
    </p:spTree>
    <p:extLst>
      <p:ext uri="{BB962C8B-B14F-4D97-AF65-F5344CB8AC3E}">
        <p14:creationId xmlns:p14="http://schemas.microsoft.com/office/powerpoint/2010/main" val="3701673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Lịch sử của AI</a:t>
            </a:r>
          </a:p>
        </p:txBody>
      </p:sp>
      <p:sp>
        <p:nvSpPr>
          <p:cNvPr id="3" name="Content Placeholder 2"/>
          <p:cNvSpPr>
            <a:spLocks noGrp="1"/>
          </p:cNvSpPr>
          <p:nvPr>
            <p:ph idx="1"/>
          </p:nvPr>
        </p:nvSpPr>
        <p:spPr/>
        <p:txBody>
          <a:bodyPr/>
          <a:lstStyle/>
          <a:p>
            <a:r>
              <a:rPr lang="en-US"/>
              <a:t>“birth day”: Hội nghị ở Dartmouth College vào mùa hè 1956, do </a:t>
            </a:r>
            <a:r>
              <a:rPr lang="vi-VN"/>
              <a:t>Minsky và McCarthy tổ chức, và ở đây McCarthy đề xuất tên</a:t>
            </a:r>
            <a:r>
              <a:rPr lang="en-US"/>
              <a:t> gọi “artificial intelligence”. </a:t>
            </a:r>
          </a:p>
          <a:p>
            <a:endParaRPr lang="en-US"/>
          </a:p>
        </p:txBody>
      </p:sp>
      <p:pic>
        <p:nvPicPr>
          <p:cNvPr id="1026" name="Picture 2"/>
          <p:cNvPicPr>
            <a:picLocks noChangeAspect="1" noChangeArrowheads="1"/>
          </p:cNvPicPr>
          <p:nvPr/>
        </p:nvPicPr>
        <p:blipFill>
          <a:blip r:embed="rId3"/>
          <a:srcRect/>
          <a:stretch>
            <a:fillRect/>
          </a:stretch>
        </p:blipFill>
        <p:spPr bwMode="auto">
          <a:xfrm>
            <a:off x="2743199" y="3733800"/>
            <a:ext cx="5004303" cy="2514600"/>
          </a:xfrm>
          <a:prstGeom prst="rect">
            <a:avLst/>
          </a:prstGeom>
          <a:noFill/>
          <a:ln w="9525">
            <a:noFill/>
            <a:miter lim="800000"/>
            <a:headEnd/>
            <a:tailEnd/>
          </a:ln>
          <a:effectLst/>
        </p:spPr>
      </p:pic>
    </p:spTree>
    <p:extLst>
      <p:ext uri="{BB962C8B-B14F-4D97-AF65-F5344CB8AC3E}">
        <p14:creationId xmlns:p14="http://schemas.microsoft.com/office/powerpoint/2010/main" val="2067516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Lịch sử của AI 	</a:t>
            </a:r>
            <a:br>
              <a:rPr lang="en-US"/>
            </a:br>
            <a:r>
              <a:rPr lang="en-US"/>
              <a:t>		</a:t>
            </a:r>
            <a:r>
              <a:rPr lang="en-US" sz="2400">
                <a:solidFill>
                  <a:srgbClr val="C00000"/>
                </a:solidFill>
              </a:rPr>
              <a:t>Giai đoạn cổ điển</a:t>
            </a:r>
            <a:r>
              <a:rPr lang="vi-VN" sz="2400">
                <a:solidFill>
                  <a:srgbClr val="C00000"/>
                </a:solidFill>
              </a:rPr>
              <a:t> (1950 – 1965)</a:t>
            </a:r>
            <a:endParaRPr lang="en-US">
              <a:solidFill>
                <a:srgbClr val="C00000"/>
              </a:solidFill>
            </a:endParaRPr>
          </a:p>
        </p:txBody>
      </p:sp>
      <p:sp>
        <p:nvSpPr>
          <p:cNvPr id="3" name="Content Placeholder 2"/>
          <p:cNvSpPr>
            <a:spLocks noGrp="1"/>
          </p:cNvSpPr>
          <p:nvPr>
            <p:ph idx="1"/>
          </p:nvPr>
        </p:nvSpPr>
        <p:spPr>
          <a:xfrm>
            <a:off x="611560" y="1772816"/>
            <a:ext cx="8229600" cy="4525963"/>
          </a:xfrm>
        </p:spPr>
        <p:txBody>
          <a:bodyPr/>
          <a:lstStyle/>
          <a:p>
            <a:pPr>
              <a:spcBef>
                <a:spcPts val="1800"/>
              </a:spcBef>
            </a:pPr>
            <a:r>
              <a:rPr lang="vi-VN" sz="2600" dirty="0"/>
              <a:t>Đây là giai đoạn của 2 lĩnh vực chính:</a:t>
            </a:r>
            <a:endParaRPr lang="en-US" sz="2600" dirty="0"/>
          </a:p>
          <a:p>
            <a:pPr lvl="1">
              <a:spcBef>
                <a:spcPts val="1200"/>
              </a:spcBef>
            </a:pPr>
            <a:r>
              <a:rPr lang="vi-VN" sz="2600" dirty="0"/>
              <a:t>Game Playing (Trò chơi)</a:t>
            </a:r>
            <a:endParaRPr lang="en-US" sz="2600" dirty="0"/>
          </a:p>
          <a:p>
            <a:pPr lvl="1">
              <a:spcBef>
                <a:spcPts val="1200"/>
              </a:spcBef>
            </a:pPr>
            <a:r>
              <a:rPr lang="vi-VN" sz="2600" dirty="0"/>
              <a:t>Theorem Proving (Chứng minh định </a:t>
            </a:r>
            <a:r>
              <a:rPr lang="en-US" sz="2600" dirty="0"/>
              <a:t>l</a:t>
            </a:r>
            <a:r>
              <a:rPr lang="vi-VN" sz="2600" dirty="0"/>
              <a:t>ý)</a:t>
            </a:r>
          </a:p>
          <a:p>
            <a:pPr marL="571500" lvl="4">
              <a:spcBef>
                <a:spcPts val="1800"/>
              </a:spcBef>
              <a:buFont typeface="Wingdings" pitchFamily="2" charset="2"/>
              <a:buChar char="§"/>
            </a:pPr>
            <a:r>
              <a:rPr lang="vi-VN" dirty="0"/>
              <a:t>1960: MIT đưa ra LISP</a:t>
            </a:r>
          </a:p>
          <a:p>
            <a:pPr marL="571500" lvl="4">
              <a:spcBef>
                <a:spcPts val="1800"/>
              </a:spcBef>
              <a:buFont typeface="Wingdings" pitchFamily="2" charset="2"/>
              <a:buChar char="§"/>
            </a:pPr>
            <a:r>
              <a:rPr lang="vi-VN" dirty="0"/>
              <a:t>1961: Chương trình tính tích phân bất định </a:t>
            </a:r>
          </a:p>
          <a:p>
            <a:pPr marL="571500" lvl="4">
              <a:spcBef>
                <a:spcPts val="1800"/>
              </a:spcBef>
              <a:buFont typeface="Wingdings" pitchFamily="2" charset="2"/>
              <a:buChar char="§"/>
            </a:pPr>
            <a:r>
              <a:rPr lang="vi-VN" dirty="0"/>
              <a:t>1963: Chương trình chứng minh các định lý hình học không gian có  tên là “tương tự”, chương trình chơi cờ của Samuel.</a:t>
            </a:r>
            <a:endParaRPr lang="en-US" dirty="0"/>
          </a:p>
          <a:p>
            <a:pPr marL="571500" lvl="4">
              <a:spcBef>
                <a:spcPts val="1800"/>
              </a:spcBef>
              <a:buFont typeface="Wingdings" pitchFamily="2" charset="2"/>
              <a:buChar char="§"/>
            </a:pPr>
            <a:r>
              <a:rPr lang="en-US" dirty="0"/>
              <a:t>1964: </a:t>
            </a:r>
            <a:r>
              <a:rPr lang="en-US" dirty="0" err="1"/>
              <a:t>Chương</a:t>
            </a:r>
            <a:r>
              <a:rPr lang="en-US" dirty="0"/>
              <a:t> </a:t>
            </a:r>
            <a:r>
              <a:rPr lang="en-US" dirty="0" err="1"/>
              <a:t>trình</a:t>
            </a:r>
            <a:r>
              <a:rPr lang="en-US" dirty="0"/>
              <a:t> </a:t>
            </a:r>
            <a:r>
              <a:rPr lang="en-US" dirty="0" err="1"/>
              <a:t>giải</a:t>
            </a:r>
            <a:r>
              <a:rPr lang="en-US" dirty="0"/>
              <a:t> </a:t>
            </a:r>
            <a:r>
              <a:rPr lang="en-US" dirty="0" err="1"/>
              <a:t>phương</a:t>
            </a:r>
            <a:r>
              <a:rPr lang="en-US" dirty="0"/>
              <a:t> </a:t>
            </a:r>
            <a:r>
              <a:rPr lang="en-US" dirty="0" err="1"/>
              <a:t>trình</a:t>
            </a:r>
            <a:r>
              <a:rPr lang="en-US" dirty="0"/>
              <a:t> </a:t>
            </a:r>
            <a:r>
              <a:rPr lang="en-US" dirty="0" err="1"/>
              <a:t>đại</a:t>
            </a:r>
            <a:r>
              <a:rPr lang="en-US" dirty="0"/>
              <a:t> </a:t>
            </a:r>
            <a:r>
              <a:rPr lang="en-US" dirty="0" err="1"/>
              <a:t>số</a:t>
            </a:r>
            <a:r>
              <a:rPr lang="en-US" dirty="0"/>
              <a:t> </a:t>
            </a:r>
            <a:r>
              <a:rPr lang="en-US" dirty="0" err="1"/>
              <a:t>sơ</a:t>
            </a:r>
            <a:r>
              <a:rPr lang="en-US" dirty="0"/>
              <a:t> </a:t>
            </a:r>
            <a:r>
              <a:rPr lang="en-US" dirty="0" err="1"/>
              <a:t>cấp</a:t>
            </a:r>
            <a:r>
              <a:rPr lang="en-US" dirty="0"/>
              <a:t>, </a:t>
            </a:r>
            <a:r>
              <a:rPr lang="en-US" dirty="0" err="1"/>
              <a:t>chương</a:t>
            </a:r>
            <a:r>
              <a:rPr lang="en-US" dirty="0"/>
              <a:t> </a:t>
            </a:r>
            <a:r>
              <a:rPr lang="en-US" dirty="0" err="1"/>
              <a:t>trình</a:t>
            </a:r>
            <a:r>
              <a:rPr lang="en-US" dirty="0"/>
              <a:t> </a:t>
            </a:r>
            <a:r>
              <a:rPr lang="en-US" dirty="0" err="1"/>
              <a:t>trợ</a:t>
            </a:r>
            <a:r>
              <a:rPr lang="en-US" dirty="0"/>
              <a:t> </a:t>
            </a:r>
            <a:r>
              <a:rPr lang="en-US" dirty="0" err="1"/>
              <a:t>giúp</a:t>
            </a:r>
            <a:r>
              <a:rPr lang="en-US" dirty="0"/>
              <a:t> ELIZA (</a:t>
            </a:r>
            <a:r>
              <a:rPr lang="en-US" dirty="0" err="1"/>
              <a:t>có</a:t>
            </a:r>
            <a:r>
              <a:rPr lang="en-US" dirty="0"/>
              <a:t> </a:t>
            </a:r>
            <a:r>
              <a:rPr lang="en-US" dirty="0" err="1"/>
              <a:t>khả</a:t>
            </a:r>
            <a:r>
              <a:rPr lang="en-US" dirty="0"/>
              <a:t> </a:t>
            </a:r>
            <a:r>
              <a:rPr lang="en-US" dirty="0" err="1"/>
              <a:t>năng</a:t>
            </a:r>
            <a:r>
              <a:rPr lang="en-US" dirty="0"/>
              <a:t> </a:t>
            </a:r>
            <a:r>
              <a:rPr lang="en-US" dirty="0" err="1"/>
              <a:t>làm</a:t>
            </a:r>
            <a:r>
              <a:rPr lang="en-US" dirty="0"/>
              <a:t> </a:t>
            </a:r>
            <a:r>
              <a:rPr lang="en-US" dirty="0" err="1"/>
              <a:t>việc</a:t>
            </a:r>
            <a:r>
              <a:rPr lang="en-US" dirty="0"/>
              <a:t> </a:t>
            </a:r>
            <a:r>
              <a:rPr lang="en-US" dirty="0" err="1"/>
              <a:t>giống</a:t>
            </a:r>
            <a:r>
              <a:rPr lang="en-US" dirty="0"/>
              <a:t> </a:t>
            </a:r>
            <a:r>
              <a:rPr lang="en-US" dirty="0" err="1"/>
              <a:t>như</a:t>
            </a:r>
            <a:r>
              <a:rPr lang="en-US" dirty="0"/>
              <a:t> </a:t>
            </a:r>
            <a:r>
              <a:rPr lang="en-US" dirty="0" err="1"/>
              <a:t>một</a:t>
            </a:r>
            <a:r>
              <a:rPr lang="en-US" dirty="0"/>
              <a:t> </a:t>
            </a:r>
            <a:r>
              <a:rPr lang="en-US" dirty="0" err="1"/>
              <a:t>chuyên</a:t>
            </a:r>
            <a:r>
              <a:rPr lang="en-US" dirty="0"/>
              <a:t> </a:t>
            </a:r>
            <a:r>
              <a:rPr lang="en-US" dirty="0" err="1"/>
              <a:t>gia</a:t>
            </a:r>
            <a:r>
              <a:rPr lang="en-US" dirty="0"/>
              <a:t> </a:t>
            </a:r>
            <a:r>
              <a:rPr lang="en-US" dirty="0" err="1"/>
              <a:t>phân</a:t>
            </a:r>
            <a:r>
              <a:rPr lang="en-US" dirty="0"/>
              <a:t> </a:t>
            </a:r>
            <a:r>
              <a:rPr lang="en-US" dirty="0" err="1"/>
              <a:t>tích</a:t>
            </a:r>
            <a:r>
              <a:rPr lang="en-US" dirty="0"/>
              <a:t> </a:t>
            </a:r>
            <a:r>
              <a:rPr lang="en-US" dirty="0" err="1"/>
              <a:t>tâm</a:t>
            </a:r>
            <a:r>
              <a:rPr lang="en-US" dirty="0"/>
              <a:t> </a:t>
            </a:r>
            <a:r>
              <a:rPr lang="en-US" dirty="0" err="1"/>
              <a:t>lý</a:t>
            </a:r>
            <a:r>
              <a:rPr lang="en-US" dirty="0"/>
              <a:t>).</a:t>
            </a:r>
          </a:p>
          <a:p>
            <a:pPr lvl="4">
              <a:spcBef>
                <a:spcPts val="1800"/>
              </a:spcBef>
            </a:pPr>
            <a:endParaRPr lang="vi-VN" dirty="0"/>
          </a:p>
          <a:p>
            <a:pPr>
              <a:spcBef>
                <a:spcPts val="1800"/>
              </a:spcBef>
            </a:pPr>
            <a:endParaRPr lang="en-US" dirty="0"/>
          </a:p>
        </p:txBody>
      </p:sp>
    </p:spTree>
    <p:extLst>
      <p:ext uri="{BB962C8B-B14F-4D97-AF65-F5344CB8AC3E}">
        <p14:creationId xmlns:p14="http://schemas.microsoft.com/office/powerpoint/2010/main" val="330184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336699"/>
                </a:solidFill>
              </a:rPr>
              <a:t>Lịch sử của AI 	</a:t>
            </a:r>
            <a:br>
              <a:rPr lang="en-US">
                <a:solidFill>
                  <a:srgbClr val="336699"/>
                </a:solidFill>
              </a:rPr>
            </a:br>
            <a:r>
              <a:rPr lang="en-US">
                <a:solidFill>
                  <a:srgbClr val="336699"/>
                </a:solidFill>
              </a:rPr>
              <a:t>		</a:t>
            </a:r>
            <a:r>
              <a:rPr lang="en-US" sz="2400">
                <a:solidFill>
                  <a:srgbClr val="C00000"/>
                </a:solidFill>
              </a:rPr>
              <a:t>Giai đoạn cổ điển</a:t>
            </a:r>
            <a:r>
              <a:rPr lang="vi-VN" sz="2400">
                <a:solidFill>
                  <a:srgbClr val="C00000"/>
                </a:solidFill>
              </a:rPr>
              <a:t> (1950 – 1965)</a:t>
            </a:r>
            <a:endParaRPr lang="en-US"/>
          </a:p>
        </p:txBody>
      </p:sp>
      <p:sp>
        <p:nvSpPr>
          <p:cNvPr id="3" name="Content Placeholder 2"/>
          <p:cNvSpPr>
            <a:spLocks noGrp="1"/>
          </p:cNvSpPr>
          <p:nvPr>
            <p:ph idx="1"/>
          </p:nvPr>
        </p:nvSpPr>
        <p:spPr/>
        <p:txBody>
          <a:bodyPr/>
          <a:lstStyle/>
          <a:p>
            <a:pPr>
              <a:spcBef>
                <a:spcPts val="1800"/>
              </a:spcBef>
            </a:pPr>
            <a:r>
              <a:rPr lang="vi-VN" sz="2600" dirty="0">
                <a:solidFill>
                  <a:srgbClr val="FF0000"/>
                </a:solidFill>
              </a:rPr>
              <a:t>Game Playing</a:t>
            </a:r>
            <a:r>
              <a:rPr lang="vi-VN" sz="2600" dirty="0"/>
              <a:t>: </a:t>
            </a:r>
            <a:r>
              <a:rPr lang="vi-VN" sz="2400" dirty="0"/>
              <a:t>kỹ thuật </a:t>
            </a:r>
            <a:r>
              <a:rPr lang="vi-VN" sz="2400" i="1" dirty="0"/>
              <a:t>State Space Search </a:t>
            </a:r>
            <a:r>
              <a:rPr lang="en-US" sz="2400" i="1" dirty="0"/>
              <a:t> </a:t>
            </a:r>
            <a:r>
              <a:rPr lang="en-US" sz="2400" dirty="0"/>
              <a:t>(</a:t>
            </a:r>
            <a:r>
              <a:rPr lang="en-US" sz="2400" i="1" dirty="0"/>
              <a:t> </a:t>
            </a:r>
            <a:r>
              <a:rPr lang="vi-VN" sz="2400" dirty="0"/>
              <a:t>State </a:t>
            </a:r>
            <a:r>
              <a:rPr lang="en-US" sz="2400" dirty="0"/>
              <a:t>- </a:t>
            </a:r>
            <a:r>
              <a:rPr lang="vi-VN" sz="2400" dirty="0"/>
              <a:t>tình huống của trò chơi</a:t>
            </a:r>
            <a:r>
              <a:rPr lang="en-US" sz="2400" dirty="0"/>
              <a:t>)</a:t>
            </a:r>
            <a:r>
              <a:rPr lang="vi-VN" sz="2400" dirty="0"/>
              <a:t>. Đáp án </a:t>
            </a:r>
            <a:r>
              <a:rPr lang="en-US" sz="2400" dirty="0"/>
              <a:t> </a:t>
            </a:r>
            <a:r>
              <a:rPr lang="vi-VN" sz="2400" dirty="0"/>
              <a:t>là trạng thái thắng hay con đường d</a:t>
            </a:r>
            <a:r>
              <a:rPr lang="en-US" sz="2400" dirty="0"/>
              <a:t>ẫ</a:t>
            </a:r>
            <a:r>
              <a:rPr lang="vi-VN" sz="2400" dirty="0"/>
              <a:t>n tới trạng thái thắng</a:t>
            </a:r>
            <a:r>
              <a:rPr lang="en-US" sz="2400" dirty="0"/>
              <a:t> </a:t>
            </a:r>
            <a:r>
              <a:rPr lang="en-US" sz="2400" dirty="0">
                <a:sym typeface="Wingdings" pitchFamily="2" charset="2"/>
              </a:rPr>
              <a:t></a:t>
            </a:r>
            <a:r>
              <a:rPr lang="vi-VN" sz="2400" dirty="0"/>
              <a:t> trò chơi loại đối kháng. </a:t>
            </a:r>
          </a:p>
          <a:p>
            <a:pPr>
              <a:spcBef>
                <a:spcPts val="1800"/>
              </a:spcBef>
            </a:pPr>
            <a:r>
              <a:rPr lang="vi-VN" sz="2600" dirty="0"/>
              <a:t>Có 2 kỹ thuật tìm kiếm cơ bản:</a:t>
            </a:r>
          </a:p>
          <a:p>
            <a:pPr lvl="1">
              <a:spcBef>
                <a:spcPts val="1800"/>
              </a:spcBef>
            </a:pPr>
            <a:r>
              <a:rPr lang="vi-VN" sz="2600" dirty="0"/>
              <a:t>Kỹ thuật generate and test : chỉ tìm được 1 đáp án/ chưa chắc tối ưu.</a:t>
            </a:r>
          </a:p>
          <a:p>
            <a:pPr lvl="1">
              <a:spcBef>
                <a:spcPts val="1800"/>
              </a:spcBef>
            </a:pPr>
            <a:r>
              <a:rPr lang="vi-VN" sz="2600" dirty="0"/>
              <a:t>Kỹ thuật Exhaustive search (vét cạn): Tìm tất cả các nghiệm, chọn lựa phương án tốt nhất.</a:t>
            </a:r>
            <a:r>
              <a:rPr lang="en-US" sz="2600" dirty="0"/>
              <a:t> </a:t>
            </a:r>
          </a:p>
          <a:p>
            <a:pPr lvl="1">
              <a:spcBef>
                <a:spcPts val="1800"/>
              </a:spcBef>
              <a:buNone/>
            </a:pPr>
            <a:r>
              <a:rPr lang="en-US" sz="2600" dirty="0">
                <a:sym typeface="Wingdings" pitchFamily="2" charset="2"/>
              </a:rPr>
              <a:t>					</a:t>
            </a:r>
            <a:r>
              <a:rPr lang="en-US" sz="2600" dirty="0">
                <a:solidFill>
                  <a:srgbClr val="FF0000"/>
                </a:solidFill>
                <a:sym typeface="Wingdings" pitchFamily="2" charset="2"/>
              </a:rPr>
              <a:t> </a:t>
            </a:r>
            <a:r>
              <a:rPr lang="en-US" sz="2600" dirty="0" err="1">
                <a:solidFill>
                  <a:srgbClr val="FF0000"/>
                </a:solidFill>
                <a:sym typeface="Wingdings" pitchFamily="2" charset="2"/>
              </a:rPr>
              <a:t>bùng</a:t>
            </a:r>
            <a:r>
              <a:rPr lang="en-US" sz="2600" dirty="0">
                <a:solidFill>
                  <a:srgbClr val="FF0000"/>
                </a:solidFill>
                <a:sym typeface="Wingdings" pitchFamily="2" charset="2"/>
              </a:rPr>
              <a:t> </a:t>
            </a:r>
            <a:r>
              <a:rPr lang="en-US" sz="2600" dirty="0" err="1">
                <a:solidFill>
                  <a:srgbClr val="FF0000"/>
                </a:solidFill>
                <a:sym typeface="Wingdings" pitchFamily="2" charset="2"/>
              </a:rPr>
              <a:t>nổ</a:t>
            </a:r>
            <a:r>
              <a:rPr lang="en-US" sz="2600" dirty="0">
                <a:solidFill>
                  <a:srgbClr val="FF0000"/>
                </a:solidFill>
                <a:sym typeface="Wingdings" pitchFamily="2" charset="2"/>
              </a:rPr>
              <a:t> </a:t>
            </a:r>
            <a:r>
              <a:rPr lang="en-US" sz="2600" dirty="0" err="1">
                <a:solidFill>
                  <a:srgbClr val="FF0000"/>
                </a:solidFill>
                <a:sym typeface="Wingdings" pitchFamily="2" charset="2"/>
              </a:rPr>
              <a:t>tổ</a:t>
            </a:r>
            <a:r>
              <a:rPr lang="en-US" sz="2600" dirty="0">
                <a:solidFill>
                  <a:srgbClr val="FF0000"/>
                </a:solidFill>
                <a:sym typeface="Wingdings" pitchFamily="2" charset="2"/>
              </a:rPr>
              <a:t> </a:t>
            </a:r>
            <a:r>
              <a:rPr lang="en-US" sz="2600" dirty="0" err="1">
                <a:solidFill>
                  <a:srgbClr val="FF0000"/>
                </a:solidFill>
                <a:sym typeface="Wingdings" pitchFamily="2" charset="2"/>
              </a:rPr>
              <a:t>hợp</a:t>
            </a:r>
            <a:endParaRPr lang="en-US" sz="2600" dirty="0">
              <a:solidFill>
                <a:srgbClr val="FF0000"/>
              </a:solidFill>
            </a:endParaRPr>
          </a:p>
        </p:txBody>
      </p:sp>
    </p:spTree>
    <p:extLst>
      <p:ext uri="{BB962C8B-B14F-4D97-AF65-F5344CB8AC3E}">
        <p14:creationId xmlns:p14="http://schemas.microsoft.com/office/powerpoint/2010/main" val="2535292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336699"/>
                </a:solidFill>
              </a:rPr>
              <a:t>Lịch sử của AI 	</a:t>
            </a:r>
            <a:br>
              <a:rPr lang="en-US">
                <a:solidFill>
                  <a:srgbClr val="336699"/>
                </a:solidFill>
              </a:rPr>
            </a:br>
            <a:r>
              <a:rPr lang="en-US">
                <a:solidFill>
                  <a:srgbClr val="336699"/>
                </a:solidFill>
              </a:rPr>
              <a:t>		</a:t>
            </a:r>
            <a:r>
              <a:rPr lang="en-US" sz="2400">
                <a:solidFill>
                  <a:srgbClr val="C00000"/>
                </a:solidFill>
              </a:rPr>
              <a:t>Giai đoạn cổ điển</a:t>
            </a:r>
            <a:r>
              <a:rPr lang="vi-VN" sz="2400">
                <a:solidFill>
                  <a:srgbClr val="C00000"/>
                </a:solidFill>
              </a:rPr>
              <a:t> (1950 – 1965)</a:t>
            </a:r>
            <a:endParaRPr lang="en-US"/>
          </a:p>
        </p:txBody>
      </p:sp>
      <p:sp>
        <p:nvSpPr>
          <p:cNvPr id="3" name="Content Placeholder 2"/>
          <p:cNvSpPr>
            <a:spLocks noGrp="1"/>
          </p:cNvSpPr>
          <p:nvPr>
            <p:ph idx="1"/>
          </p:nvPr>
        </p:nvSpPr>
        <p:spPr/>
        <p:txBody>
          <a:bodyPr/>
          <a:lstStyle/>
          <a:p>
            <a:pPr>
              <a:spcBef>
                <a:spcPts val="1800"/>
              </a:spcBef>
            </a:pPr>
            <a:r>
              <a:rPr lang="vi-VN" sz="2600" dirty="0">
                <a:solidFill>
                  <a:srgbClr val="FF0000"/>
                </a:solidFill>
              </a:rPr>
              <a:t>Theorem Proving</a:t>
            </a:r>
            <a:r>
              <a:rPr lang="vi-VN" sz="2600" dirty="0"/>
              <a:t>: dựa trên tập tiên đề cho trước, chương trình sẽ thực hiện chuỗi các suy di</a:t>
            </a:r>
            <a:r>
              <a:rPr lang="en-US" sz="2600" dirty="0"/>
              <a:t>ễ</a:t>
            </a:r>
            <a:r>
              <a:rPr lang="vi-VN" sz="2600" dirty="0"/>
              <a:t>n để đạt tới biểu thức cần chứng minh.</a:t>
            </a:r>
          </a:p>
          <a:p>
            <a:pPr marL="0" indent="0">
              <a:spcBef>
                <a:spcPts val="1800"/>
              </a:spcBef>
              <a:buNone/>
            </a:pPr>
            <a:r>
              <a:rPr lang="en-US" sz="2600" dirty="0"/>
              <a:t>	</a:t>
            </a:r>
            <a:r>
              <a:rPr lang="vi-VN" sz="2600" dirty="0"/>
              <a:t> </a:t>
            </a:r>
            <a:r>
              <a:rPr lang="en-US" sz="2000" dirty="0"/>
              <a:t>VD</a:t>
            </a:r>
            <a:r>
              <a:rPr lang="vi-VN" sz="2000" dirty="0"/>
              <a:t>: Chứng minh các định lý tự động, giải toán,... </a:t>
            </a:r>
          </a:p>
          <a:p>
            <a:pPr>
              <a:spcBef>
                <a:spcPts val="1800"/>
              </a:spcBef>
            </a:pPr>
            <a:r>
              <a:rPr lang="vi-VN" sz="2600" dirty="0"/>
              <a:t>Vẫn dựa trên kỹ thuật state space search nhưng khó khăn hơn do mức độ và quan hệ của các phép suy luận: song song, đồng thời, bắc cầu,..</a:t>
            </a:r>
          </a:p>
          <a:p>
            <a:pPr>
              <a:spcBef>
                <a:spcPts val="1800"/>
              </a:spcBef>
            </a:pPr>
            <a:endParaRPr lang="vi-VN" sz="2600" dirty="0"/>
          </a:p>
          <a:p>
            <a:pPr>
              <a:spcBef>
                <a:spcPts val="1800"/>
              </a:spcBef>
            </a:pPr>
            <a:endParaRPr lang="en-US" sz="2600" dirty="0"/>
          </a:p>
        </p:txBody>
      </p:sp>
    </p:spTree>
    <p:extLst>
      <p:ext uri="{BB962C8B-B14F-4D97-AF65-F5344CB8AC3E}">
        <p14:creationId xmlns:p14="http://schemas.microsoft.com/office/powerpoint/2010/main" val="2033415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336699"/>
                </a:solidFill>
              </a:rPr>
              <a:t>Lịch sử của AI 	</a:t>
            </a:r>
            <a:br>
              <a:rPr lang="en-US">
                <a:solidFill>
                  <a:srgbClr val="336699"/>
                </a:solidFill>
              </a:rPr>
            </a:br>
            <a:r>
              <a:rPr lang="en-US">
                <a:solidFill>
                  <a:srgbClr val="336699"/>
                </a:solidFill>
              </a:rPr>
              <a:t>		</a:t>
            </a:r>
            <a:r>
              <a:rPr lang="en-US" sz="2400">
                <a:solidFill>
                  <a:srgbClr val="C00000"/>
                </a:solidFill>
              </a:rPr>
              <a:t>Giai đoạn viễn vông (1965 – 1975)</a:t>
            </a:r>
            <a:endParaRPr lang="en-US"/>
          </a:p>
        </p:txBody>
      </p:sp>
      <p:sp>
        <p:nvSpPr>
          <p:cNvPr id="3" name="Content Placeholder 2"/>
          <p:cNvSpPr>
            <a:spLocks noGrp="1"/>
          </p:cNvSpPr>
          <p:nvPr>
            <p:ph idx="1"/>
          </p:nvPr>
        </p:nvSpPr>
        <p:spPr/>
        <p:txBody>
          <a:bodyPr/>
          <a:lstStyle/>
          <a:p>
            <a:pPr>
              <a:spcBef>
                <a:spcPts val="1800"/>
              </a:spcBef>
            </a:pPr>
            <a:r>
              <a:rPr lang="vi-VN" sz="2600" dirty="0"/>
              <a:t>Đây là giai đoạn phát triển với tham vọng làm cho máy hiểu được con người qua ngôn ngữ tự nhiên.</a:t>
            </a:r>
          </a:p>
          <a:p>
            <a:pPr>
              <a:spcBef>
                <a:spcPts val="1800"/>
              </a:spcBef>
            </a:pPr>
            <a:r>
              <a:rPr lang="vi-VN" sz="2600" dirty="0"/>
              <a:t>Các công trình nghiên cứu tập trung vào việc biểu di</a:t>
            </a:r>
            <a:r>
              <a:rPr lang="en-US" sz="2600" dirty="0"/>
              <a:t>ễ</a:t>
            </a:r>
            <a:r>
              <a:rPr lang="vi-VN" sz="2600" dirty="0"/>
              <a:t>n tri thức và phương thức giao tiếp giữa người &amp; máy bằng ngôn ngữ tự nhiên.</a:t>
            </a:r>
            <a:endParaRPr lang="en-US" sz="2600" dirty="0"/>
          </a:p>
          <a:p>
            <a:pPr>
              <a:spcBef>
                <a:spcPts val="1800"/>
              </a:spcBef>
            </a:pPr>
            <a:endParaRPr lang="en-US" dirty="0"/>
          </a:p>
          <a:p>
            <a:pPr lvl="4">
              <a:spcBef>
                <a:spcPts val="1800"/>
              </a:spcBef>
            </a:pPr>
            <a:r>
              <a:rPr lang="en-US" sz="2000" dirty="0"/>
              <a:t>1966: </a:t>
            </a:r>
            <a:r>
              <a:rPr lang="en-US" sz="2000" dirty="0" err="1"/>
              <a:t>Chương</a:t>
            </a:r>
            <a:r>
              <a:rPr lang="en-US" sz="2000" dirty="0"/>
              <a:t> </a:t>
            </a:r>
            <a:r>
              <a:rPr lang="en-US" sz="2000" dirty="0" err="1"/>
              <a:t>trình</a:t>
            </a:r>
            <a:r>
              <a:rPr lang="en-US" sz="2000" dirty="0"/>
              <a:t> </a:t>
            </a:r>
            <a:r>
              <a:rPr lang="en-US" sz="2000" dirty="0" err="1"/>
              <a:t>phân</a:t>
            </a:r>
            <a:r>
              <a:rPr lang="en-US" sz="2000" dirty="0"/>
              <a:t> </a:t>
            </a:r>
            <a:r>
              <a:rPr lang="en-US" sz="2000" dirty="0" err="1"/>
              <a:t>tích</a:t>
            </a:r>
            <a:r>
              <a:rPr lang="en-US" sz="2000" dirty="0"/>
              <a:t> </a:t>
            </a:r>
            <a:r>
              <a:rPr lang="en-US" sz="2000" dirty="0" err="1"/>
              <a:t>và</a:t>
            </a:r>
            <a:r>
              <a:rPr lang="en-US" sz="2000" dirty="0"/>
              <a:t> </a:t>
            </a:r>
            <a:r>
              <a:rPr lang="en-US" sz="2000" dirty="0" err="1"/>
              <a:t>tổng</a:t>
            </a:r>
            <a:r>
              <a:rPr lang="en-US" sz="2000" dirty="0"/>
              <a:t> </a:t>
            </a:r>
            <a:r>
              <a:rPr lang="en-US" sz="2000" dirty="0" err="1"/>
              <a:t>hợp</a:t>
            </a:r>
            <a:r>
              <a:rPr lang="en-US" sz="2000" dirty="0"/>
              <a:t> </a:t>
            </a:r>
            <a:r>
              <a:rPr lang="en-US" sz="2000" dirty="0" err="1"/>
              <a:t>tiếng</a:t>
            </a:r>
            <a:r>
              <a:rPr lang="en-US" sz="2000" dirty="0"/>
              <a:t> </a:t>
            </a:r>
            <a:r>
              <a:rPr lang="en-US" sz="2000" dirty="0" err="1"/>
              <a:t>nói</a:t>
            </a:r>
            <a:r>
              <a:rPr lang="en-US" sz="2000" dirty="0"/>
              <a:t> </a:t>
            </a:r>
          </a:p>
          <a:p>
            <a:pPr lvl="4">
              <a:spcBef>
                <a:spcPts val="1800"/>
              </a:spcBef>
            </a:pPr>
            <a:r>
              <a:rPr lang="en-US" sz="2000" dirty="0"/>
              <a:t>1968: </a:t>
            </a:r>
            <a:r>
              <a:rPr lang="en-US" sz="2000" dirty="0" err="1"/>
              <a:t>Chương</a:t>
            </a:r>
            <a:r>
              <a:rPr lang="en-US" sz="2000" dirty="0"/>
              <a:t> </a:t>
            </a:r>
            <a:r>
              <a:rPr lang="en-US" sz="2000" dirty="0" err="1"/>
              <a:t>trình</a:t>
            </a:r>
            <a:r>
              <a:rPr lang="en-US" sz="2000" dirty="0"/>
              <a:t> </a:t>
            </a:r>
            <a:r>
              <a:rPr lang="en-US" sz="2000" dirty="0" err="1"/>
              <a:t>học</a:t>
            </a:r>
            <a:r>
              <a:rPr lang="en-US" sz="2000" dirty="0"/>
              <a:t> </a:t>
            </a:r>
            <a:r>
              <a:rPr lang="en-US" sz="2000" dirty="0" err="1"/>
              <a:t>nói</a:t>
            </a:r>
            <a:r>
              <a:rPr lang="en-US" sz="2000" dirty="0"/>
              <a:t>, </a:t>
            </a:r>
            <a:r>
              <a:rPr lang="en-US" sz="2000" dirty="0" err="1"/>
              <a:t>chương</a:t>
            </a:r>
            <a:r>
              <a:rPr lang="en-US" sz="2000" dirty="0"/>
              <a:t> </a:t>
            </a:r>
            <a:r>
              <a:rPr lang="en-US" sz="2000" dirty="0" err="1"/>
              <a:t>trình</a:t>
            </a:r>
            <a:r>
              <a:rPr lang="en-US" sz="2000" dirty="0"/>
              <a:t> </a:t>
            </a:r>
            <a:r>
              <a:rPr lang="en-US" sz="2000" dirty="0" err="1"/>
              <a:t>nhận</a:t>
            </a:r>
            <a:r>
              <a:rPr lang="en-US" sz="2000" dirty="0"/>
              <a:t> </a:t>
            </a:r>
            <a:r>
              <a:rPr lang="en-US" sz="2000" dirty="0" err="1"/>
              <a:t>biết</a:t>
            </a:r>
            <a:r>
              <a:rPr lang="en-US" sz="2000" dirty="0"/>
              <a:t> </a:t>
            </a:r>
            <a:r>
              <a:rPr lang="en-US" sz="2000" dirty="0" err="1"/>
              <a:t>môi</a:t>
            </a:r>
            <a:r>
              <a:rPr lang="en-US" sz="2000" dirty="0"/>
              <a:t> </a:t>
            </a:r>
            <a:r>
              <a:rPr lang="en-US" sz="2000" dirty="0" err="1"/>
              <a:t>trường</a:t>
            </a:r>
            <a:r>
              <a:rPr lang="en-US" sz="2000" dirty="0"/>
              <a:t> </a:t>
            </a:r>
            <a:r>
              <a:rPr lang="en-US" sz="2000" dirty="0" err="1"/>
              <a:t>xung</a:t>
            </a:r>
            <a:r>
              <a:rPr lang="en-US" sz="2000" dirty="0"/>
              <a:t> </a:t>
            </a:r>
            <a:r>
              <a:rPr lang="en-US" sz="2000" dirty="0" err="1"/>
              <a:t>quanh</a:t>
            </a:r>
            <a:endParaRPr lang="en-US" sz="2000" dirty="0"/>
          </a:p>
          <a:p>
            <a:pPr lvl="4">
              <a:spcBef>
                <a:spcPts val="1800"/>
              </a:spcBef>
            </a:pPr>
            <a:r>
              <a:rPr lang="en-US" sz="2000" dirty="0" err="1"/>
              <a:t>Đầu</a:t>
            </a:r>
            <a:r>
              <a:rPr lang="en-US" sz="2000" dirty="0"/>
              <a:t> 70: Prolog</a:t>
            </a:r>
          </a:p>
          <a:p>
            <a:pPr>
              <a:spcBef>
                <a:spcPts val="1800"/>
              </a:spcBef>
            </a:pPr>
            <a:endParaRPr lang="vi-VN" dirty="0"/>
          </a:p>
          <a:p>
            <a:pPr>
              <a:spcBef>
                <a:spcPts val="1800"/>
              </a:spcBef>
            </a:pPr>
            <a:endParaRPr lang="en-US" dirty="0"/>
          </a:p>
        </p:txBody>
      </p:sp>
    </p:spTree>
    <p:extLst>
      <p:ext uri="{BB962C8B-B14F-4D97-AF65-F5344CB8AC3E}">
        <p14:creationId xmlns:p14="http://schemas.microsoft.com/office/powerpoint/2010/main" val="1124180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336699"/>
                </a:solidFill>
              </a:rPr>
              <a:t>Lịch sử của AI 	</a:t>
            </a:r>
            <a:br>
              <a:rPr lang="en-US">
                <a:solidFill>
                  <a:srgbClr val="336699"/>
                </a:solidFill>
              </a:rPr>
            </a:br>
            <a:r>
              <a:rPr lang="en-US">
                <a:solidFill>
                  <a:srgbClr val="336699"/>
                </a:solidFill>
              </a:rPr>
              <a:t>		</a:t>
            </a:r>
            <a:r>
              <a:rPr lang="en-US" sz="2400">
                <a:solidFill>
                  <a:srgbClr val="C00000"/>
                </a:solidFill>
              </a:rPr>
              <a:t>Giai đoạn viễn vông (1965 – 1975)</a:t>
            </a:r>
            <a:endParaRPr lang="en-US"/>
          </a:p>
        </p:txBody>
      </p:sp>
      <p:sp>
        <p:nvSpPr>
          <p:cNvPr id="3" name="Content Placeholder 2"/>
          <p:cNvSpPr>
            <a:spLocks noGrp="1"/>
          </p:cNvSpPr>
          <p:nvPr>
            <p:ph idx="1"/>
          </p:nvPr>
        </p:nvSpPr>
        <p:spPr/>
        <p:txBody>
          <a:bodyPr/>
          <a:lstStyle/>
          <a:p>
            <a:pPr>
              <a:spcBef>
                <a:spcPts val="1800"/>
              </a:spcBef>
            </a:pPr>
            <a:r>
              <a:rPr lang="vi-VN" sz="2600" dirty="0"/>
              <a:t>Kết quả không mấy khả quan nhưng cũng tìm ra được các phương thức biểu diễn tri thức vẫn còn được dùng đến ngày nay tuy chưa thật tốt như:</a:t>
            </a:r>
          </a:p>
          <a:p>
            <a:pPr lvl="5">
              <a:spcBef>
                <a:spcPts val="1800"/>
              </a:spcBef>
            </a:pPr>
            <a:r>
              <a:rPr lang="vi-VN" dirty="0"/>
              <a:t>Semantic Network (mạng ngữ nghĩa)</a:t>
            </a:r>
          </a:p>
          <a:p>
            <a:pPr lvl="5">
              <a:spcBef>
                <a:spcPts val="1800"/>
              </a:spcBef>
            </a:pPr>
            <a:r>
              <a:rPr lang="vi-VN" dirty="0"/>
              <a:t>Concept</a:t>
            </a:r>
            <a:r>
              <a:rPr lang="en-US" dirty="0" err="1"/>
              <a:t>ual</a:t>
            </a:r>
            <a:r>
              <a:rPr lang="vi-VN" dirty="0"/>
              <a:t> graph (đồ thị khái niệm)</a:t>
            </a:r>
          </a:p>
          <a:p>
            <a:pPr lvl="5">
              <a:spcBef>
                <a:spcPts val="1800"/>
              </a:spcBef>
            </a:pPr>
            <a:r>
              <a:rPr lang="vi-VN" dirty="0"/>
              <a:t>Frame (khung)</a:t>
            </a:r>
          </a:p>
          <a:p>
            <a:pPr lvl="5">
              <a:spcBef>
                <a:spcPts val="1800"/>
              </a:spcBef>
            </a:pPr>
            <a:r>
              <a:rPr lang="vi-VN" dirty="0"/>
              <a:t>Script (kịch bản)</a:t>
            </a:r>
          </a:p>
          <a:p>
            <a:endParaRPr lang="en-US" dirty="0"/>
          </a:p>
        </p:txBody>
      </p:sp>
    </p:spTree>
    <p:extLst>
      <p:ext uri="{BB962C8B-B14F-4D97-AF65-F5344CB8AC3E}">
        <p14:creationId xmlns:p14="http://schemas.microsoft.com/office/powerpoint/2010/main" val="1003817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336699"/>
                </a:solidFill>
              </a:rPr>
              <a:t>Lịch sử của AI 	</a:t>
            </a:r>
            <a:br>
              <a:rPr lang="en-US">
                <a:solidFill>
                  <a:srgbClr val="336699"/>
                </a:solidFill>
              </a:rPr>
            </a:br>
            <a:r>
              <a:rPr lang="en-US">
                <a:solidFill>
                  <a:srgbClr val="336699"/>
                </a:solidFill>
              </a:rPr>
              <a:t>		</a:t>
            </a:r>
            <a:r>
              <a:rPr lang="en-US" sz="2400">
                <a:solidFill>
                  <a:srgbClr val="C00000"/>
                </a:solidFill>
              </a:rPr>
              <a:t>Giai đoạn hiện đại (1975 - nay)</a:t>
            </a:r>
            <a:endParaRPr lang="en-US"/>
          </a:p>
        </p:txBody>
      </p:sp>
      <p:sp>
        <p:nvSpPr>
          <p:cNvPr id="3" name="Content Placeholder 2"/>
          <p:cNvSpPr>
            <a:spLocks noGrp="1"/>
          </p:cNvSpPr>
          <p:nvPr>
            <p:ph idx="1"/>
          </p:nvPr>
        </p:nvSpPr>
        <p:spPr/>
        <p:txBody>
          <a:bodyPr/>
          <a:lstStyle/>
          <a:p>
            <a:pPr>
              <a:spcBef>
                <a:spcPts val="1800"/>
              </a:spcBef>
            </a:pPr>
            <a:r>
              <a:rPr lang="vi-VN" sz="2600" dirty="0"/>
              <a:t>Xác định lại mục tiêu mang tính thực tiễn hơn của AI là:</a:t>
            </a:r>
          </a:p>
          <a:p>
            <a:pPr lvl="1">
              <a:spcBef>
                <a:spcPts val="1800"/>
              </a:spcBef>
            </a:pPr>
            <a:r>
              <a:rPr lang="vi-VN" sz="2000" dirty="0"/>
              <a:t>Tìm ra lời giải tốt nhất trong khoảng thời gian chấp nhận được. </a:t>
            </a:r>
          </a:p>
          <a:p>
            <a:pPr lvl="1">
              <a:spcBef>
                <a:spcPts val="1800"/>
              </a:spcBef>
            </a:pPr>
            <a:r>
              <a:rPr lang="vi-VN" sz="2000" dirty="0"/>
              <a:t>Không cầu toàn tìm ra lời giải tối ưu</a:t>
            </a:r>
          </a:p>
          <a:p>
            <a:pPr>
              <a:spcBef>
                <a:spcPts val="1800"/>
              </a:spcBef>
              <a:buNone/>
            </a:pPr>
            <a:r>
              <a:rPr lang="en-US" sz="2000" dirty="0">
                <a:sym typeface="Wingdings" pitchFamily="2" charset="2"/>
              </a:rPr>
              <a:t></a:t>
            </a:r>
            <a:r>
              <a:rPr lang="vi-VN" sz="2000" i="1" dirty="0"/>
              <a:t>Tinh thần </a:t>
            </a:r>
            <a:r>
              <a:rPr lang="vi-VN" sz="2000" i="1" dirty="0">
                <a:solidFill>
                  <a:srgbClr val="FF0000"/>
                </a:solidFill>
              </a:rPr>
              <a:t>HEURISTIC</a:t>
            </a:r>
            <a:r>
              <a:rPr lang="vi-VN" sz="2000" i="1" dirty="0"/>
              <a:t> ra đời và được áp dụng mạnh mẽ để khắc phục bùng nổ tổ hợp.</a:t>
            </a:r>
          </a:p>
          <a:p>
            <a:pPr>
              <a:spcBef>
                <a:spcPts val="1800"/>
              </a:spcBef>
            </a:pPr>
            <a:r>
              <a:rPr lang="vi-VN" sz="2600" dirty="0"/>
              <a:t>Khẳng định vai trò của tri thức đồng thời xác định 2 trở ngại lớn là </a:t>
            </a:r>
            <a:r>
              <a:rPr lang="vi-VN" sz="2600" dirty="0">
                <a:solidFill>
                  <a:srgbClr val="FF0000"/>
                </a:solidFill>
              </a:rPr>
              <a:t>biểu diển tri thức </a:t>
            </a:r>
            <a:r>
              <a:rPr lang="vi-VN" sz="2600" dirty="0"/>
              <a:t>và </a:t>
            </a:r>
            <a:r>
              <a:rPr lang="vi-VN" sz="2600" dirty="0">
                <a:solidFill>
                  <a:srgbClr val="FF0000"/>
                </a:solidFill>
              </a:rPr>
              <a:t>bùng nổ tổ hợp</a:t>
            </a:r>
            <a:r>
              <a:rPr lang="vi-VN" sz="2600" dirty="0"/>
              <a:t>.</a:t>
            </a:r>
          </a:p>
          <a:p>
            <a:pPr>
              <a:spcBef>
                <a:spcPts val="1800"/>
              </a:spcBef>
            </a:pPr>
            <a:r>
              <a:rPr lang="vi-VN" sz="2600" dirty="0"/>
              <a:t>Nêu cao vai trò của Heuristic nhưng cũng khẳng định tính khó khăn trong đánh giá heuristic.</a:t>
            </a:r>
          </a:p>
          <a:p>
            <a:pPr>
              <a:spcBef>
                <a:spcPts val="1800"/>
              </a:spcBef>
            </a:pPr>
            <a:endParaRPr lang="en-US" sz="2600" dirty="0"/>
          </a:p>
        </p:txBody>
      </p:sp>
    </p:spTree>
    <p:extLst>
      <p:ext uri="{BB962C8B-B14F-4D97-AF65-F5344CB8AC3E}">
        <p14:creationId xmlns:p14="http://schemas.microsoft.com/office/powerpoint/2010/main" val="407554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2"/>
          <p:cNvPicPr>
            <a:picLocks noChangeAspect="1" noChangeArrowheads="1"/>
          </p:cNvPicPr>
          <p:nvPr/>
        </p:nvPicPr>
        <p:blipFill>
          <a:blip r:embed="rId2"/>
          <a:srcRect/>
          <a:stretch>
            <a:fillRect/>
          </a:stretch>
        </p:blipFill>
        <p:spPr bwMode="auto">
          <a:xfrm>
            <a:off x="841375" y="455613"/>
            <a:ext cx="7516813" cy="5902325"/>
          </a:xfrm>
          <a:prstGeom prst="rect">
            <a:avLst/>
          </a:prstGeom>
          <a:noFill/>
          <a:ln w="9525">
            <a:noFill/>
            <a:miter lim="800000"/>
            <a:headEnd/>
            <a:tailEnd/>
          </a:ln>
        </p:spPr>
      </p:pic>
    </p:spTree>
    <p:extLst>
      <p:ext uri="{BB962C8B-B14F-4D97-AF65-F5344CB8AC3E}">
        <p14:creationId xmlns:p14="http://schemas.microsoft.com/office/powerpoint/2010/main" val="1769543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endParaRPr lang="en-US"/>
          </a:p>
        </p:txBody>
      </p:sp>
      <p:pic>
        <p:nvPicPr>
          <p:cNvPr id="24580" name="Picture 2"/>
          <p:cNvPicPr>
            <a:picLocks noGrp="1" noChangeAspect="1" noChangeArrowheads="1"/>
          </p:cNvPicPr>
          <p:nvPr>
            <p:ph idx="1"/>
          </p:nvPr>
        </p:nvPicPr>
        <p:blipFill>
          <a:blip r:embed="rId2"/>
          <a:srcRect/>
          <a:stretch>
            <a:fillRect/>
          </a:stretch>
        </p:blipFill>
        <p:spPr>
          <a:xfrm>
            <a:off x="1071563" y="285750"/>
            <a:ext cx="7440612" cy="5929313"/>
          </a:xfrm>
        </p:spPr>
      </p:pic>
    </p:spTree>
    <p:extLst>
      <p:ext uri="{BB962C8B-B14F-4D97-AF65-F5344CB8AC3E}">
        <p14:creationId xmlns:p14="http://schemas.microsoft.com/office/powerpoint/2010/main" val="1632288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endParaRPr lang="en-US"/>
          </a:p>
        </p:txBody>
      </p:sp>
      <p:sp>
        <p:nvSpPr>
          <p:cNvPr id="25603" name="Content Placeholder 2"/>
          <p:cNvSpPr>
            <a:spLocks noGrp="1"/>
          </p:cNvSpPr>
          <p:nvPr>
            <p:ph idx="1"/>
          </p:nvPr>
        </p:nvSpPr>
        <p:spPr/>
        <p:txBody>
          <a:bodyPr/>
          <a:lstStyle/>
          <a:p>
            <a:pPr eaLnBrk="1" hangingPunct="1"/>
            <a:endParaRPr lang="en-US"/>
          </a:p>
        </p:txBody>
      </p:sp>
      <p:pic>
        <p:nvPicPr>
          <p:cNvPr id="25605" name="Picture 2"/>
          <p:cNvPicPr>
            <a:picLocks noChangeAspect="1" noChangeArrowheads="1"/>
          </p:cNvPicPr>
          <p:nvPr/>
        </p:nvPicPr>
        <p:blipFill>
          <a:blip r:embed="rId2"/>
          <a:srcRect/>
          <a:stretch>
            <a:fillRect/>
          </a:stretch>
        </p:blipFill>
        <p:spPr bwMode="auto">
          <a:xfrm>
            <a:off x="762000" y="0"/>
            <a:ext cx="7710488" cy="5827713"/>
          </a:xfrm>
          <a:prstGeom prst="rect">
            <a:avLst/>
          </a:prstGeom>
          <a:noFill/>
          <a:ln w="9525">
            <a:noFill/>
            <a:miter lim="800000"/>
            <a:headEnd/>
            <a:tailEnd/>
          </a:ln>
        </p:spPr>
      </p:pic>
    </p:spTree>
    <p:extLst>
      <p:ext uri="{BB962C8B-B14F-4D97-AF65-F5344CB8AC3E}">
        <p14:creationId xmlns:p14="http://schemas.microsoft.com/office/powerpoint/2010/main" val="4237028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Một</a:t>
            </a:r>
            <a:r>
              <a:rPr lang="en-US" sz="3200" dirty="0"/>
              <a:t> </a:t>
            </a:r>
            <a:r>
              <a:rPr lang="en-US" sz="3200" dirty="0" err="1"/>
              <a:t>số</a:t>
            </a:r>
            <a:r>
              <a:rPr lang="en-US" sz="3200" dirty="0"/>
              <a:t> </a:t>
            </a:r>
            <a:r>
              <a:rPr lang="en-US" sz="3200" dirty="0" err="1"/>
              <a:t>hướng</a:t>
            </a:r>
            <a:r>
              <a:rPr lang="en-US" sz="3200" dirty="0"/>
              <a:t> </a:t>
            </a:r>
            <a:r>
              <a:rPr lang="en-US" sz="3200" dirty="0" err="1"/>
              <a:t>nghiên</a:t>
            </a:r>
            <a:r>
              <a:rPr lang="en-US" sz="3200" dirty="0"/>
              <a:t> </a:t>
            </a:r>
            <a:r>
              <a:rPr lang="en-US" sz="3200" dirty="0" err="1"/>
              <a:t>cứu</a:t>
            </a:r>
            <a:endParaRPr lang="en-US" sz="3200" dirty="0"/>
          </a:p>
        </p:txBody>
      </p:sp>
      <p:sp>
        <p:nvSpPr>
          <p:cNvPr id="3" name="Content Placeholder 2"/>
          <p:cNvSpPr>
            <a:spLocks noGrp="1"/>
          </p:cNvSpPr>
          <p:nvPr>
            <p:ph idx="1"/>
          </p:nvPr>
        </p:nvSpPr>
        <p:spPr>
          <a:xfrm>
            <a:off x="152400" y="1524000"/>
            <a:ext cx="8839200" cy="5334000"/>
          </a:xfrm>
        </p:spPr>
        <p:txBody>
          <a:bodyPr/>
          <a:lstStyle/>
          <a:p>
            <a:r>
              <a:rPr lang="en-US" sz="2400" dirty="0"/>
              <a:t>Heuristic algorithms</a:t>
            </a:r>
          </a:p>
          <a:p>
            <a:r>
              <a:rPr lang="en-US" sz="2400" dirty="0"/>
              <a:t>Knowledge representation</a:t>
            </a:r>
          </a:p>
          <a:p>
            <a:r>
              <a:rPr lang="en-US" sz="2400" dirty="0"/>
              <a:t>Automatic reasoning &amp; Theorem proving</a:t>
            </a:r>
          </a:p>
          <a:p>
            <a:r>
              <a:rPr lang="en-US" sz="2400" dirty="0">
                <a:solidFill>
                  <a:srgbClr val="0033CC"/>
                </a:solidFill>
              </a:rPr>
              <a:t>Problem solving &amp; heuristics</a:t>
            </a:r>
          </a:p>
          <a:p>
            <a:r>
              <a:rPr lang="en-US" sz="2400" dirty="0"/>
              <a:t>Language and Environment for </a:t>
            </a:r>
            <a:r>
              <a:rPr lang="en-US" sz="2400" dirty="0" err="1"/>
              <a:t>AI</a:t>
            </a:r>
            <a:r>
              <a:rPr lang="en-US" dirty="0" err="1"/>
              <a:t>:</a:t>
            </a:r>
            <a:r>
              <a:rPr lang="en-US" sz="2400" dirty="0" err="1">
                <a:solidFill>
                  <a:srgbClr val="0033CC"/>
                </a:solidFill>
              </a:rPr>
              <a:t>Phát</a:t>
            </a:r>
            <a:r>
              <a:rPr lang="en-US" sz="2400" dirty="0">
                <a:solidFill>
                  <a:srgbClr val="0033CC"/>
                </a:solidFill>
              </a:rPr>
              <a:t> </a:t>
            </a:r>
            <a:r>
              <a:rPr lang="en-US" sz="2400" dirty="0" err="1">
                <a:solidFill>
                  <a:srgbClr val="0033CC"/>
                </a:solidFill>
              </a:rPr>
              <a:t>triển</a:t>
            </a:r>
            <a:r>
              <a:rPr lang="en-US" sz="2400" dirty="0">
                <a:solidFill>
                  <a:srgbClr val="0033CC"/>
                </a:solidFill>
              </a:rPr>
              <a:t> </a:t>
            </a:r>
            <a:r>
              <a:rPr lang="en-US" sz="2400" dirty="0" err="1">
                <a:solidFill>
                  <a:srgbClr val="0033CC"/>
                </a:solidFill>
              </a:rPr>
              <a:t>công</a:t>
            </a:r>
            <a:r>
              <a:rPr lang="en-US" sz="2400" dirty="0">
                <a:solidFill>
                  <a:srgbClr val="0033CC"/>
                </a:solidFill>
              </a:rPr>
              <a:t> </a:t>
            </a:r>
            <a:r>
              <a:rPr lang="en-US" sz="2400" dirty="0" err="1">
                <a:solidFill>
                  <a:srgbClr val="0033CC"/>
                </a:solidFill>
              </a:rPr>
              <a:t>cụ</a:t>
            </a:r>
            <a:r>
              <a:rPr lang="en-US" sz="2400" dirty="0">
                <a:solidFill>
                  <a:srgbClr val="0033CC"/>
                </a:solidFill>
              </a:rPr>
              <a:t> </a:t>
            </a:r>
            <a:r>
              <a:rPr lang="en-US" sz="2400" dirty="0" err="1">
                <a:solidFill>
                  <a:srgbClr val="0033CC"/>
                </a:solidFill>
              </a:rPr>
              <a:t>và</a:t>
            </a:r>
            <a:r>
              <a:rPr lang="en-US" sz="2400" dirty="0">
                <a:solidFill>
                  <a:srgbClr val="0033CC"/>
                </a:solidFill>
              </a:rPr>
              <a:t> </a:t>
            </a:r>
            <a:r>
              <a:rPr lang="en-US" sz="2400" dirty="0" err="1">
                <a:solidFill>
                  <a:srgbClr val="0033CC"/>
                </a:solidFill>
              </a:rPr>
              <a:t>môi</a:t>
            </a:r>
            <a:r>
              <a:rPr lang="en-US" sz="2400" dirty="0">
                <a:solidFill>
                  <a:srgbClr val="0033CC"/>
                </a:solidFill>
              </a:rPr>
              <a:t> </a:t>
            </a:r>
            <a:r>
              <a:rPr lang="en-US" sz="2400" dirty="0" err="1">
                <a:solidFill>
                  <a:srgbClr val="0033CC"/>
                </a:solidFill>
              </a:rPr>
              <a:t>trường</a:t>
            </a:r>
            <a:r>
              <a:rPr lang="en-US" sz="2400" dirty="0">
                <a:solidFill>
                  <a:srgbClr val="0033CC"/>
                </a:solidFill>
              </a:rPr>
              <a:t> </a:t>
            </a:r>
            <a:r>
              <a:rPr lang="en-US" sz="2400" dirty="0" err="1">
                <a:solidFill>
                  <a:srgbClr val="0033CC"/>
                </a:solidFill>
              </a:rPr>
              <a:t>để</a:t>
            </a:r>
            <a:r>
              <a:rPr lang="en-US" sz="2400" dirty="0">
                <a:solidFill>
                  <a:srgbClr val="0033CC"/>
                </a:solidFill>
              </a:rPr>
              <a:t> </a:t>
            </a:r>
            <a:r>
              <a:rPr lang="en-US" sz="2400" dirty="0" err="1">
                <a:solidFill>
                  <a:srgbClr val="0033CC"/>
                </a:solidFill>
              </a:rPr>
              <a:t>xây</a:t>
            </a:r>
            <a:r>
              <a:rPr lang="en-US" sz="2400" dirty="0">
                <a:solidFill>
                  <a:srgbClr val="0033CC"/>
                </a:solidFill>
              </a:rPr>
              <a:t> </a:t>
            </a:r>
            <a:r>
              <a:rPr lang="en-US" sz="2400" dirty="0" err="1">
                <a:solidFill>
                  <a:srgbClr val="0033CC"/>
                </a:solidFill>
              </a:rPr>
              <a:t>dựng</a:t>
            </a:r>
            <a:r>
              <a:rPr lang="en-US" sz="2400" dirty="0">
                <a:solidFill>
                  <a:srgbClr val="0033CC"/>
                </a:solidFill>
              </a:rPr>
              <a:t> </a:t>
            </a:r>
            <a:r>
              <a:rPr lang="en-US" sz="2400" dirty="0" err="1">
                <a:solidFill>
                  <a:srgbClr val="0033CC"/>
                </a:solidFill>
              </a:rPr>
              <a:t>các</a:t>
            </a:r>
            <a:r>
              <a:rPr lang="en-US" sz="2400" dirty="0">
                <a:solidFill>
                  <a:srgbClr val="0033CC"/>
                </a:solidFill>
              </a:rPr>
              <a:t> </a:t>
            </a:r>
            <a:r>
              <a:rPr lang="en-US" sz="2400" dirty="0" err="1">
                <a:solidFill>
                  <a:srgbClr val="0033CC"/>
                </a:solidFill>
              </a:rPr>
              <a:t>ứng</a:t>
            </a:r>
            <a:r>
              <a:rPr lang="en-US" sz="2400" dirty="0">
                <a:solidFill>
                  <a:srgbClr val="0033CC"/>
                </a:solidFill>
              </a:rPr>
              <a:t> </a:t>
            </a:r>
            <a:r>
              <a:rPr lang="en-US" sz="2400" dirty="0" err="1">
                <a:solidFill>
                  <a:srgbClr val="0033CC"/>
                </a:solidFill>
              </a:rPr>
              <a:t>dụng</a:t>
            </a:r>
            <a:r>
              <a:rPr lang="en-US" sz="2400" dirty="0">
                <a:solidFill>
                  <a:srgbClr val="0033CC"/>
                </a:solidFill>
              </a:rPr>
              <a:t> AI.</a:t>
            </a:r>
          </a:p>
          <a:p>
            <a:r>
              <a:rPr lang="en-US" sz="2400" dirty="0"/>
              <a:t>Modeling Human </a:t>
            </a:r>
            <a:r>
              <a:rPr lang="en-US" sz="2400" dirty="0" err="1"/>
              <a:t>perfromance</a:t>
            </a:r>
            <a:r>
              <a:rPr lang="en-US" dirty="0"/>
              <a:t>:</a:t>
            </a:r>
            <a:r>
              <a:rPr lang="en-US" sz="2400" dirty="0">
                <a:solidFill>
                  <a:srgbClr val="0033CC"/>
                </a:solidFill>
              </a:rPr>
              <a:t> </a:t>
            </a:r>
            <a:r>
              <a:rPr lang="en-US" sz="2400" dirty="0" err="1">
                <a:solidFill>
                  <a:srgbClr val="0033CC"/>
                </a:solidFill>
              </a:rPr>
              <a:t>Nghiên</a:t>
            </a:r>
            <a:r>
              <a:rPr lang="en-US" sz="2400" dirty="0">
                <a:solidFill>
                  <a:srgbClr val="0033CC"/>
                </a:solidFill>
              </a:rPr>
              <a:t> </a:t>
            </a:r>
            <a:r>
              <a:rPr lang="en-US" sz="2400" dirty="0" err="1">
                <a:solidFill>
                  <a:srgbClr val="0033CC"/>
                </a:solidFill>
              </a:rPr>
              <a:t>cứu</a:t>
            </a:r>
            <a:r>
              <a:rPr lang="en-US" sz="2400" dirty="0">
                <a:solidFill>
                  <a:srgbClr val="0033CC"/>
                </a:solidFill>
              </a:rPr>
              <a:t> </a:t>
            </a:r>
            <a:r>
              <a:rPr lang="en-US" sz="2400" dirty="0" err="1">
                <a:solidFill>
                  <a:srgbClr val="0033CC"/>
                </a:solidFill>
              </a:rPr>
              <a:t>cơ</a:t>
            </a:r>
            <a:r>
              <a:rPr lang="en-US" sz="2400" dirty="0">
                <a:solidFill>
                  <a:srgbClr val="0033CC"/>
                </a:solidFill>
              </a:rPr>
              <a:t> </a:t>
            </a:r>
            <a:r>
              <a:rPr lang="en-US" sz="2400" dirty="0" err="1">
                <a:solidFill>
                  <a:srgbClr val="0033CC"/>
                </a:solidFill>
              </a:rPr>
              <a:t>chế</a:t>
            </a:r>
            <a:r>
              <a:rPr lang="en-US" sz="2400" dirty="0">
                <a:solidFill>
                  <a:srgbClr val="0033CC"/>
                </a:solidFill>
              </a:rPr>
              <a:t> </a:t>
            </a:r>
            <a:r>
              <a:rPr lang="en-US" sz="2400" dirty="0" err="1">
                <a:solidFill>
                  <a:srgbClr val="0033CC"/>
                </a:solidFill>
              </a:rPr>
              <a:t>tổ</a:t>
            </a:r>
            <a:r>
              <a:rPr lang="en-US" sz="2400" dirty="0">
                <a:solidFill>
                  <a:srgbClr val="0033CC"/>
                </a:solidFill>
              </a:rPr>
              <a:t> </a:t>
            </a:r>
            <a:r>
              <a:rPr lang="en-US" sz="2400" dirty="0" err="1">
                <a:solidFill>
                  <a:srgbClr val="0033CC"/>
                </a:solidFill>
              </a:rPr>
              <a:t>chức</a:t>
            </a:r>
            <a:r>
              <a:rPr lang="en-US" sz="2400" dirty="0">
                <a:solidFill>
                  <a:srgbClr val="0033CC"/>
                </a:solidFill>
              </a:rPr>
              <a:t> </a:t>
            </a:r>
            <a:r>
              <a:rPr lang="en-US" sz="2400" dirty="0" err="1">
                <a:solidFill>
                  <a:srgbClr val="0033CC"/>
                </a:solidFill>
              </a:rPr>
              <a:t>trí</a:t>
            </a:r>
            <a:r>
              <a:rPr lang="en-US" sz="2400" dirty="0">
                <a:solidFill>
                  <a:srgbClr val="0033CC"/>
                </a:solidFill>
              </a:rPr>
              <a:t> </a:t>
            </a:r>
            <a:r>
              <a:rPr lang="en-US" sz="2400" dirty="0" err="1">
                <a:solidFill>
                  <a:srgbClr val="0033CC"/>
                </a:solidFill>
              </a:rPr>
              <a:t>tuệ</a:t>
            </a:r>
            <a:r>
              <a:rPr lang="en-US" sz="2400" dirty="0">
                <a:solidFill>
                  <a:srgbClr val="0033CC"/>
                </a:solidFill>
              </a:rPr>
              <a:t> </a:t>
            </a:r>
            <a:r>
              <a:rPr lang="en-US" sz="2400" dirty="0" err="1">
                <a:solidFill>
                  <a:srgbClr val="0033CC"/>
                </a:solidFill>
              </a:rPr>
              <a:t>của</a:t>
            </a:r>
            <a:r>
              <a:rPr lang="en-US" sz="2400" dirty="0">
                <a:solidFill>
                  <a:srgbClr val="0033CC"/>
                </a:solidFill>
              </a:rPr>
              <a:t> con </a:t>
            </a:r>
            <a:r>
              <a:rPr lang="en-US" sz="2400" dirty="0" err="1">
                <a:solidFill>
                  <a:srgbClr val="0033CC"/>
                </a:solidFill>
              </a:rPr>
              <a:t>người</a:t>
            </a:r>
            <a:r>
              <a:rPr lang="en-US" sz="2400" dirty="0">
                <a:solidFill>
                  <a:srgbClr val="0033CC"/>
                </a:solidFill>
              </a:rPr>
              <a:t> </a:t>
            </a:r>
            <a:r>
              <a:rPr lang="en-US" sz="2400" dirty="0" err="1">
                <a:solidFill>
                  <a:srgbClr val="0033CC"/>
                </a:solidFill>
              </a:rPr>
              <a:t>để</a:t>
            </a:r>
            <a:r>
              <a:rPr lang="en-US" sz="2400" dirty="0">
                <a:solidFill>
                  <a:srgbClr val="0033CC"/>
                </a:solidFill>
              </a:rPr>
              <a:t> </a:t>
            </a:r>
            <a:r>
              <a:rPr lang="en-US" sz="2400" dirty="0" err="1">
                <a:solidFill>
                  <a:srgbClr val="0033CC"/>
                </a:solidFill>
              </a:rPr>
              <a:t>áp</a:t>
            </a:r>
            <a:r>
              <a:rPr lang="en-US" sz="2400" dirty="0">
                <a:solidFill>
                  <a:srgbClr val="0033CC"/>
                </a:solidFill>
              </a:rPr>
              <a:t> </a:t>
            </a:r>
            <a:r>
              <a:rPr lang="en-US" sz="2400" dirty="0" err="1">
                <a:solidFill>
                  <a:srgbClr val="0033CC"/>
                </a:solidFill>
              </a:rPr>
              <a:t>dụng</a:t>
            </a:r>
            <a:r>
              <a:rPr lang="en-US" sz="2400" dirty="0">
                <a:solidFill>
                  <a:srgbClr val="0033CC"/>
                </a:solidFill>
              </a:rPr>
              <a:t> </a:t>
            </a:r>
            <a:r>
              <a:rPr lang="en-US" sz="2400" dirty="0" err="1">
                <a:solidFill>
                  <a:srgbClr val="0033CC"/>
                </a:solidFill>
              </a:rPr>
              <a:t>cho</a:t>
            </a:r>
            <a:r>
              <a:rPr lang="en-US" sz="2400" dirty="0">
                <a:solidFill>
                  <a:srgbClr val="0033CC"/>
                </a:solidFill>
              </a:rPr>
              <a:t> </a:t>
            </a:r>
            <a:r>
              <a:rPr lang="en-US" sz="2400" dirty="0" err="1">
                <a:solidFill>
                  <a:srgbClr val="0033CC"/>
                </a:solidFill>
              </a:rPr>
              <a:t>máy</a:t>
            </a:r>
            <a:r>
              <a:rPr lang="en-US" sz="2400" dirty="0">
                <a:solidFill>
                  <a:srgbClr val="0033CC"/>
                </a:solidFill>
              </a:rPr>
              <a:t>.</a:t>
            </a:r>
          </a:p>
          <a:p>
            <a:r>
              <a:rPr lang="en-US" sz="2400" dirty="0"/>
              <a:t>Neural network / Parallel Distributed processing</a:t>
            </a:r>
            <a:r>
              <a:rPr lang="en-US" dirty="0"/>
              <a:t>:</a:t>
            </a:r>
            <a:r>
              <a:rPr lang="en-US" sz="2400" dirty="0">
                <a:solidFill>
                  <a:srgbClr val="0033CC"/>
                </a:solidFill>
              </a:rPr>
              <a:t> </a:t>
            </a:r>
            <a:r>
              <a:rPr lang="en-US" sz="2400" dirty="0" err="1">
                <a:solidFill>
                  <a:srgbClr val="0033CC"/>
                </a:solidFill>
              </a:rPr>
              <a:t>giải</a:t>
            </a:r>
            <a:r>
              <a:rPr lang="en-US" sz="2400" dirty="0">
                <a:solidFill>
                  <a:srgbClr val="0033CC"/>
                </a:solidFill>
              </a:rPr>
              <a:t> </a:t>
            </a:r>
            <a:r>
              <a:rPr lang="en-US" sz="2400" dirty="0" err="1">
                <a:solidFill>
                  <a:srgbClr val="0033CC"/>
                </a:solidFill>
              </a:rPr>
              <a:t>quyết</a:t>
            </a:r>
            <a:r>
              <a:rPr lang="en-US" sz="2400" dirty="0">
                <a:solidFill>
                  <a:srgbClr val="0033CC"/>
                </a:solidFill>
              </a:rPr>
              <a:t> </a:t>
            </a:r>
            <a:r>
              <a:rPr lang="en-US" sz="2400" dirty="0" err="1">
                <a:solidFill>
                  <a:srgbClr val="0033CC"/>
                </a:solidFill>
              </a:rPr>
              <a:t>vấn</a:t>
            </a:r>
            <a:r>
              <a:rPr lang="en-US" sz="2400" dirty="0">
                <a:solidFill>
                  <a:srgbClr val="0033CC"/>
                </a:solidFill>
              </a:rPr>
              <a:t> </a:t>
            </a:r>
            <a:r>
              <a:rPr lang="en-US" sz="2400" dirty="0" err="1">
                <a:solidFill>
                  <a:srgbClr val="0033CC"/>
                </a:solidFill>
              </a:rPr>
              <a:t>đề</a:t>
            </a:r>
            <a:r>
              <a:rPr lang="en-US" sz="2400" dirty="0">
                <a:solidFill>
                  <a:srgbClr val="0033CC"/>
                </a:solidFill>
              </a:rPr>
              <a:t> </a:t>
            </a:r>
            <a:r>
              <a:rPr lang="en-US" sz="2400" dirty="0" err="1">
                <a:solidFill>
                  <a:srgbClr val="0033CC"/>
                </a:solidFill>
              </a:rPr>
              <a:t>năng</a:t>
            </a:r>
            <a:r>
              <a:rPr lang="en-US" sz="2400" dirty="0">
                <a:solidFill>
                  <a:srgbClr val="0033CC"/>
                </a:solidFill>
              </a:rPr>
              <a:t> </a:t>
            </a:r>
            <a:r>
              <a:rPr lang="en-US" sz="2400" dirty="0" err="1">
                <a:solidFill>
                  <a:srgbClr val="0033CC"/>
                </a:solidFill>
              </a:rPr>
              <a:t>lực</a:t>
            </a:r>
            <a:r>
              <a:rPr lang="en-US" sz="2400" dirty="0">
                <a:solidFill>
                  <a:srgbClr val="0033CC"/>
                </a:solidFill>
              </a:rPr>
              <a:t> </a:t>
            </a:r>
            <a:r>
              <a:rPr lang="en-US" sz="2400" dirty="0" err="1">
                <a:solidFill>
                  <a:srgbClr val="0033CC"/>
                </a:solidFill>
              </a:rPr>
              <a:t>tính</a:t>
            </a:r>
            <a:r>
              <a:rPr lang="en-US" sz="2400" dirty="0">
                <a:solidFill>
                  <a:srgbClr val="0033CC"/>
                </a:solidFill>
              </a:rPr>
              <a:t> </a:t>
            </a:r>
            <a:r>
              <a:rPr lang="en-US" sz="2400" dirty="0" err="1">
                <a:solidFill>
                  <a:srgbClr val="0033CC"/>
                </a:solidFill>
              </a:rPr>
              <a:t>toán</a:t>
            </a:r>
            <a:r>
              <a:rPr lang="en-US" sz="2400" dirty="0">
                <a:solidFill>
                  <a:srgbClr val="0033CC"/>
                </a:solidFill>
              </a:rPr>
              <a:t> </a:t>
            </a:r>
            <a:r>
              <a:rPr lang="en-US" sz="2400" dirty="0" err="1">
                <a:solidFill>
                  <a:srgbClr val="0033CC"/>
                </a:solidFill>
              </a:rPr>
              <a:t>và</a:t>
            </a:r>
            <a:r>
              <a:rPr lang="en-US" sz="2400" dirty="0">
                <a:solidFill>
                  <a:srgbClr val="0033CC"/>
                </a:solidFill>
              </a:rPr>
              <a:t> </a:t>
            </a:r>
            <a:r>
              <a:rPr lang="en-US" sz="2400" dirty="0" err="1">
                <a:solidFill>
                  <a:srgbClr val="0033CC"/>
                </a:solidFill>
              </a:rPr>
              <a:t>tốc</a:t>
            </a:r>
            <a:r>
              <a:rPr lang="en-US" sz="2400" dirty="0">
                <a:solidFill>
                  <a:srgbClr val="0033CC"/>
                </a:solidFill>
              </a:rPr>
              <a:t> </a:t>
            </a:r>
            <a:r>
              <a:rPr lang="en-US" sz="2400" dirty="0" err="1">
                <a:solidFill>
                  <a:srgbClr val="0033CC"/>
                </a:solidFill>
              </a:rPr>
              <a:t>độ</a:t>
            </a:r>
            <a:r>
              <a:rPr lang="en-US" sz="2400" dirty="0">
                <a:solidFill>
                  <a:srgbClr val="0033CC"/>
                </a:solidFill>
              </a:rPr>
              <a:t> </a:t>
            </a:r>
            <a:r>
              <a:rPr lang="en-US" sz="2400" dirty="0" err="1">
                <a:solidFill>
                  <a:srgbClr val="0033CC"/>
                </a:solidFill>
              </a:rPr>
              <a:t>tính</a:t>
            </a:r>
            <a:r>
              <a:rPr lang="en-US" sz="2400" dirty="0">
                <a:solidFill>
                  <a:srgbClr val="0033CC"/>
                </a:solidFill>
              </a:rPr>
              <a:t> </a:t>
            </a:r>
            <a:r>
              <a:rPr lang="en-US" sz="2400" dirty="0" err="1">
                <a:solidFill>
                  <a:srgbClr val="0033CC"/>
                </a:solidFill>
              </a:rPr>
              <a:t>toán</a:t>
            </a:r>
            <a:r>
              <a:rPr lang="en-US" sz="2400" dirty="0">
                <a:solidFill>
                  <a:srgbClr val="0033CC"/>
                </a:solidFill>
              </a:rPr>
              <a:t> </a:t>
            </a:r>
            <a:r>
              <a:rPr lang="en-US" sz="2400" dirty="0" err="1">
                <a:solidFill>
                  <a:srgbClr val="0033CC"/>
                </a:solidFill>
              </a:rPr>
              <a:t>bằng</a:t>
            </a:r>
            <a:r>
              <a:rPr lang="en-US" sz="2400" dirty="0">
                <a:solidFill>
                  <a:srgbClr val="0033CC"/>
                </a:solidFill>
              </a:rPr>
              <a:t> </a:t>
            </a:r>
            <a:r>
              <a:rPr lang="en-US" sz="2400" dirty="0" err="1">
                <a:solidFill>
                  <a:srgbClr val="0033CC"/>
                </a:solidFill>
              </a:rPr>
              <a:t>kỹ</a:t>
            </a:r>
            <a:r>
              <a:rPr lang="en-US" sz="2400" dirty="0">
                <a:solidFill>
                  <a:srgbClr val="0033CC"/>
                </a:solidFill>
              </a:rPr>
              <a:t> </a:t>
            </a:r>
            <a:r>
              <a:rPr lang="en-US" sz="2400" dirty="0" err="1">
                <a:solidFill>
                  <a:srgbClr val="0033CC"/>
                </a:solidFill>
              </a:rPr>
              <a:t>thuật</a:t>
            </a:r>
            <a:r>
              <a:rPr lang="en-US" sz="2400" dirty="0">
                <a:solidFill>
                  <a:srgbClr val="0033CC"/>
                </a:solidFill>
              </a:rPr>
              <a:t> song song </a:t>
            </a:r>
            <a:r>
              <a:rPr lang="en-US" sz="2400" dirty="0" err="1">
                <a:solidFill>
                  <a:srgbClr val="0033CC"/>
                </a:solidFill>
              </a:rPr>
              <a:t>và</a:t>
            </a:r>
            <a:r>
              <a:rPr lang="en-US" sz="2400" dirty="0">
                <a:solidFill>
                  <a:srgbClr val="0033CC"/>
                </a:solidFill>
              </a:rPr>
              <a:t> </a:t>
            </a:r>
            <a:r>
              <a:rPr lang="en-US" sz="2400" dirty="0" err="1">
                <a:solidFill>
                  <a:srgbClr val="0033CC"/>
                </a:solidFill>
              </a:rPr>
              <a:t>mô</a:t>
            </a:r>
            <a:r>
              <a:rPr lang="en-US" sz="2400" dirty="0">
                <a:solidFill>
                  <a:srgbClr val="0033CC"/>
                </a:solidFill>
              </a:rPr>
              <a:t> </a:t>
            </a:r>
            <a:r>
              <a:rPr lang="en-US" sz="2400" dirty="0" err="1">
                <a:solidFill>
                  <a:srgbClr val="0033CC"/>
                </a:solidFill>
              </a:rPr>
              <a:t>phỏng</a:t>
            </a:r>
            <a:r>
              <a:rPr lang="en-US" sz="2400" dirty="0">
                <a:solidFill>
                  <a:srgbClr val="0033CC"/>
                </a:solidFill>
              </a:rPr>
              <a:t> </a:t>
            </a:r>
            <a:r>
              <a:rPr lang="en-US" sz="2400" dirty="0" err="1">
                <a:solidFill>
                  <a:srgbClr val="0033CC"/>
                </a:solidFill>
              </a:rPr>
              <a:t>mạng</a:t>
            </a:r>
            <a:r>
              <a:rPr lang="en-US" sz="2400" dirty="0">
                <a:solidFill>
                  <a:srgbClr val="0033CC"/>
                </a:solidFill>
              </a:rPr>
              <a:t> neuron.</a:t>
            </a:r>
          </a:p>
          <a:p>
            <a:endParaRPr lang="en-US" sz="2400" dirty="0">
              <a:solidFill>
                <a:srgbClr val="0033CC"/>
              </a:solidFill>
            </a:endParaRPr>
          </a:p>
          <a:p>
            <a:endParaRPr lang="en-US" dirty="0"/>
          </a:p>
        </p:txBody>
      </p:sp>
    </p:spTree>
    <p:extLst>
      <p:ext uri="{BB962C8B-B14F-4D97-AF65-F5344CB8AC3E}">
        <p14:creationId xmlns:p14="http://schemas.microsoft.com/office/powerpoint/2010/main" val="252532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927100"/>
          </a:xfrm>
        </p:spPr>
        <p:txBody>
          <a:bodyPr/>
          <a:lstStyle/>
          <a:p>
            <a:r>
              <a:rPr lang="en-US" sz="2800" dirty="0" err="1"/>
              <a:t>Một</a:t>
            </a:r>
            <a:r>
              <a:rPr lang="en-US" sz="2800" dirty="0"/>
              <a:t> </a:t>
            </a:r>
            <a:r>
              <a:rPr lang="en-US" sz="2800" dirty="0" err="1"/>
              <a:t>số</a:t>
            </a:r>
            <a:r>
              <a:rPr lang="en-US" sz="2800" dirty="0"/>
              <a:t> </a:t>
            </a:r>
            <a:r>
              <a:rPr lang="en-US" sz="2800" dirty="0" err="1"/>
              <a:t>hướng</a:t>
            </a:r>
            <a:r>
              <a:rPr lang="en-US" sz="2800" dirty="0"/>
              <a:t> </a:t>
            </a:r>
            <a:r>
              <a:rPr lang="en-US" sz="2800" dirty="0" err="1"/>
              <a:t>nghiên</a:t>
            </a:r>
            <a:r>
              <a:rPr lang="en-US" sz="2800" dirty="0"/>
              <a:t> </a:t>
            </a:r>
            <a:r>
              <a:rPr lang="en-US" sz="2800" dirty="0" err="1"/>
              <a:t>cứu</a:t>
            </a:r>
            <a:endParaRPr lang="en-US" sz="2800" dirty="0"/>
          </a:p>
        </p:txBody>
      </p:sp>
      <p:sp>
        <p:nvSpPr>
          <p:cNvPr id="3" name="Content Placeholder 2"/>
          <p:cNvSpPr>
            <a:spLocks noGrp="1"/>
          </p:cNvSpPr>
          <p:nvPr>
            <p:ph idx="1"/>
          </p:nvPr>
        </p:nvSpPr>
        <p:spPr>
          <a:xfrm>
            <a:off x="179512" y="1196752"/>
            <a:ext cx="8839200" cy="5334000"/>
          </a:xfrm>
        </p:spPr>
        <p:txBody>
          <a:bodyPr/>
          <a:lstStyle/>
          <a:p>
            <a:r>
              <a:rPr lang="en-US" sz="2400" dirty="0"/>
              <a:t>Game Playing</a:t>
            </a:r>
          </a:p>
          <a:p>
            <a:r>
              <a:rPr lang="en-US" sz="2400"/>
              <a:t>IIS, KBS</a:t>
            </a:r>
            <a:r>
              <a:rPr lang="en-US" sz="2400" dirty="0"/>
              <a:t>, IPS, DSS, </a:t>
            </a:r>
            <a:r>
              <a:rPr lang="en-US" altLang="vi-VN" sz="2400" dirty="0">
                <a:latin typeface="Times New Roman" panose="02020603050405020304" pitchFamily="18" charset="0"/>
              </a:rPr>
              <a:t>… </a:t>
            </a:r>
            <a:endParaRPr lang="en-US" sz="2400" dirty="0"/>
          </a:p>
          <a:p>
            <a:r>
              <a:rPr lang="en-US" sz="2400" dirty="0">
                <a:hlinkClick r:id="" action="ppaction://noaction"/>
              </a:rPr>
              <a:t>Expert System</a:t>
            </a:r>
            <a:r>
              <a:rPr lang="en-US" dirty="0">
                <a:hlinkClick r:id="" action="ppaction://noaction"/>
              </a:rPr>
              <a:t>:</a:t>
            </a:r>
            <a:r>
              <a:rPr lang="en-US" sz="2400" dirty="0">
                <a:solidFill>
                  <a:srgbClr val="0033CC"/>
                </a:solidFill>
                <a:hlinkClick r:id="" action="ppaction://noaction"/>
              </a:rPr>
              <a:t> </a:t>
            </a:r>
            <a:r>
              <a:rPr lang="en-US" sz="2400" dirty="0" err="1">
                <a:solidFill>
                  <a:srgbClr val="0033CC"/>
                </a:solidFill>
              </a:rPr>
              <a:t>là</a:t>
            </a:r>
            <a:r>
              <a:rPr lang="en-US" sz="2400" dirty="0">
                <a:solidFill>
                  <a:srgbClr val="0033CC"/>
                </a:solidFill>
              </a:rPr>
              <a:t> </a:t>
            </a:r>
            <a:r>
              <a:rPr lang="en-US" sz="2400" dirty="0" err="1">
                <a:solidFill>
                  <a:srgbClr val="0033CC"/>
                </a:solidFill>
              </a:rPr>
              <a:t>hướng</a:t>
            </a:r>
            <a:r>
              <a:rPr lang="en-US" sz="2400" dirty="0">
                <a:solidFill>
                  <a:srgbClr val="0033CC"/>
                </a:solidFill>
              </a:rPr>
              <a:t> </a:t>
            </a:r>
            <a:r>
              <a:rPr lang="en-US" sz="2400" dirty="0" err="1">
                <a:solidFill>
                  <a:srgbClr val="0033CC"/>
                </a:solidFill>
              </a:rPr>
              <a:t>phát</a:t>
            </a:r>
            <a:r>
              <a:rPr lang="en-US" sz="2400" dirty="0">
                <a:solidFill>
                  <a:srgbClr val="0033CC"/>
                </a:solidFill>
              </a:rPr>
              <a:t> </a:t>
            </a:r>
            <a:r>
              <a:rPr lang="en-US" sz="2400" dirty="0" err="1">
                <a:solidFill>
                  <a:srgbClr val="0033CC"/>
                </a:solidFill>
              </a:rPr>
              <a:t>triển</a:t>
            </a:r>
            <a:r>
              <a:rPr lang="en-US" sz="2400" dirty="0">
                <a:solidFill>
                  <a:srgbClr val="0033CC"/>
                </a:solidFill>
              </a:rPr>
              <a:t> </a:t>
            </a:r>
            <a:r>
              <a:rPr lang="en-US" sz="2400" dirty="0" err="1">
                <a:solidFill>
                  <a:srgbClr val="0033CC"/>
                </a:solidFill>
              </a:rPr>
              <a:t>mạnh</a:t>
            </a:r>
            <a:r>
              <a:rPr lang="en-US" sz="2400" dirty="0">
                <a:solidFill>
                  <a:srgbClr val="0033CC"/>
                </a:solidFill>
              </a:rPr>
              <a:t> </a:t>
            </a:r>
            <a:r>
              <a:rPr lang="en-US" sz="2400" dirty="0" err="1">
                <a:solidFill>
                  <a:srgbClr val="0033CC"/>
                </a:solidFill>
              </a:rPr>
              <a:t>mẽ</a:t>
            </a:r>
            <a:r>
              <a:rPr lang="en-US" sz="2400" dirty="0">
                <a:solidFill>
                  <a:srgbClr val="0033CC"/>
                </a:solidFill>
              </a:rPr>
              <a:t> </a:t>
            </a:r>
            <a:r>
              <a:rPr lang="en-US" sz="2400" dirty="0" err="1">
                <a:solidFill>
                  <a:srgbClr val="0033CC"/>
                </a:solidFill>
              </a:rPr>
              <a:t>nhất</a:t>
            </a:r>
            <a:r>
              <a:rPr lang="en-US" sz="2400" dirty="0">
                <a:solidFill>
                  <a:srgbClr val="0033CC"/>
                </a:solidFill>
              </a:rPr>
              <a:t> </a:t>
            </a:r>
            <a:r>
              <a:rPr lang="en-US" sz="2400" dirty="0" err="1">
                <a:solidFill>
                  <a:srgbClr val="0033CC"/>
                </a:solidFill>
              </a:rPr>
              <a:t>và</a:t>
            </a:r>
            <a:r>
              <a:rPr lang="en-US" sz="2400" dirty="0">
                <a:solidFill>
                  <a:srgbClr val="0033CC"/>
                </a:solidFill>
              </a:rPr>
              <a:t> </a:t>
            </a:r>
            <a:r>
              <a:rPr lang="en-US" sz="2400" dirty="0" err="1">
                <a:solidFill>
                  <a:srgbClr val="0033CC"/>
                </a:solidFill>
              </a:rPr>
              <a:t>có</a:t>
            </a:r>
            <a:r>
              <a:rPr lang="en-US" sz="2400" dirty="0">
                <a:solidFill>
                  <a:srgbClr val="0033CC"/>
                </a:solidFill>
              </a:rPr>
              <a:t> </a:t>
            </a:r>
            <a:r>
              <a:rPr lang="en-US" sz="2400" dirty="0" err="1">
                <a:solidFill>
                  <a:srgbClr val="0033CC"/>
                </a:solidFill>
              </a:rPr>
              <a:t>giá</a:t>
            </a:r>
            <a:r>
              <a:rPr lang="en-US" sz="2400" dirty="0">
                <a:solidFill>
                  <a:srgbClr val="0033CC"/>
                </a:solidFill>
              </a:rPr>
              <a:t> </a:t>
            </a:r>
            <a:r>
              <a:rPr lang="en-US" sz="2400" dirty="0" err="1">
                <a:solidFill>
                  <a:srgbClr val="0033CC"/>
                </a:solidFill>
              </a:rPr>
              <a:t>trị</a:t>
            </a:r>
            <a:r>
              <a:rPr lang="en-US" sz="2400" dirty="0">
                <a:solidFill>
                  <a:srgbClr val="0033CC"/>
                </a:solidFill>
              </a:rPr>
              <a:t> </a:t>
            </a:r>
            <a:r>
              <a:rPr lang="en-US" sz="2400" dirty="0" err="1">
                <a:solidFill>
                  <a:srgbClr val="0033CC"/>
                </a:solidFill>
              </a:rPr>
              <a:t>ứng</a:t>
            </a:r>
            <a:r>
              <a:rPr lang="en-US" sz="2400" dirty="0">
                <a:solidFill>
                  <a:srgbClr val="0033CC"/>
                </a:solidFill>
              </a:rPr>
              <a:t> </a:t>
            </a:r>
            <a:r>
              <a:rPr lang="en-US" sz="2400" dirty="0" err="1">
                <a:solidFill>
                  <a:srgbClr val="0033CC"/>
                </a:solidFill>
              </a:rPr>
              <a:t>dụng</a:t>
            </a:r>
            <a:r>
              <a:rPr lang="en-US" sz="2400" dirty="0">
                <a:solidFill>
                  <a:srgbClr val="0033CC"/>
                </a:solidFill>
              </a:rPr>
              <a:t> </a:t>
            </a:r>
            <a:r>
              <a:rPr lang="en-US" sz="2400" dirty="0" err="1">
                <a:solidFill>
                  <a:srgbClr val="0033CC"/>
                </a:solidFill>
              </a:rPr>
              <a:t>cao</a:t>
            </a:r>
            <a:r>
              <a:rPr lang="en-US" sz="2400" dirty="0">
                <a:solidFill>
                  <a:srgbClr val="0033CC"/>
                </a:solidFill>
              </a:rPr>
              <a:t> </a:t>
            </a:r>
            <a:r>
              <a:rPr lang="en-US" sz="2400" dirty="0" err="1">
                <a:solidFill>
                  <a:srgbClr val="0033CC"/>
                </a:solidFill>
              </a:rPr>
              <a:t>nhất</a:t>
            </a:r>
            <a:r>
              <a:rPr lang="en-US" sz="2400" dirty="0">
                <a:solidFill>
                  <a:srgbClr val="0033CC"/>
                </a:solidFill>
              </a:rPr>
              <a:t>.</a:t>
            </a:r>
          </a:p>
          <a:p>
            <a:pPr lvl="1"/>
            <a:r>
              <a:rPr lang="vi-VN" sz="1400" dirty="0"/>
              <a:t>DENDRAL (Stanford, 1960) dùng để phỏng đoán cấu trúc các phân tử hữu cơ từ công thức hóa học của chúng</a:t>
            </a:r>
          </a:p>
          <a:p>
            <a:pPr lvl="1"/>
            <a:r>
              <a:rPr lang="vi-VN" sz="1400" dirty="0"/>
              <a:t>MYCIN (Stanford, 1970) chẩn đoán và kê đơn điều trị cho bệnh</a:t>
            </a:r>
            <a:r>
              <a:rPr lang="en-US" sz="1400" dirty="0"/>
              <a:t> </a:t>
            </a:r>
            <a:r>
              <a:rPr lang="vi-VN" sz="1400" dirty="0"/>
              <a:t>nhiễm trùng máu</a:t>
            </a:r>
          </a:p>
          <a:p>
            <a:pPr lvl="1"/>
            <a:r>
              <a:rPr lang="vi-VN" sz="1400" dirty="0"/>
              <a:t>PROSPECTOR (MIT, 1979) xác định vị trí, loại quặng mỏ dựa trên thông tin địa lý</a:t>
            </a:r>
            <a:endParaRPr lang="en-US" sz="1400" dirty="0"/>
          </a:p>
          <a:p>
            <a:r>
              <a:rPr lang="en-US" sz="2400" dirty="0">
                <a:hlinkClick r:id="" action="ppaction://noaction"/>
              </a:rPr>
              <a:t>Planning &amp; Robotic</a:t>
            </a:r>
            <a:r>
              <a:rPr lang="en-US" dirty="0"/>
              <a:t>: </a:t>
            </a:r>
            <a:r>
              <a:rPr lang="en-US" sz="2400" dirty="0" err="1">
                <a:solidFill>
                  <a:srgbClr val="0033CC"/>
                </a:solidFill>
              </a:rPr>
              <a:t>các</a:t>
            </a:r>
            <a:r>
              <a:rPr lang="en-US" sz="2400" dirty="0">
                <a:solidFill>
                  <a:srgbClr val="0033CC"/>
                </a:solidFill>
              </a:rPr>
              <a:t> </a:t>
            </a:r>
            <a:r>
              <a:rPr lang="en-US" sz="2400" dirty="0" err="1">
                <a:solidFill>
                  <a:srgbClr val="0033CC"/>
                </a:solidFill>
              </a:rPr>
              <a:t>hệ</a:t>
            </a:r>
            <a:r>
              <a:rPr lang="en-US" sz="2400" dirty="0">
                <a:solidFill>
                  <a:srgbClr val="0033CC"/>
                </a:solidFill>
              </a:rPr>
              <a:t> </a:t>
            </a:r>
            <a:r>
              <a:rPr lang="en-US" sz="2400" dirty="0" err="1">
                <a:solidFill>
                  <a:srgbClr val="0033CC"/>
                </a:solidFill>
              </a:rPr>
              <a:t>thống</a:t>
            </a:r>
            <a:r>
              <a:rPr lang="en-US" sz="2400" dirty="0">
                <a:solidFill>
                  <a:srgbClr val="0033CC"/>
                </a:solidFill>
              </a:rPr>
              <a:t> </a:t>
            </a:r>
            <a:r>
              <a:rPr lang="en-US" sz="2400" dirty="0" err="1">
                <a:solidFill>
                  <a:srgbClr val="0033CC"/>
                </a:solidFill>
              </a:rPr>
              <a:t>dự</a:t>
            </a:r>
            <a:r>
              <a:rPr lang="en-US" sz="2400" dirty="0">
                <a:solidFill>
                  <a:srgbClr val="0033CC"/>
                </a:solidFill>
              </a:rPr>
              <a:t> </a:t>
            </a:r>
            <a:r>
              <a:rPr lang="en-US" sz="2400" dirty="0" err="1">
                <a:solidFill>
                  <a:srgbClr val="0033CC"/>
                </a:solidFill>
              </a:rPr>
              <a:t>báo</a:t>
            </a:r>
            <a:r>
              <a:rPr lang="en-US" sz="2400" dirty="0">
                <a:solidFill>
                  <a:srgbClr val="0033CC"/>
                </a:solidFill>
              </a:rPr>
              <a:t>, </a:t>
            </a:r>
            <a:r>
              <a:rPr lang="en-US" sz="2400" dirty="0" err="1">
                <a:solidFill>
                  <a:srgbClr val="0033CC"/>
                </a:solidFill>
              </a:rPr>
              <a:t>tự</a:t>
            </a:r>
            <a:r>
              <a:rPr lang="en-US" sz="2400" dirty="0">
                <a:solidFill>
                  <a:srgbClr val="0033CC"/>
                </a:solidFill>
              </a:rPr>
              <a:t> </a:t>
            </a:r>
            <a:r>
              <a:rPr lang="en-US" sz="2400" dirty="0" err="1">
                <a:solidFill>
                  <a:srgbClr val="0033CC"/>
                </a:solidFill>
              </a:rPr>
              <a:t>động</a:t>
            </a:r>
            <a:r>
              <a:rPr lang="en-US" sz="2400" dirty="0">
                <a:solidFill>
                  <a:srgbClr val="0033CC"/>
                </a:solidFill>
              </a:rPr>
              <a:t> </a:t>
            </a:r>
            <a:r>
              <a:rPr lang="en-US" sz="2400" dirty="0" err="1">
                <a:solidFill>
                  <a:srgbClr val="0033CC"/>
                </a:solidFill>
              </a:rPr>
              <a:t>hóa</a:t>
            </a:r>
            <a:endParaRPr lang="en-US" sz="2400" dirty="0">
              <a:solidFill>
                <a:srgbClr val="0033CC"/>
              </a:solidFill>
            </a:endParaRPr>
          </a:p>
          <a:p>
            <a:r>
              <a:rPr lang="en-US" sz="2400" dirty="0"/>
              <a:t>Natural Language Understanding &amp; Semantic </a:t>
            </a:r>
            <a:r>
              <a:rPr lang="en-US" sz="2400" dirty="0" err="1"/>
              <a:t>modelling</a:t>
            </a:r>
            <a:r>
              <a:rPr lang="en-US" sz="2400" dirty="0"/>
              <a:t>  - </a:t>
            </a:r>
            <a:r>
              <a:rPr lang="en-US" sz="2400" dirty="0">
                <a:solidFill>
                  <a:srgbClr val="0070C0"/>
                </a:solidFill>
                <a:hlinkClick r:id="" action="ppaction://noaction"/>
              </a:rPr>
              <a:t>Natural Language Processing</a:t>
            </a:r>
            <a:endParaRPr lang="en-US" sz="2400" dirty="0">
              <a:solidFill>
                <a:srgbClr val="0070C0"/>
              </a:solidFill>
            </a:endParaRPr>
          </a:p>
          <a:p>
            <a:r>
              <a:rPr lang="en-US" sz="2400" dirty="0"/>
              <a:t>Machine learning: </a:t>
            </a:r>
            <a:r>
              <a:rPr lang="en-US" sz="2400" dirty="0" err="1">
                <a:solidFill>
                  <a:srgbClr val="0033CC"/>
                </a:solidFill>
              </a:rPr>
              <a:t>Trang</a:t>
            </a:r>
            <a:r>
              <a:rPr lang="en-US" sz="2400" dirty="0">
                <a:solidFill>
                  <a:srgbClr val="0033CC"/>
                </a:solidFill>
              </a:rPr>
              <a:t> </a:t>
            </a:r>
            <a:r>
              <a:rPr lang="en-US" sz="2400" dirty="0" err="1">
                <a:solidFill>
                  <a:srgbClr val="0033CC"/>
                </a:solidFill>
              </a:rPr>
              <a:t>bị</a:t>
            </a:r>
            <a:r>
              <a:rPr lang="en-US" sz="2400" dirty="0">
                <a:solidFill>
                  <a:srgbClr val="0033CC"/>
                </a:solidFill>
              </a:rPr>
              <a:t> </a:t>
            </a:r>
            <a:r>
              <a:rPr lang="en-US" sz="2400" dirty="0" err="1">
                <a:solidFill>
                  <a:srgbClr val="0033CC"/>
                </a:solidFill>
              </a:rPr>
              <a:t>khả</a:t>
            </a:r>
            <a:r>
              <a:rPr lang="en-US" sz="2400" dirty="0">
                <a:solidFill>
                  <a:srgbClr val="0033CC"/>
                </a:solidFill>
              </a:rPr>
              <a:t> </a:t>
            </a:r>
            <a:r>
              <a:rPr lang="en-US" sz="2400" dirty="0" err="1">
                <a:solidFill>
                  <a:srgbClr val="0033CC"/>
                </a:solidFill>
              </a:rPr>
              <a:t>năng</a:t>
            </a:r>
            <a:r>
              <a:rPr lang="en-US" sz="2400" dirty="0">
                <a:solidFill>
                  <a:srgbClr val="0033CC"/>
                </a:solidFill>
              </a:rPr>
              <a:t> </a:t>
            </a:r>
            <a:r>
              <a:rPr lang="en-US" sz="2400" dirty="0" err="1">
                <a:solidFill>
                  <a:srgbClr val="0033CC"/>
                </a:solidFill>
              </a:rPr>
              <a:t>học</a:t>
            </a:r>
            <a:r>
              <a:rPr lang="en-US" sz="2400" dirty="0">
                <a:solidFill>
                  <a:srgbClr val="0033CC"/>
                </a:solidFill>
              </a:rPr>
              <a:t> </a:t>
            </a:r>
            <a:r>
              <a:rPr lang="en-US" sz="2400" dirty="0" err="1">
                <a:solidFill>
                  <a:srgbClr val="0033CC"/>
                </a:solidFill>
              </a:rPr>
              <a:t>tập</a:t>
            </a:r>
            <a:r>
              <a:rPr lang="en-US" sz="2400" dirty="0">
                <a:solidFill>
                  <a:srgbClr val="0033CC"/>
                </a:solidFill>
              </a:rPr>
              <a:t> </a:t>
            </a:r>
            <a:r>
              <a:rPr lang="en-US" sz="2400" dirty="0" err="1">
                <a:solidFill>
                  <a:srgbClr val="0033CC"/>
                </a:solidFill>
              </a:rPr>
              <a:t>để</a:t>
            </a:r>
            <a:r>
              <a:rPr lang="en-US" sz="2400" dirty="0">
                <a:solidFill>
                  <a:srgbClr val="0033CC"/>
                </a:solidFill>
              </a:rPr>
              <a:t> </a:t>
            </a:r>
            <a:r>
              <a:rPr lang="en-US" sz="2400" dirty="0" err="1">
                <a:solidFill>
                  <a:srgbClr val="0033CC"/>
                </a:solidFill>
              </a:rPr>
              <a:t>giải</a:t>
            </a:r>
            <a:r>
              <a:rPr lang="en-US" sz="2400" dirty="0">
                <a:solidFill>
                  <a:srgbClr val="0033CC"/>
                </a:solidFill>
              </a:rPr>
              <a:t> </a:t>
            </a:r>
            <a:r>
              <a:rPr lang="en-US" sz="2400" dirty="0" err="1">
                <a:solidFill>
                  <a:srgbClr val="0033CC"/>
                </a:solidFill>
              </a:rPr>
              <a:t>quyết</a:t>
            </a:r>
            <a:r>
              <a:rPr lang="en-US" sz="2400" dirty="0">
                <a:solidFill>
                  <a:srgbClr val="0033CC"/>
                </a:solidFill>
              </a:rPr>
              <a:t> </a:t>
            </a:r>
            <a:r>
              <a:rPr lang="en-US" sz="2400" dirty="0" err="1">
                <a:solidFill>
                  <a:srgbClr val="0033CC"/>
                </a:solidFill>
              </a:rPr>
              <a:t>vấn</a:t>
            </a:r>
            <a:r>
              <a:rPr lang="en-US" sz="2400" dirty="0">
                <a:solidFill>
                  <a:srgbClr val="0033CC"/>
                </a:solidFill>
              </a:rPr>
              <a:t> </a:t>
            </a:r>
            <a:r>
              <a:rPr lang="en-US" sz="2400" dirty="0" err="1">
                <a:solidFill>
                  <a:srgbClr val="0033CC"/>
                </a:solidFill>
              </a:rPr>
              <a:t>đề</a:t>
            </a:r>
            <a:r>
              <a:rPr lang="en-US" sz="2400" dirty="0">
                <a:solidFill>
                  <a:srgbClr val="0033CC"/>
                </a:solidFill>
              </a:rPr>
              <a:t> </a:t>
            </a:r>
            <a:r>
              <a:rPr lang="en-US" sz="2400" dirty="0" err="1">
                <a:solidFill>
                  <a:srgbClr val="0033CC"/>
                </a:solidFill>
              </a:rPr>
              <a:t>kho</a:t>
            </a:r>
            <a:r>
              <a:rPr lang="en-US" sz="2400" dirty="0">
                <a:solidFill>
                  <a:srgbClr val="0033CC"/>
                </a:solidFill>
              </a:rPr>
              <a:t> tri </a:t>
            </a:r>
            <a:r>
              <a:rPr lang="en-US" sz="2400" dirty="0" err="1">
                <a:solidFill>
                  <a:srgbClr val="0033CC"/>
                </a:solidFill>
              </a:rPr>
              <a:t>thức</a:t>
            </a:r>
            <a:endParaRPr lang="en-US" sz="2400" dirty="0">
              <a:solidFill>
                <a:srgbClr val="0033CC"/>
              </a:solidFill>
            </a:endParaRPr>
          </a:p>
          <a:p>
            <a:pPr marL="0" indent="0">
              <a:buNone/>
            </a:pPr>
            <a:endParaRPr lang="en-US" sz="2400" dirty="0">
              <a:solidFill>
                <a:srgbClr val="0033CC"/>
              </a:solidFill>
            </a:endParaRPr>
          </a:p>
          <a:p>
            <a:endParaRPr lang="en-US" dirty="0">
              <a:solidFill>
                <a:srgbClr val="0070C0"/>
              </a:solidFill>
            </a:endParaRPr>
          </a:p>
          <a:p>
            <a:endParaRPr lang="en-US" dirty="0">
              <a:solidFill>
                <a:srgbClr val="0033CC"/>
              </a:solidFill>
            </a:endParaRPr>
          </a:p>
          <a:p>
            <a:endParaRPr lang="en-US" dirty="0">
              <a:solidFill>
                <a:srgbClr val="0033CC"/>
              </a:solidFill>
            </a:endParaRPr>
          </a:p>
          <a:p>
            <a:endParaRPr lang="en-US" dirty="0"/>
          </a:p>
        </p:txBody>
      </p:sp>
    </p:spTree>
    <p:extLst>
      <p:ext uri="{BB962C8B-B14F-4D97-AF65-F5344CB8AC3E}">
        <p14:creationId xmlns:p14="http://schemas.microsoft.com/office/powerpoint/2010/main" val="196030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blinds(horizontal)">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3" name="Content Placeholder 2"/>
          <p:cNvSpPr>
            <a:spLocks noGrp="1"/>
          </p:cNvSpPr>
          <p:nvPr>
            <p:ph idx="1"/>
          </p:nvPr>
        </p:nvSpPr>
        <p:spPr/>
        <p:txBody>
          <a:bodyPr/>
          <a:lstStyle/>
          <a:p>
            <a:r>
              <a:rPr lang="en-US" dirty="0"/>
              <a:t>Fuzzy control system, </a:t>
            </a:r>
            <a:r>
              <a:rPr lang="en-US" dirty="0">
                <a:solidFill>
                  <a:srgbClr val="0033CC"/>
                </a:solidFill>
              </a:rPr>
              <a:t>…</a:t>
            </a:r>
          </a:p>
          <a:p>
            <a:r>
              <a:rPr lang="en-US" altLang="vi-VN" dirty="0">
                <a:latin typeface="Times New Roman" panose="02020603050405020304" pitchFamily="18" charset="0"/>
              </a:rPr>
              <a:t>Intelligent systems</a:t>
            </a:r>
          </a:p>
          <a:p>
            <a:r>
              <a:rPr lang="en-US" altLang="vi-VN" dirty="0">
                <a:latin typeface="Times New Roman" panose="02020603050405020304" pitchFamily="18" charset="0"/>
              </a:rPr>
              <a:t>Prediction, Forecasting</a:t>
            </a:r>
          </a:p>
          <a:p>
            <a:r>
              <a:rPr lang="en-US" altLang="vi-VN" dirty="0">
                <a:latin typeface="Times New Roman" panose="02020603050405020304" pitchFamily="18" charset="0"/>
              </a:rPr>
              <a:t>Distributed AI (Blackboard Architecture)</a:t>
            </a:r>
          </a:p>
          <a:p>
            <a:r>
              <a:rPr lang="en-US" altLang="vi-VN" dirty="0">
                <a:latin typeface="Times New Roman" panose="02020603050405020304" pitchFamily="18" charset="0"/>
              </a:rPr>
              <a:t>Semantic Web, SDB, DRS</a:t>
            </a:r>
          </a:p>
          <a:p>
            <a:r>
              <a:rPr lang="en-US" altLang="vi-VN" dirty="0">
                <a:latin typeface="Times New Roman" panose="02020603050405020304" pitchFamily="18" charset="0"/>
              </a:rPr>
              <a:t>Agents, MAS</a:t>
            </a:r>
          </a:p>
          <a:p>
            <a:endParaRPr lang="en-US" altLang="vi-VN" dirty="0">
              <a:latin typeface="Times New Roman" panose="02020603050405020304" pitchFamily="18" charset="0"/>
            </a:endParaRPr>
          </a:p>
          <a:p>
            <a:endParaRPr lang="vi-VN" dirty="0"/>
          </a:p>
        </p:txBody>
      </p:sp>
    </p:spTree>
    <p:extLst>
      <p:ext uri="{BB962C8B-B14F-4D97-AF65-F5344CB8AC3E}">
        <p14:creationId xmlns:p14="http://schemas.microsoft.com/office/powerpoint/2010/main" val="4191373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hướng</a:t>
            </a:r>
            <a:r>
              <a:rPr lang="en-US" dirty="0"/>
              <a:t> </a:t>
            </a:r>
            <a:r>
              <a:rPr lang="en-US" dirty="0" err="1"/>
              <a:t>ứng</a:t>
            </a:r>
            <a:r>
              <a:rPr lang="en-US" dirty="0"/>
              <a:t> </a:t>
            </a:r>
            <a:r>
              <a:rPr lang="en-US" dirty="0" err="1"/>
              <a:t>dụng</a:t>
            </a:r>
            <a:endParaRPr lang="vi-VN" dirty="0"/>
          </a:p>
        </p:txBody>
      </p:sp>
      <p:sp>
        <p:nvSpPr>
          <p:cNvPr id="3" name="Content Placeholder 2"/>
          <p:cNvSpPr>
            <a:spLocks noGrp="1"/>
          </p:cNvSpPr>
          <p:nvPr>
            <p:ph idx="1"/>
          </p:nvPr>
        </p:nvSpPr>
        <p:spPr/>
        <p:txBody>
          <a:bodyPr/>
          <a:lstStyle/>
          <a:p>
            <a:r>
              <a:rPr lang="en-US" dirty="0"/>
              <a:t>E-learning, e-education</a:t>
            </a:r>
          </a:p>
          <a:p>
            <a:r>
              <a:rPr lang="en-US" dirty="0"/>
              <a:t>E-Commerce</a:t>
            </a:r>
          </a:p>
          <a:p>
            <a:r>
              <a:rPr lang="en-US" dirty="0"/>
              <a:t>E-Government</a:t>
            </a:r>
          </a:p>
          <a:p>
            <a:r>
              <a:rPr lang="en-US" dirty="0"/>
              <a:t>Y </a:t>
            </a:r>
            <a:r>
              <a:rPr lang="en-US" dirty="0" err="1"/>
              <a:t>tế</a:t>
            </a:r>
            <a:endParaRPr lang="en-US" dirty="0"/>
          </a:p>
          <a:p>
            <a:r>
              <a:rPr lang="en-US" dirty="0" err="1"/>
              <a:t>Khoa</a:t>
            </a:r>
            <a:r>
              <a:rPr lang="en-US" dirty="0"/>
              <a:t> </a:t>
            </a:r>
            <a:r>
              <a:rPr lang="en-US" dirty="0" err="1"/>
              <a:t>học</a:t>
            </a:r>
            <a:r>
              <a:rPr lang="en-US" dirty="0"/>
              <a:t> </a:t>
            </a:r>
            <a:r>
              <a:rPr lang="en-US" dirty="0" err="1"/>
              <a:t>kỹ</a:t>
            </a:r>
            <a:r>
              <a:rPr lang="en-US" dirty="0"/>
              <a:t> </a:t>
            </a:r>
            <a:r>
              <a:rPr lang="en-US" dirty="0" err="1"/>
              <a:t>thuật</a:t>
            </a:r>
            <a:endParaRPr lang="en-US" dirty="0"/>
          </a:p>
          <a:p>
            <a:r>
              <a:rPr lang="en-US" dirty="0" err="1"/>
              <a:t>Kinh</a:t>
            </a:r>
            <a:r>
              <a:rPr lang="en-US" dirty="0"/>
              <a:t> </a:t>
            </a:r>
            <a:r>
              <a:rPr lang="en-US" dirty="0" err="1"/>
              <a:t>tế</a:t>
            </a:r>
            <a:r>
              <a:rPr lang="en-US" dirty="0"/>
              <a:t>, </a:t>
            </a:r>
            <a:r>
              <a:rPr lang="en-US" dirty="0" err="1"/>
              <a:t>quản</a:t>
            </a:r>
            <a:r>
              <a:rPr lang="en-US" dirty="0"/>
              <a:t> </a:t>
            </a:r>
            <a:r>
              <a:rPr lang="en-US" dirty="0" err="1"/>
              <a:t>trị</a:t>
            </a:r>
            <a:endParaRPr lang="en-US" dirty="0"/>
          </a:p>
          <a:p>
            <a:r>
              <a:rPr lang="en-US" dirty="0" err="1"/>
              <a:t>Điều</a:t>
            </a:r>
            <a:r>
              <a:rPr lang="en-US" dirty="0"/>
              <a:t> </a:t>
            </a:r>
            <a:r>
              <a:rPr lang="en-US" dirty="0" err="1"/>
              <a:t>khiển</a:t>
            </a:r>
            <a:r>
              <a:rPr lang="en-US" dirty="0"/>
              <a:t> </a:t>
            </a:r>
            <a:r>
              <a:rPr lang="en-US" dirty="0" err="1"/>
              <a:t>tự</a:t>
            </a:r>
            <a:r>
              <a:rPr lang="en-US" dirty="0"/>
              <a:t> </a:t>
            </a:r>
            <a:r>
              <a:rPr lang="en-US" dirty="0" err="1"/>
              <a:t>động</a:t>
            </a:r>
            <a:endParaRPr lang="en-US" dirty="0"/>
          </a:p>
          <a:p>
            <a:r>
              <a:rPr lang="en-US" dirty="0" err="1"/>
              <a:t>v</a:t>
            </a:r>
            <a:r>
              <a:rPr lang="en-US"/>
              <a:t>.v</a:t>
            </a:r>
            <a:r>
              <a:rPr lang="en-US" dirty="0"/>
              <a:t>…</a:t>
            </a:r>
            <a:endParaRPr lang="vi-VN" dirty="0"/>
          </a:p>
        </p:txBody>
      </p:sp>
    </p:spTree>
    <p:extLst>
      <p:ext uri="{BB962C8B-B14F-4D97-AF65-F5344CB8AC3E}">
        <p14:creationId xmlns:p14="http://schemas.microsoft.com/office/powerpoint/2010/main" val="1456410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atin typeface="Times New Roman" pitchFamily="18" charset="0"/>
              </a:rPr>
              <a:t>Mô</a:t>
            </a:r>
            <a:r>
              <a:rPr lang="en-US"/>
              <a:t> </a:t>
            </a:r>
            <a:r>
              <a:rPr lang="en-US">
                <a:latin typeface="Times New Roman" pitchFamily="18" charset="0"/>
              </a:rPr>
              <a:t>hình</a:t>
            </a:r>
            <a:r>
              <a:rPr lang="en-US"/>
              <a:t> </a:t>
            </a:r>
            <a:r>
              <a:rPr lang="en-US">
                <a:latin typeface="Times New Roman" pitchFamily="18" charset="0"/>
              </a:rPr>
              <a:t>phát</a:t>
            </a:r>
            <a:r>
              <a:rPr lang="en-US"/>
              <a:t> </a:t>
            </a:r>
            <a:r>
              <a:rPr lang="en-US">
                <a:latin typeface="Times New Roman" pitchFamily="18" charset="0"/>
              </a:rPr>
              <a:t>triển</a:t>
            </a:r>
            <a:r>
              <a:rPr lang="en-US"/>
              <a:t> </a:t>
            </a:r>
            <a:r>
              <a:rPr lang="en-US">
                <a:latin typeface="Times New Roman" pitchFamily="18" charset="0"/>
              </a:rPr>
              <a:t>ứng</a:t>
            </a:r>
            <a:r>
              <a:rPr lang="en-US"/>
              <a:t> </a:t>
            </a:r>
            <a:r>
              <a:rPr lang="en-US">
                <a:latin typeface="Times New Roman" pitchFamily="18" charset="0"/>
              </a:rPr>
              <a:t>dụng</a:t>
            </a:r>
            <a:r>
              <a:rPr lang="en-US"/>
              <a:t> </a:t>
            </a:r>
            <a:r>
              <a:rPr lang="en-US">
                <a:latin typeface="Times New Roman" pitchFamily="18" charset="0"/>
              </a:rPr>
              <a:t>AI</a:t>
            </a:r>
          </a:p>
        </p:txBody>
      </p:sp>
      <p:sp>
        <p:nvSpPr>
          <p:cNvPr id="67587" name="Rectangle 3"/>
          <p:cNvSpPr>
            <a:spLocks noGrp="1" noChangeArrowheads="1"/>
          </p:cNvSpPr>
          <p:nvPr>
            <p:ph type="body" idx="1"/>
          </p:nvPr>
        </p:nvSpPr>
        <p:spPr>
          <a:xfrm>
            <a:off x="152400" y="1524000"/>
            <a:ext cx="8651631" cy="1214438"/>
          </a:xfrm>
        </p:spPr>
        <p:txBody>
          <a:bodyPr/>
          <a:lstStyle/>
          <a:p>
            <a:r>
              <a:rPr lang="en-US" sz="2000" dirty="0" err="1">
                <a:solidFill>
                  <a:srgbClr val="0033CC"/>
                </a:solidFill>
              </a:rPr>
              <a:t>Mô</a:t>
            </a:r>
            <a:r>
              <a:rPr lang="en-US" sz="2000" dirty="0">
                <a:solidFill>
                  <a:srgbClr val="0033CC"/>
                </a:solidFill>
              </a:rPr>
              <a:t> </a:t>
            </a:r>
            <a:r>
              <a:rPr lang="en-US" sz="2000" dirty="0" err="1">
                <a:solidFill>
                  <a:srgbClr val="0033CC"/>
                </a:solidFill>
              </a:rPr>
              <a:t>hình</a:t>
            </a:r>
            <a:r>
              <a:rPr lang="en-US" sz="2000" dirty="0">
                <a:solidFill>
                  <a:srgbClr val="0033CC"/>
                </a:solidFill>
              </a:rPr>
              <a:t> </a:t>
            </a:r>
            <a:r>
              <a:rPr lang="en-US" sz="2000" dirty="0" err="1">
                <a:solidFill>
                  <a:srgbClr val="0033CC"/>
                </a:solidFill>
              </a:rPr>
              <a:t>ứng</a:t>
            </a:r>
            <a:r>
              <a:rPr lang="en-US" sz="2000" dirty="0">
                <a:solidFill>
                  <a:srgbClr val="0033CC"/>
                </a:solidFill>
              </a:rPr>
              <a:t> </a:t>
            </a:r>
            <a:r>
              <a:rPr lang="en-US" sz="2000" dirty="0" err="1">
                <a:solidFill>
                  <a:srgbClr val="0033CC"/>
                </a:solidFill>
              </a:rPr>
              <a:t>dụng</a:t>
            </a:r>
            <a:r>
              <a:rPr lang="en-US" sz="2000" dirty="0">
                <a:solidFill>
                  <a:srgbClr val="0033CC"/>
                </a:solidFill>
              </a:rPr>
              <a:t> AI </a:t>
            </a:r>
            <a:r>
              <a:rPr lang="en-US" sz="2000" dirty="0" err="1">
                <a:solidFill>
                  <a:srgbClr val="0033CC"/>
                </a:solidFill>
              </a:rPr>
              <a:t>hiện</a:t>
            </a:r>
            <a:r>
              <a:rPr lang="en-US" sz="2000" dirty="0">
                <a:solidFill>
                  <a:srgbClr val="0033CC"/>
                </a:solidFill>
              </a:rPr>
              <a:t> </a:t>
            </a:r>
            <a:r>
              <a:rPr lang="en-US" sz="2000" dirty="0" err="1">
                <a:solidFill>
                  <a:srgbClr val="0033CC"/>
                </a:solidFill>
              </a:rPr>
              <a:t>tại</a:t>
            </a:r>
            <a:r>
              <a:rPr lang="en-US" sz="2000" dirty="0">
                <a:solidFill>
                  <a:srgbClr val="0033CC"/>
                </a:solidFill>
              </a:rPr>
              <a:t>:</a:t>
            </a:r>
          </a:p>
          <a:p>
            <a:pPr algn="ctr">
              <a:buFont typeface="Wingdings" pitchFamily="2" charset="2"/>
              <a:buNone/>
            </a:pPr>
            <a:r>
              <a:rPr lang="en-US" sz="2000" b="1" dirty="0">
                <a:solidFill>
                  <a:srgbClr val="FF0000"/>
                </a:solidFill>
                <a:effectLst>
                  <a:outerShdw blurRad="38100" dist="38100" dir="2700000" algn="tl">
                    <a:srgbClr val="C0C0C0"/>
                  </a:outerShdw>
                </a:effectLst>
              </a:rPr>
              <a:t>AI = Presentation &amp; Search</a:t>
            </a:r>
          </a:p>
          <a:p>
            <a:pPr algn="ctr">
              <a:buFont typeface="Wingdings" pitchFamily="2" charset="2"/>
              <a:buNone/>
            </a:pPr>
            <a:endParaRPr lang="en-US" b="1" dirty="0"/>
          </a:p>
        </p:txBody>
      </p:sp>
      <p:pic>
        <p:nvPicPr>
          <p:cNvPr id="67592" name="Picture 8" descr="pe01832_"/>
          <p:cNvPicPr>
            <a:picLocks noChangeAspect="1" noChangeArrowheads="1"/>
          </p:cNvPicPr>
          <p:nvPr/>
        </p:nvPicPr>
        <p:blipFill>
          <a:blip r:embed="rId2"/>
          <a:srcRect/>
          <a:stretch>
            <a:fillRect/>
          </a:stretch>
        </p:blipFill>
        <p:spPr bwMode="auto">
          <a:xfrm>
            <a:off x="6610350" y="3429000"/>
            <a:ext cx="2533650" cy="2508250"/>
          </a:xfrm>
          <a:prstGeom prst="rect">
            <a:avLst/>
          </a:prstGeom>
          <a:noFill/>
        </p:spPr>
      </p:pic>
      <p:grpSp>
        <p:nvGrpSpPr>
          <p:cNvPr id="10" name="Group 9"/>
          <p:cNvGrpSpPr/>
          <p:nvPr/>
        </p:nvGrpSpPr>
        <p:grpSpPr>
          <a:xfrm>
            <a:off x="762000" y="2362200"/>
            <a:ext cx="4994031" cy="3717926"/>
            <a:chOff x="492369" y="2362200"/>
            <a:chExt cx="4994031" cy="3717926"/>
          </a:xfrm>
        </p:grpSpPr>
        <p:sp>
          <p:nvSpPr>
            <p:cNvPr id="67588" name="AutoShape 4"/>
            <p:cNvSpPr>
              <a:spLocks noChangeArrowheads="1"/>
            </p:cNvSpPr>
            <p:nvPr/>
          </p:nvSpPr>
          <p:spPr bwMode="auto">
            <a:xfrm>
              <a:off x="914400" y="3048000"/>
              <a:ext cx="1406769" cy="1582738"/>
            </a:xfrm>
            <a:prstGeom prst="can">
              <a:avLst>
                <a:gd name="adj" fmla="val 25964"/>
              </a:avLst>
            </a:prstGeom>
            <a:solidFill>
              <a:schemeClr val="accent1"/>
            </a:solidFill>
            <a:ln w="9525">
              <a:solidFill>
                <a:schemeClr val="tx1"/>
              </a:solidFill>
              <a:miter lim="800000"/>
              <a:headEnd/>
              <a:tailEnd/>
            </a:ln>
            <a:effectLst/>
          </p:spPr>
          <p:txBody>
            <a:bodyPr wrap="none" anchor="ctr"/>
            <a:lstStyle/>
            <a:p>
              <a:pPr algn="ctr">
                <a:spcBef>
                  <a:spcPct val="0"/>
                </a:spcBef>
                <a:buClrTx/>
                <a:buSzTx/>
                <a:buFontTx/>
                <a:buNone/>
              </a:pPr>
              <a:r>
                <a:rPr lang="en-US" sz="2400"/>
                <a:t>Tri</a:t>
              </a:r>
              <a:r>
                <a:rPr lang="en-US" sz="2400">
                  <a:latin typeface="VNI-Helve" pitchFamily="2" charset="0"/>
                </a:rPr>
                <a:t> </a:t>
              </a:r>
              <a:r>
                <a:rPr lang="en-US" sz="2400"/>
                <a:t>Thức</a:t>
              </a:r>
            </a:p>
            <a:p>
              <a:pPr algn="ctr">
                <a:spcBef>
                  <a:spcPct val="0"/>
                </a:spcBef>
                <a:buClrTx/>
                <a:buSzTx/>
                <a:buFontTx/>
                <a:buNone/>
              </a:pPr>
              <a:r>
                <a:rPr lang="en-US" sz="2400">
                  <a:solidFill>
                    <a:srgbClr val="FF0000"/>
                  </a:solidFill>
                </a:rPr>
                <a:t>Knowledge</a:t>
              </a:r>
              <a:r>
                <a:rPr lang="en-US" sz="2400">
                  <a:solidFill>
                    <a:srgbClr val="FF0000"/>
                  </a:solidFill>
                  <a:latin typeface="VNI-Helve" pitchFamily="2" charset="0"/>
                </a:rPr>
                <a:t> </a:t>
              </a:r>
            </a:p>
            <a:p>
              <a:pPr algn="ctr">
                <a:spcBef>
                  <a:spcPct val="0"/>
                </a:spcBef>
                <a:buClrTx/>
                <a:buSzTx/>
                <a:buFontTx/>
                <a:buNone/>
              </a:pPr>
              <a:r>
                <a:rPr lang="en-US" sz="2400">
                  <a:solidFill>
                    <a:srgbClr val="FF0000"/>
                  </a:solidFill>
                </a:rPr>
                <a:t>Engineering</a:t>
              </a:r>
            </a:p>
          </p:txBody>
        </p:sp>
        <p:sp>
          <p:nvSpPr>
            <p:cNvPr id="67589" name="AutoShape 5"/>
            <p:cNvSpPr>
              <a:spLocks noChangeArrowheads="1"/>
            </p:cNvSpPr>
            <p:nvPr/>
          </p:nvSpPr>
          <p:spPr bwMode="auto">
            <a:xfrm>
              <a:off x="3657600" y="2971801"/>
              <a:ext cx="1547446" cy="1700213"/>
            </a:xfrm>
            <a:prstGeom prst="flowChartInternalStorage">
              <a:avLst/>
            </a:prstGeom>
            <a:solidFill>
              <a:srgbClr val="0033CC"/>
            </a:solidFill>
            <a:ln w="9525">
              <a:solidFill>
                <a:schemeClr val="tx1"/>
              </a:solidFill>
              <a:miter lim="800000"/>
              <a:headEnd/>
              <a:tailEnd/>
            </a:ln>
            <a:effectLst/>
          </p:spPr>
          <p:txBody>
            <a:bodyPr wrap="none" anchor="ctr"/>
            <a:lstStyle/>
            <a:p>
              <a:pPr algn="ctr">
                <a:spcBef>
                  <a:spcPct val="0"/>
                </a:spcBef>
                <a:buClrTx/>
                <a:buSzTx/>
                <a:buFontTx/>
                <a:buNone/>
              </a:pPr>
              <a:r>
                <a:rPr lang="en-US" sz="2400">
                  <a:solidFill>
                    <a:srgbClr val="FFFF99"/>
                  </a:solidFill>
                </a:rPr>
                <a:t>Tìm</a:t>
              </a:r>
              <a:r>
                <a:rPr lang="en-US" sz="2400">
                  <a:solidFill>
                    <a:srgbClr val="FFFF99"/>
                  </a:solidFill>
                  <a:latin typeface="VNI-Helve" pitchFamily="2" charset="0"/>
                </a:rPr>
                <a:t> </a:t>
              </a:r>
              <a:r>
                <a:rPr lang="en-US" sz="2400">
                  <a:solidFill>
                    <a:srgbClr val="FFFF99"/>
                  </a:solidFill>
                </a:rPr>
                <a:t>kiếm</a:t>
              </a:r>
            </a:p>
            <a:p>
              <a:pPr algn="ctr">
                <a:spcBef>
                  <a:spcPct val="0"/>
                </a:spcBef>
                <a:buClrTx/>
                <a:buSzTx/>
                <a:buFontTx/>
                <a:buNone/>
              </a:pPr>
              <a:r>
                <a:rPr lang="en-US" sz="2400">
                  <a:solidFill>
                    <a:srgbClr val="FF0000"/>
                  </a:solidFill>
                </a:rPr>
                <a:t>Search</a:t>
              </a:r>
            </a:p>
            <a:p>
              <a:pPr algn="ctr">
                <a:spcBef>
                  <a:spcPct val="0"/>
                </a:spcBef>
                <a:buClrTx/>
                <a:buSzTx/>
                <a:buFontTx/>
                <a:buNone/>
              </a:pPr>
              <a:r>
                <a:rPr lang="en-US" sz="2400">
                  <a:solidFill>
                    <a:srgbClr val="FF0000"/>
                  </a:solidFill>
                </a:rPr>
                <a:t>Suy</a:t>
              </a:r>
              <a:r>
                <a:rPr lang="en-US" sz="2400">
                  <a:solidFill>
                    <a:srgbClr val="FF0000"/>
                  </a:solidFill>
                  <a:latin typeface="VNI-Helve" pitchFamily="2" charset="0"/>
                </a:rPr>
                <a:t> </a:t>
              </a:r>
              <a:r>
                <a:rPr lang="en-US" sz="2400">
                  <a:solidFill>
                    <a:srgbClr val="FF0000"/>
                  </a:solidFill>
                </a:rPr>
                <a:t>luận</a:t>
              </a:r>
            </a:p>
            <a:p>
              <a:pPr algn="ctr">
                <a:spcBef>
                  <a:spcPct val="0"/>
                </a:spcBef>
                <a:buClrTx/>
                <a:buSzTx/>
                <a:buFontTx/>
                <a:buNone/>
              </a:pPr>
              <a:r>
                <a:rPr lang="en-US" sz="2400">
                  <a:solidFill>
                    <a:srgbClr val="FF0000"/>
                  </a:solidFill>
                </a:rPr>
                <a:t>Heurictic</a:t>
              </a:r>
            </a:p>
          </p:txBody>
        </p:sp>
        <p:sp>
          <p:nvSpPr>
            <p:cNvPr id="67590" name="AutoShape 6"/>
            <p:cNvSpPr>
              <a:spLocks noChangeArrowheads="1"/>
            </p:cNvSpPr>
            <p:nvPr/>
          </p:nvSpPr>
          <p:spPr bwMode="auto">
            <a:xfrm>
              <a:off x="492369" y="2362200"/>
              <a:ext cx="4994031" cy="3048000"/>
            </a:xfrm>
            <a:prstGeom prst="wedgeRoundRectCallout">
              <a:avLst>
                <a:gd name="adj1" fmla="val 68250"/>
                <a:gd name="adj2" fmla="val 18699"/>
                <a:gd name="adj3" fmla="val 16667"/>
              </a:avLst>
            </a:prstGeom>
            <a:noFill/>
            <a:ln w="25400">
              <a:solidFill>
                <a:schemeClr val="tx1"/>
              </a:solidFill>
              <a:miter lim="800000"/>
              <a:headEnd/>
              <a:tailEnd/>
            </a:ln>
            <a:effectLst/>
          </p:spPr>
          <p:txBody>
            <a:bodyPr wrap="none" anchor="ctr"/>
            <a:lstStyle/>
            <a:p>
              <a:pPr marL="742950" indent="-285750" algn="ctr"/>
              <a:endParaRPr lang="en-US">
                <a:latin typeface="VNI-Helve" pitchFamily="2" charset="0"/>
              </a:endParaRPr>
            </a:p>
          </p:txBody>
        </p:sp>
        <p:pic>
          <p:nvPicPr>
            <p:cNvPr id="67591" name="Picture 7" descr="Travaux"/>
            <p:cNvPicPr>
              <a:picLocks noChangeAspect="1" noChangeArrowheads="1" noCrop="1"/>
            </p:cNvPicPr>
            <p:nvPr/>
          </p:nvPicPr>
          <p:blipFill>
            <a:blip r:embed="rId3"/>
            <a:srcRect/>
            <a:stretch>
              <a:fillRect/>
            </a:stretch>
          </p:blipFill>
          <p:spPr bwMode="auto">
            <a:xfrm>
              <a:off x="2321170" y="4800601"/>
              <a:ext cx="1286608" cy="1279525"/>
            </a:xfrm>
            <a:prstGeom prst="rect">
              <a:avLst/>
            </a:prstGeom>
            <a:noFill/>
          </p:spPr>
        </p:pic>
        <p:sp>
          <p:nvSpPr>
            <p:cNvPr id="67593" name="AutoShape 9"/>
            <p:cNvSpPr>
              <a:spLocks noChangeArrowheads="1"/>
            </p:cNvSpPr>
            <p:nvPr/>
          </p:nvSpPr>
          <p:spPr bwMode="auto">
            <a:xfrm>
              <a:off x="2743200" y="3581400"/>
              <a:ext cx="422031" cy="533400"/>
            </a:xfrm>
            <a:prstGeom prst="plus">
              <a:avLst>
                <a:gd name="adj" fmla="val 29167"/>
              </a:avLst>
            </a:prstGeom>
            <a:solidFill>
              <a:schemeClr val="tx1"/>
            </a:solidFill>
            <a:ln w="9525">
              <a:solidFill>
                <a:schemeClr val="tx1"/>
              </a:solidFill>
              <a:miter lim="800000"/>
              <a:headEnd/>
              <a:tailEnd/>
            </a:ln>
            <a:effectLst/>
          </p:spPr>
          <p:txBody>
            <a:bodyPr wrap="none" anchor="ctr"/>
            <a:lstStyle/>
            <a:p>
              <a:pPr marL="742950" indent="-285750" algn="ctr"/>
              <a:endParaRPr lang="en-US">
                <a:latin typeface="VNI-Helve" pitchFamily="2" charset="0"/>
              </a:endParaRPr>
            </a:p>
          </p:txBody>
        </p:sp>
      </p:grpSp>
    </p:spTree>
    <p:extLst>
      <p:ext uri="{BB962C8B-B14F-4D97-AF65-F5344CB8AC3E}">
        <p14:creationId xmlns:p14="http://schemas.microsoft.com/office/powerpoint/2010/main" val="2345038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3"/>
          <p:cNvSpPr>
            <a:spLocks noGrp="1"/>
          </p:cNvSpPr>
          <p:nvPr>
            <p:ph type="sldNum" sz="quarter" idx="12"/>
          </p:nvPr>
        </p:nvSpPr>
        <p:spPr>
          <a:noFill/>
        </p:spPr>
        <p:txBody>
          <a:bodyPr/>
          <a:lstStyle/>
          <a:p>
            <a:fld id="{4F4C33B4-59AC-44B8-A791-6F220D7D7AE6}" type="slidenum">
              <a:rPr lang="en-GB" smtClean="0"/>
              <a:pPr/>
              <a:t>34</a:t>
            </a:fld>
            <a:endParaRPr lang="en-GB"/>
          </a:p>
        </p:txBody>
      </p:sp>
      <p:pic>
        <p:nvPicPr>
          <p:cNvPr id="29700" name="Picture 2"/>
          <p:cNvPicPr>
            <a:picLocks noChangeAspect="1" noChangeArrowheads="1"/>
          </p:cNvPicPr>
          <p:nvPr/>
        </p:nvPicPr>
        <p:blipFill>
          <a:blip r:embed="rId2"/>
          <a:srcRect/>
          <a:stretch>
            <a:fillRect/>
          </a:stretch>
        </p:blipFill>
        <p:spPr bwMode="auto">
          <a:xfrm>
            <a:off x="623888" y="357188"/>
            <a:ext cx="7734300" cy="6018212"/>
          </a:xfrm>
          <a:prstGeom prst="rect">
            <a:avLst/>
          </a:prstGeom>
          <a:noFill/>
          <a:ln w="9525">
            <a:noFill/>
            <a:miter lim="800000"/>
            <a:headEnd/>
            <a:tailEnd/>
          </a:ln>
        </p:spPr>
      </p:pic>
    </p:spTree>
    <p:extLst>
      <p:ext uri="{BB962C8B-B14F-4D97-AF65-F5344CB8AC3E}">
        <p14:creationId xmlns:p14="http://schemas.microsoft.com/office/powerpoint/2010/main" val="1934243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105400"/>
            <a:ext cx="7772400" cy="1362075"/>
          </a:xfrm>
        </p:spPr>
        <p:txBody>
          <a:bodyPr/>
          <a:lstStyle/>
          <a:p>
            <a:r>
              <a:rPr lang="en-US" dirty="0"/>
              <a:t>			THE END</a:t>
            </a:r>
          </a:p>
        </p:txBody>
      </p:sp>
      <p:sp>
        <p:nvSpPr>
          <p:cNvPr id="3" name="Text Placeholder 2"/>
          <p:cNvSpPr>
            <a:spLocks noGrp="1"/>
          </p:cNvSpPr>
          <p:nvPr>
            <p:ph type="body" idx="1"/>
          </p:nvPr>
        </p:nvSpPr>
        <p:spPr>
          <a:xfrm>
            <a:off x="457200" y="1828800"/>
            <a:ext cx="8305800" cy="3124200"/>
          </a:xfrm>
        </p:spPr>
        <p:txBody>
          <a:bodyPr/>
          <a:lstStyle/>
          <a:p>
            <a:r>
              <a:rPr lang="en-US" sz="2900" dirty="0"/>
              <a:t>“</a:t>
            </a:r>
            <a:r>
              <a:rPr lang="en-US" sz="2900" i="1" dirty="0" err="1"/>
              <a:t>Những</a:t>
            </a:r>
            <a:r>
              <a:rPr lang="en-US" sz="2900" i="1" dirty="0"/>
              <a:t> </a:t>
            </a:r>
            <a:r>
              <a:rPr lang="en-US" sz="2900" i="1" dirty="0" err="1"/>
              <a:t>chiếc</a:t>
            </a:r>
            <a:r>
              <a:rPr lang="en-US" sz="2900" i="1" dirty="0"/>
              <a:t> </a:t>
            </a:r>
            <a:r>
              <a:rPr lang="en-US" sz="2900" i="1" dirty="0" err="1"/>
              <a:t>máy</a:t>
            </a:r>
            <a:r>
              <a:rPr lang="en-US" sz="2900" i="1" dirty="0"/>
              <a:t> </a:t>
            </a:r>
            <a:r>
              <a:rPr lang="en-US" sz="2900" i="1" dirty="0" err="1"/>
              <a:t>tính</a:t>
            </a:r>
            <a:r>
              <a:rPr lang="en-US" sz="2900" i="1" dirty="0"/>
              <a:t> </a:t>
            </a:r>
            <a:r>
              <a:rPr lang="en-US" sz="2900" i="1" dirty="0" err="1"/>
              <a:t>là</a:t>
            </a:r>
            <a:r>
              <a:rPr lang="en-US" sz="2900" i="1" dirty="0"/>
              <a:t> </a:t>
            </a:r>
            <a:r>
              <a:rPr lang="en-US" sz="2900" i="1" dirty="0" err="1"/>
              <a:t>không</a:t>
            </a:r>
            <a:r>
              <a:rPr lang="en-US" sz="2900" i="1" dirty="0"/>
              <a:t> </a:t>
            </a:r>
            <a:r>
              <a:rPr lang="en-US" sz="2900" i="1" dirty="0" err="1"/>
              <a:t>thông</a:t>
            </a:r>
            <a:r>
              <a:rPr lang="en-US" sz="2900" i="1" dirty="0"/>
              <a:t> minh – </a:t>
            </a:r>
            <a:r>
              <a:rPr lang="en-US" sz="2900" i="1" dirty="0" err="1"/>
              <a:t>chúng</a:t>
            </a:r>
            <a:r>
              <a:rPr lang="en-US" sz="2900" i="1" dirty="0"/>
              <a:t> </a:t>
            </a:r>
            <a:r>
              <a:rPr lang="en-US" sz="2900" i="1" dirty="0" err="1"/>
              <a:t>chỉ</a:t>
            </a:r>
            <a:r>
              <a:rPr lang="en-US" sz="2900" i="1" dirty="0"/>
              <a:t> </a:t>
            </a:r>
            <a:r>
              <a:rPr lang="en-US" sz="2900" i="1" dirty="0" err="1"/>
              <a:t>có</a:t>
            </a:r>
            <a:r>
              <a:rPr lang="en-US" sz="2900" i="1" dirty="0"/>
              <a:t> </a:t>
            </a:r>
            <a:r>
              <a:rPr lang="en-US" sz="2900" i="1" dirty="0" err="1"/>
              <a:t>thể</a:t>
            </a:r>
            <a:r>
              <a:rPr lang="en-US" sz="2900" i="1" dirty="0"/>
              <a:t> </a:t>
            </a:r>
            <a:r>
              <a:rPr lang="en-US" sz="2900" i="1" dirty="0" err="1"/>
              <a:t>làm</a:t>
            </a:r>
            <a:r>
              <a:rPr lang="en-US" sz="2900" i="1" dirty="0"/>
              <a:t> </a:t>
            </a:r>
            <a:r>
              <a:rPr lang="en-US" sz="2900" i="1" dirty="0" err="1"/>
              <a:t>được</a:t>
            </a:r>
            <a:r>
              <a:rPr lang="en-US" sz="2900" i="1" dirty="0"/>
              <a:t> </a:t>
            </a:r>
            <a:r>
              <a:rPr lang="en-US" sz="2900" i="1" dirty="0" err="1"/>
              <a:t>những</a:t>
            </a:r>
            <a:r>
              <a:rPr lang="en-US" sz="2900" i="1" dirty="0"/>
              <a:t> </a:t>
            </a:r>
            <a:r>
              <a:rPr lang="en-US" sz="2900" i="1" dirty="0" err="1"/>
              <a:t>gì</a:t>
            </a:r>
            <a:r>
              <a:rPr lang="en-US" sz="2900" i="1" dirty="0"/>
              <a:t> </a:t>
            </a:r>
            <a:r>
              <a:rPr lang="en-US" sz="2900" i="1" dirty="0" err="1"/>
              <a:t>lập</a:t>
            </a:r>
            <a:r>
              <a:rPr lang="en-US" sz="2900" i="1" dirty="0"/>
              <a:t> </a:t>
            </a:r>
            <a:r>
              <a:rPr lang="en-US" sz="2900" i="1" dirty="0" err="1"/>
              <a:t>trình</a:t>
            </a:r>
            <a:r>
              <a:rPr lang="en-US" sz="2900" i="1" dirty="0"/>
              <a:t> </a:t>
            </a:r>
            <a:r>
              <a:rPr lang="en-US" sz="2900" i="1" dirty="0" err="1"/>
              <a:t>viên</a:t>
            </a:r>
            <a:r>
              <a:rPr lang="en-US" sz="2900" i="1" dirty="0"/>
              <a:t> </a:t>
            </a:r>
            <a:r>
              <a:rPr lang="en-US" sz="2900" i="1" dirty="0" err="1"/>
              <a:t>bảo</a:t>
            </a:r>
            <a:r>
              <a:rPr lang="en-US" sz="2900" i="1" dirty="0"/>
              <a:t> </a:t>
            </a:r>
            <a:r>
              <a:rPr lang="en-US" sz="2900" i="1" dirty="0" err="1"/>
              <a:t>chúng</a:t>
            </a:r>
            <a:r>
              <a:rPr lang="en-US" sz="2900" dirty="0"/>
              <a:t>”</a:t>
            </a:r>
          </a:p>
          <a:p>
            <a:r>
              <a:rPr lang="en-US" sz="2900" dirty="0"/>
              <a:t>     </a:t>
            </a:r>
            <a:r>
              <a:rPr lang="en-US" sz="2900" dirty="0" err="1"/>
              <a:t>Có</a:t>
            </a:r>
            <a:r>
              <a:rPr lang="en-US" sz="2900" dirty="0"/>
              <a:t> ý </a:t>
            </a:r>
            <a:r>
              <a:rPr lang="en-US" sz="2900" dirty="0" err="1"/>
              <a:t>kiến</a:t>
            </a:r>
            <a:r>
              <a:rPr lang="en-US" sz="2900" dirty="0"/>
              <a:t> </a:t>
            </a:r>
            <a:r>
              <a:rPr lang="en-US" sz="2900" dirty="0" err="1"/>
              <a:t>cho</a:t>
            </a:r>
            <a:r>
              <a:rPr lang="en-US" sz="2900" dirty="0"/>
              <a:t> </a:t>
            </a:r>
            <a:r>
              <a:rPr lang="en-US" sz="2900" dirty="0" err="1"/>
              <a:t>rằng</a:t>
            </a:r>
            <a:r>
              <a:rPr lang="en-US" sz="2900" dirty="0"/>
              <a:t>: </a:t>
            </a:r>
            <a:r>
              <a:rPr lang="en-US" sz="2900" dirty="0" err="1"/>
              <a:t>Phần</a:t>
            </a:r>
            <a:r>
              <a:rPr lang="en-US" sz="2900" dirty="0"/>
              <a:t> </a:t>
            </a:r>
            <a:r>
              <a:rPr lang="en-US" sz="2900" dirty="0" err="1"/>
              <a:t>trước</a:t>
            </a:r>
            <a:r>
              <a:rPr lang="en-US" sz="2900" dirty="0"/>
              <a:t> </a:t>
            </a:r>
            <a:r>
              <a:rPr lang="en-US" sz="2900" dirty="0" err="1"/>
              <a:t>thì</a:t>
            </a:r>
            <a:r>
              <a:rPr lang="en-US" sz="2900" dirty="0"/>
              <a:t> </a:t>
            </a:r>
            <a:r>
              <a:rPr lang="en-US" sz="2900" dirty="0" err="1"/>
              <a:t>đúng</a:t>
            </a:r>
            <a:r>
              <a:rPr lang="en-US" sz="2900" dirty="0"/>
              <a:t>, </a:t>
            </a:r>
            <a:r>
              <a:rPr lang="en-US" sz="2900" dirty="0" err="1"/>
              <a:t>phần</a:t>
            </a:r>
            <a:r>
              <a:rPr lang="en-US" sz="2900" dirty="0"/>
              <a:t> </a:t>
            </a:r>
            <a:r>
              <a:rPr lang="en-US" sz="2900" dirty="0" err="1"/>
              <a:t>sau</a:t>
            </a:r>
            <a:r>
              <a:rPr lang="en-US" sz="2900" dirty="0"/>
              <a:t> </a:t>
            </a:r>
            <a:r>
              <a:rPr lang="en-US" sz="2900" dirty="0" err="1"/>
              <a:t>không</a:t>
            </a:r>
            <a:r>
              <a:rPr lang="en-US" sz="2900" dirty="0"/>
              <a:t> </a:t>
            </a:r>
            <a:r>
              <a:rPr lang="en-US" sz="2900" dirty="0" err="1"/>
              <a:t>đúng</a:t>
            </a:r>
            <a:r>
              <a:rPr lang="en-US" sz="2900" dirty="0"/>
              <a:t>.</a:t>
            </a:r>
          </a:p>
          <a:p>
            <a:endParaRPr lang="en-US" sz="2900" dirty="0"/>
          </a:p>
          <a:p>
            <a:r>
              <a:rPr lang="en-US" sz="2900" dirty="0" err="1"/>
              <a:t>Trình</a:t>
            </a:r>
            <a:r>
              <a:rPr lang="en-US" sz="2900" dirty="0"/>
              <a:t> </a:t>
            </a:r>
            <a:r>
              <a:rPr lang="en-US" sz="2900" dirty="0" err="1"/>
              <a:t>bày</a:t>
            </a:r>
            <a:r>
              <a:rPr lang="en-US" sz="2900" dirty="0"/>
              <a:t> </a:t>
            </a:r>
            <a:r>
              <a:rPr lang="en-US" sz="2900" dirty="0" err="1"/>
              <a:t>quan</a:t>
            </a:r>
            <a:r>
              <a:rPr lang="en-US" sz="2900" dirty="0"/>
              <a:t> </a:t>
            </a:r>
            <a:r>
              <a:rPr lang="en-US" sz="2900" dirty="0" err="1"/>
              <a:t>điểm</a:t>
            </a:r>
            <a:r>
              <a:rPr lang="en-US" sz="2900" dirty="0"/>
              <a:t> </a:t>
            </a:r>
            <a:r>
              <a:rPr lang="en-US" sz="2900" dirty="0" err="1"/>
              <a:t>của</a:t>
            </a:r>
            <a:r>
              <a:rPr lang="en-US" sz="2900" dirty="0"/>
              <a:t> </a:t>
            </a:r>
            <a:r>
              <a:rPr lang="en-US" sz="2900" dirty="0" err="1"/>
              <a:t>bạn</a:t>
            </a:r>
            <a:r>
              <a:rPr lang="en-US" sz="2900" dirty="0"/>
              <a:t> </a:t>
            </a:r>
            <a:r>
              <a:rPr lang="en-US" sz="2900" dirty="0" err="1"/>
              <a:t>về</a:t>
            </a:r>
            <a:r>
              <a:rPr lang="en-US" sz="2900" dirty="0"/>
              <a:t> ý </a:t>
            </a:r>
            <a:r>
              <a:rPr lang="en-US" sz="2900" dirty="0" err="1"/>
              <a:t>kiến</a:t>
            </a:r>
            <a:r>
              <a:rPr lang="en-US" sz="2900" dirty="0"/>
              <a:t> </a:t>
            </a:r>
            <a:r>
              <a:rPr lang="en-US" sz="2900" dirty="0" err="1"/>
              <a:t>trên</a:t>
            </a:r>
            <a:r>
              <a:rPr lang="en-US" sz="2900" dirty="0"/>
              <a:t>.</a:t>
            </a:r>
          </a:p>
        </p:txBody>
      </p:sp>
    </p:spTree>
    <p:extLst>
      <p:ext uri="{BB962C8B-B14F-4D97-AF65-F5344CB8AC3E}">
        <p14:creationId xmlns:p14="http://schemas.microsoft.com/office/powerpoint/2010/main" val="15737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762000" y="1295400"/>
            <a:ext cx="3048000" cy="3086219"/>
            <a:chOff x="457200" y="1676400"/>
            <a:chExt cx="3048000" cy="3086219"/>
          </a:xfrm>
        </p:grpSpPr>
        <p:pic>
          <p:nvPicPr>
            <p:cNvPr id="2050" name="Picture 2" descr="http://upload.wikimedia.org/wikipedia/commons/thumb/d/d1/Honda_ASIMO_Walking_Stairs.JPG/200px-Honda_ASIMO_Walking_Stairs.JPG">
              <a:hlinkClick r:id="rId3"/>
            </p:cNvPr>
            <p:cNvPicPr>
              <a:picLocks noChangeAspect="1" noChangeArrowheads="1"/>
            </p:cNvPicPr>
            <p:nvPr/>
          </p:nvPicPr>
          <p:blipFill>
            <a:blip r:embed="rId4"/>
            <a:srcRect/>
            <a:stretch>
              <a:fillRect/>
            </a:stretch>
          </p:blipFill>
          <p:spPr bwMode="auto">
            <a:xfrm>
              <a:off x="457200" y="1676400"/>
              <a:ext cx="3048000" cy="2286000"/>
            </a:xfrm>
            <a:prstGeom prst="rect">
              <a:avLst/>
            </a:prstGeom>
            <a:noFill/>
          </p:spPr>
        </p:pic>
        <p:sp>
          <p:nvSpPr>
            <p:cNvPr id="2051" name="Rectangle 3"/>
            <p:cNvSpPr>
              <a:spLocks noChangeArrowheads="1"/>
            </p:cNvSpPr>
            <p:nvPr/>
          </p:nvSpPr>
          <p:spPr bwMode="auto">
            <a:xfrm rot="10800000" flipV="1">
              <a:off x="457200" y="3962400"/>
              <a:ext cx="3048000"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sng" strike="noStrike" cap="none" normalizeH="0" baseline="0">
                  <a:ln>
                    <a:noFill/>
                  </a:ln>
                  <a:solidFill>
                    <a:schemeClr val="tx1"/>
                  </a:solidFill>
                  <a:effectLst/>
                  <a:latin typeface="Arial" charset="0"/>
                  <a:cs typeface="Arial" charset="0"/>
                </a:rPr>
                <a:t> </a:t>
              </a:r>
              <a:r>
                <a:rPr kumimoji="0" lang="en-US" sz="1400" b="0" i="0" strike="noStrike" cap="none" normalizeH="0" baseline="0">
                  <a:ln>
                    <a:noFill/>
                  </a:ln>
                  <a:solidFill>
                    <a:schemeClr val="tx1"/>
                  </a:solidFill>
                  <a:effectLst/>
                  <a:latin typeface="Arial" charset="0"/>
                  <a:cs typeface="Arial" charset="0"/>
                  <a:hlinkClick r:id="rId5" tooltip="ASIMO"/>
                </a:rPr>
                <a:t>ASIMO</a:t>
              </a:r>
              <a:r>
                <a:rPr kumimoji="0" lang="en-US" sz="1400" b="0" i="0" strike="noStrike" cap="none" normalizeH="0" baseline="0">
                  <a:ln>
                    <a:noFill/>
                  </a:ln>
                  <a:solidFill>
                    <a:schemeClr val="tx1"/>
                  </a:solidFill>
                  <a:effectLst/>
                  <a:latin typeface="Arial" charset="0"/>
                  <a:cs typeface="Arial" charset="0"/>
                </a:rPr>
                <a:t> (by Honda - 1986) uses sensors and intelligent algorithms to avoid obstacles and navigate stairs.</a:t>
              </a:r>
              <a:endParaRPr kumimoji="0" lang="en-US" sz="1800" b="0" i="0" strike="noStrike" cap="none" normalizeH="0" baseline="0">
                <a:ln>
                  <a:noFill/>
                </a:ln>
                <a:solidFill>
                  <a:schemeClr val="tx1"/>
                </a:solidFill>
                <a:effectLst/>
                <a:latin typeface="Arial" charset="0"/>
                <a:cs typeface="Arial" charset="0"/>
              </a:endParaRPr>
            </a:p>
          </p:txBody>
        </p:sp>
      </p:grpSp>
      <p:pic>
        <p:nvPicPr>
          <p:cNvPr id="2052" name="Picture 4" descr="http://en.wikipedia.org/skins-1.5/common/images/magnify-clip.png">
            <a:hlinkClick r:id="rId3" tooltip="Enlarge"/>
          </p:cNvPr>
          <p:cNvPicPr>
            <a:picLocks noChangeAspect="1" noChangeArrowheads="1"/>
          </p:cNvPicPr>
          <p:nvPr/>
        </p:nvPicPr>
        <p:blipFill>
          <a:blip r:embed="rId6"/>
          <a:srcRect/>
          <a:stretch>
            <a:fillRect/>
          </a:stretch>
        </p:blipFill>
        <p:spPr bwMode="auto">
          <a:xfrm>
            <a:off x="155575" y="-274638"/>
            <a:ext cx="142875" cy="104775"/>
          </a:xfrm>
          <a:prstGeom prst="rect">
            <a:avLst/>
          </a:prstGeom>
          <a:noFill/>
        </p:spPr>
      </p:pic>
      <p:grpSp>
        <p:nvGrpSpPr>
          <p:cNvPr id="13" name="Group 12"/>
          <p:cNvGrpSpPr/>
          <p:nvPr/>
        </p:nvGrpSpPr>
        <p:grpSpPr>
          <a:xfrm>
            <a:off x="4572000" y="1219200"/>
            <a:ext cx="2819400" cy="3162419"/>
            <a:chOff x="6324600" y="1295400"/>
            <a:chExt cx="2819400" cy="3162419"/>
          </a:xfrm>
        </p:grpSpPr>
        <p:pic>
          <p:nvPicPr>
            <p:cNvPr id="2054" name="Picture 6" descr="http://upload.wikimedia.org/wikipedia/commons/thumb/c/cc/TOPIO_2.0.jpg/200px-TOPIO_2.0.jpg">
              <a:hlinkClick r:id="rId7"/>
            </p:cNvPr>
            <p:cNvPicPr>
              <a:picLocks noChangeAspect="1" noChangeArrowheads="1"/>
            </p:cNvPicPr>
            <p:nvPr/>
          </p:nvPicPr>
          <p:blipFill>
            <a:blip r:embed="rId8"/>
            <a:srcRect/>
            <a:stretch>
              <a:fillRect/>
            </a:stretch>
          </p:blipFill>
          <p:spPr bwMode="auto">
            <a:xfrm>
              <a:off x="6324600" y="1295400"/>
              <a:ext cx="2819400" cy="2362200"/>
            </a:xfrm>
            <a:prstGeom prst="rect">
              <a:avLst/>
            </a:prstGeom>
            <a:noFill/>
          </p:spPr>
        </p:pic>
        <p:sp>
          <p:nvSpPr>
            <p:cNvPr id="2055" name="Rectangle 7"/>
            <p:cNvSpPr>
              <a:spLocks noChangeArrowheads="1"/>
            </p:cNvSpPr>
            <p:nvPr/>
          </p:nvSpPr>
          <p:spPr bwMode="auto">
            <a:xfrm rot="10800000" flipV="1">
              <a:off x="6324600" y="3657600"/>
              <a:ext cx="2819400" cy="8002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sng" strike="noStrike" cap="none" normalizeH="0" baseline="0">
                  <a:ln>
                    <a:noFill/>
                  </a:ln>
                  <a:solidFill>
                    <a:schemeClr val="tx1"/>
                  </a:solidFill>
                  <a:effectLst/>
                  <a:latin typeface="Arial" charset="0"/>
                  <a:cs typeface="Arial" charset="0"/>
                </a:rPr>
                <a:t> </a:t>
              </a:r>
              <a:r>
                <a:rPr kumimoji="0" lang="en-US" sz="1400" b="0" strike="noStrike" cap="none" normalizeH="0" baseline="0">
                  <a:ln>
                    <a:noFill/>
                  </a:ln>
                  <a:solidFill>
                    <a:schemeClr val="tx1"/>
                  </a:solidFill>
                  <a:effectLst/>
                  <a:latin typeface="Arial" charset="0"/>
                  <a:cs typeface="Arial" charset="0"/>
                  <a:hlinkClick r:id="rId9" tooltip="TOPIO"/>
                </a:rPr>
                <a:t>TOPIO</a:t>
              </a:r>
              <a:r>
                <a:rPr kumimoji="0" lang="en-US" sz="1400" b="0" strike="noStrike" cap="none" normalizeH="0" baseline="0">
                  <a:ln>
                    <a:noFill/>
                  </a:ln>
                  <a:solidFill>
                    <a:schemeClr val="tx1"/>
                  </a:solidFill>
                  <a:effectLst/>
                  <a:latin typeface="Arial" charset="0"/>
                  <a:cs typeface="Arial" charset="0"/>
                </a:rPr>
                <a:t>, a robot that can play </a:t>
              </a:r>
              <a:r>
                <a:rPr kumimoji="0" lang="en-US" sz="1400" b="0" strike="noStrike" cap="none" normalizeH="0" baseline="0">
                  <a:ln>
                    <a:noFill/>
                  </a:ln>
                  <a:solidFill>
                    <a:schemeClr val="tx1"/>
                  </a:solidFill>
                  <a:effectLst/>
                  <a:latin typeface="Arial" charset="0"/>
                  <a:cs typeface="Arial" charset="0"/>
                  <a:hlinkClick r:id="rId10" tooltip="Ping-pong"/>
                </a:rPr>
                <a:t>ping-pong</a:t>
              </a:r>
              <a:r>
                <a:rPr kumimoji="0" lang="en-US" sz="1400" b="0" strike="noStrike" cap="none" normalizeH="0" baseline="0">
                  <a:ln>
                    <a:noFill/>
                  </a:ln>
                  <a:solidFill>
                    <a:schemeClr val="tx1"/>
                  </a:solidFill>
                  <a:effectLst/>
                  <a:latin typeface="Arial" charset="0"/>
                  <a:cs typeface="Arial" charset="0"/>
                </a:rPr>
                <a:t>, developed by </a:t>
              </a:r>
              <a:r>
                <a:rPr kumimoji="0" lang="en-US" sz="1400" b="0" strike="noStrike" cap="none" normalizeH="0" baseline="0">
                  <a:ln>
                    <a:noFill/>
                  </a:ln>
                  <a:solidFill>
                    <a:schemeClr val="tx1"/>
                  </a:solidFill>
                  <a:effectLst/>
                  <a:latin typeface="Arial" charset="0"/>
                  <a:cs typeface="Arial" charset="0"/>
                  <a:hlinkClick r:id="rId11" tooltip="TOSY"/>
                </a:rPr>
                <a:t>TOSY</a:t>
              </a:r>
              <a:r>
                <a:rPr kumimoji="0" lang="en-US" sz="1400" b="0" strike="noStrike" cap="none" normalizeH="0" baseline="0">
                  <a:ln>
                    <a:noFill/>
                  </a:ln>
                  <a:solidFill>
                    <a:schemeClr val="tx1"/>
                  </a:solidFill>
                  <a:effectLst/>
                  <a:latin typeface="Arial" charset="0"/>
                  <a:cs typeface="Arial" charset="0"/>
                </a:rPr>
                <a:t>, 2005.</a:t>
              </a:r>
            </a:p>
          </p:txBody>
        </p:sp>
      </p:grpSp>
      <p:pic>
        <p:nvPicPr>
          <p:cNvPr id="2056" name="Picture 8" descr="http://en.wikipedia.org/skins-1.5/common/images/magnify-clip.png">
            <a:hlinkClick r:id="rId7" tooltip="Enlarge"/>
          </p:cNvPr>
          <p:cNvPicPr>
            <a:picLocks noChangeAspect="1" noChangeArrowheads="1"/>
          </p:cNvPicPr>
          <p:nvPr/>
        </p:nvPicPr>
        <p:blipFill>
          <a:blip r:embed="rId6"/>
          <a:srcRect/>
          <a:stretch>
            <a:fillRect/>
          </a:stretch>
        </p:blipFill>
        <p:spPr bwMode="auto">
          <a:xfrm>
            <a:off x="155575" y="-274638"/>
            <a:ext cx="142875" cy="104775"/>
          </a:xfrm>
          <a:prstGeom prst="rect">
            <a:avLst/>
          </a:prstGeom>
          <a:noFill/>
        </p:spPr>
      </p:pic>
      <p:pic>
        <p:nvPicPr>
          <p:cNvPr id="2060" name="Picture 12" descr="C&amp;#244; gi&amp;#225;o Robot ra m&amp;#7855;t t&amp;#7841;i Nh&amp;#7853;t B&amp;#7843;n , Phi thường - kỳ quặc, "/>
          <p:cNvPicPr>
            <a:picLocks noChangeAspect="1" noChangeArrowheads="1"/>
          </p:cNvPicPr>
          <p:nvPr/>
        </p:nvPicPr>
        <p:blipFill>
          <a:blip r:embed="rId12"/>
          <a:srcRect/>
          <a:stretch>
            <a:fillRect/>
          </a:stretch>
        </p:blipFill>
        <p:spPr bwMode="auto">
          <a:xfrm>
            <a:off x="5143500" y="4353338"/>
            <a:ext cx="4000500" cy="2504662"/>
          </a:xfrm>
          <a:prstGeom prst="rect">
            <a:avLst/>
          </a:prstGeom>
          <a:noFill/>
        </p:spPr>
      </p:pic>
      <p:sp>
        <p:nvSpPr>
          <p:cNvPr id="14" name="Left Arrow 13">
            <a:hlinkClick r:id="" action="ppaction://noaction"/>
          </p:cNvPr>
          <p:cNvSpPr/>
          <p:nvPr/>
        </p:nvSpPr>
        <p:spPr>
          <a:xfrm>
            <a:off x="8153400" y="228600"/>
            <a:ext cx="762000" cy="533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504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
        <p:nvSpPr>
          <p:cNvPr id="3" name="Left Arrow 2">
            <a:hlinkClick r:id="" action="ppaction://noaction"/>
          </p:cNvPr>
          <p:cNvSpPr/>
          <p:nvPr/>
        </p:nvSpPr>
        <p:spPr>
          <a:xfrm>
            <a:off x="8001000" y="5943600"/>
            <a:ext cx="762000" cy="3810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091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mm.ch.cam.ac.uk/blogs/murrayrust/wp-content/uploads/2008/01/crystaleye.PNG"/>
          <p:cNvPicPr>
            <a:picLocks noChangeAspect="1" noChangeArrowheads="1"/>
          </p:cNvPicPr>
          <p:nvPr/>
        </p:nvPicPr>
        <p:blipFill>
          <a:blip r:embed="rId2"/>
          <a:srcRect/>
          <a:stretch>
            <a:fillRect/>
          </a:stretch>
        </p:blipFill>
        <p:spPr bwMode="auto">
          <a:xfrm>
            <a:off x="0" y="1108076"/>
            <a:ext cx="9144000" cy="5749924"/>
          </a:xfrm>
          <a:prstGeom prst="rect">
            <a:avLst/>
          </a:prstGeom>
          <a:noFill/>
        </p:spPr>
      </p:pic>
      <p:sp>
        <p:nvSpPr>
          <p:cNvPr id="3" name="TextBox 2"/>
          <p:cNvSpPr txBox="1"/>
          <p:nvPr/>
        </p:nvSpPr>
        <p:spPr>
          <a:xfrm>
            <a:off x="1371600" y="381000"/>
            <a:ext cx="4038600" cy="369332"/>
          </a:xfrm>
          <a:prstGeom prst="rect">
            <a:avLst/>
          </a:prstGeom>
          <a:noFill/>
        </p:spPr>
        <p:txBody>
          <a:bodyPr wrap="square" rtlCol="0">
            <a:spAutoFit/>
          </a:bodyPr>
          <a:lstStyle/>
          <a:p>
            <a:endParaRPr lang="en-US"/>
          </a:p>
        </p:txBody>
      </p:sp>
      <p:sp>
        <p:nvSpPr>
          <p:cNvPr id="4" name="Rectangle 3"/>
          <p:cNvSpPr/>
          <p:nvPr/>
        </p:nvSpPr>
        <p:spPr>
          <a:xfrm>
            <a:off x="0" y="381000"/>
            <a:ext cx="9144000" cy="646331"/>
          </a:xfrm>
          <a:prstGeom prst="rect">
            <a:avLst/>
          </a:prstGeom>
        </p:spPr>
        <p:txBody>
          <a:bodyPr wrap="square">
            <a:spAutoFit/>
          </a:bodyPr>
          <a:lstStyle/>
          <a:p>
            <a:r>
              <a:rPr lang="en-US"/>
              <a:t>DENDRAL (Stanford, 1960) dùng để phỏng đoán cấu trúc các phân tử hữu cơ từ công thức hóa học của chúng</a:t>
            </a:r>
          </a:p>
        </p:txBody>
      </p:sp>
      <p:sp>
        <p:nvSpPr>
          <p:cNvPr id="5" name="Left Arrow 4">
            <a:hlinkClick r:id="" action="ppaction://noaction"/>
          </p:cNvPr>
          <p:cNvSpPr/>
          <p:nvPr/>
        </p:nvSpPr>
        <p:spPr>
          <a:xfrm>
            <a:off x="8153400" y="6096000"/>
            <a:ext cx="609600" cy="4572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6751920"/>
      </p:ext>
    </p:extLst>
  </p:cSld>
  <p:clrMapOvr>
    <a:masterClrMapping/>
  </p:clrMapOvr>
</p:sld>
</file>

<file path=ppt/theme/theme1.xml><?xml version="1.0" encoding="utf-8"?>
<a:theme xmlns:a="http://schemas.openxmlformats.org/drawingml/2006/main" name="580TGp_general_light">
  <a:themeElements>
    <a:clrScheme name="Default Design 3">
      <a:dk1>
        <a:srgbClr val="000000"/>
      </a:dk1>
      <a:lt1>
        <a:srgbClr val="FEE9DE"/>
      </a:lt1>
      <a:dk2>
        <a:srgbClr val="000066"/>
      </a:dk2>
      <a:lt2>
        <a:srgbClr val="808080"/>
      </a:lt2>
      <a:accent1>
        <a:srgbClr val="5CB1FE"/>
      </a:accent1>
      <a:accent2>
        <a:srgbClr val="FF7575"/>
      </a:accent2>
      <a:accent3>
        <a:srgbClr val="FEF2EC"/>
      </a:accent3>
      <a:accent4>
        <a:srgbClr val="000000"/>
      </a:accent4>
      <a:accent5>
        <a:srgbClr val="B5D5FE"/>
      </a:accent5>
      <a:accent6>
        <a:srgbClr val="E76969"/>
      </a:accent6>
      <a:hlink>
        <a:srgbClr val="FFC319"/>
      </a:hlink>
      <a:folHlink>
        <a:srgbClr val="A8D02A"/>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DF58D"/>
        </a:lt1>
        <a:dk2>
          <a:srgbClr val="CC3300"/>
        </a:dk2>
        <a:lt2>
          <a:srgbClr val="808080"/>
        </a:lt2>
        <a:accent1>
          <a:srgbClr val="FF6161"/>
        </a:accent1>
        <a:accent2>
          <a:srgbClr val="FFC319"/>
        </a:accent2>
        <a:accent3>
          <a:srgbClr val="FEF9C5"/>
        </a:accent3>
        <a:accent4>
          <a:srgbClr val="000000"/>
        </a:accent4>
        <a:accent5>
          <a:srgbClr val="FFB7B7"/>
        </a:accent5>
        <a:accent6>
          <a:srgbClr val="E7B016"/>
        </a:accent6>
        <a:hlink>
          <a:srgbClr val="A8D02A"/>
        </a:hlink>
        <a:folHlink>
          <a:srgbClr val="5CB1FE"/>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E1F4D8"/>
        </a:lt1>
        <a:dk2>
          <a:srgbClr val="003366"/>
        </a:dk2>
        <a:lt2>
          <a:srgbClr val="808080"/>
        </a:lt2>
        <a:accent1>
          <a:srgbClr val="FFC319"/>
        </a:accent1>
        <a:accent2>
          <a:srgbClr val="A8D02A"/>
        </a:accent2>
        <a:accent3>
          <a:srgbClr val="EEF8E9"/>
        </a:accent3>
        <a:accent4>
          <a:srgbClr val="000000"/>
        </a:accent4>
        <a:accent5>
          <a:srgbClr val="FFDEAB"/>
        </a:accent5>
        <a:accent6>
          <a:srgbClr val="98BC25"/>
        </a:accent6>
        <a:hlink>
          <a:srgbClr val="5CB1FE"/>
        </a:hlink>
        <a:folHlink>
          <a:srgbClr val="FF6161"/>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EE9DE"/>
        </a:lt1>
        <a:dk2>
          <a:srgbClr val="000066"/>
        </a:dk2>
        <a:lt2>
          <a:srgbClr val="808080"/>
        </a:lt2>
        <a:accent1>
          <a:srgbClr val="5CB1FE"/>
        </a:accent1>
        <a:accent2>
          <a:srgbClr val="FF7575"/>
        </a:accent2>
        <a:accent3>
          <a:srgbClr val="FEF2EC"/>
        </a:accent3>
        <a:accent4>
          <a:srgbClr val="000000"/>
        </a:accent4>
        <a:accent5>
          <a:srgbClr val="B5D5FE"/>
        </a:accent5>
        <a:accent6>
          <a:srgbClr val="E76969"/>
        </a:accent6>
        <a:hlink>
          <a:srgbClr val="FFC319"/>
        </a:hlink>
        <a:folHlink>
          <a:srgbClr val="A8D02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8583</TotalTime>
  <Words>3805</Words>
  <Application>Microsoft Office PowerPoint</Application>
  <PresentationFormat>On-screen Show (4:3)</PresentationFormat>
  <Paragraphs>315</Paragraphs>
  <Slides>38</Slides>
  <Notes>8</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Arial Black</vt:lpstr>
      <vt:lpstr>Arial Unicode MS</vt:lpstr>
      <vt:lpstr>Times New Roman</vt:lpstr>
      <vt:lpstr>VNI-Helve</vt:lpstr>
      <vt:lpstr>Wingdings</vt:lpstr>
      <vt:lpstr>580TGp_general_light</vt:lpstr>
      <vt:lpstr>CHƯƠNG 1 TỔNG QUAN VỀ TRÍ TUỆ NHÂN TẠO</vt:lpstr>
      <vt:lpstr>Nội dung</vt:lpstr>
      <vt:lpstr>Mục tiêu bài học</vt:lpstr>
      <vt:lpstr>PowerPoint Presentation</vt:lpstr>
      <vt:lpstr>Trí tuệ nhân tạo  (Artificial Intelligence - AI)</vt:lpstr>
      <vt:lpstr>Trí tuệ nhân tạo</vt:lpstr>
      <vt:lpstr>Mục tiêu của AI</vt:lpstr>
      <vt:lpstr>Mục tiêu của AI</vt:lpstr>
      <vt:lpstr>Turing Test: Thử tính thông minh</vt:lpstr>
      <vt:lpstr>Turing Test: Thử tính thông minh</vt:lpstr>
      <vt:lpstr>Nền tảng của AI</vt:lpstr>
      <vt:lpstr>Nền tảng của AI</vt:lpstr>
      <vt:lpstr>Nền tảng của AI</vt:lpstr>
      <vt:lpstr>Nền tảng của AI</vt:lpstr>
      <vt:lpstr>Nền tảng của AI</vt:lpstr>
      <vt:lpstr>Nền tảng của AI</vt:lpstr>
      <vt:lpstr>Nền tảng của AI</vt:lpstr>
      <vt:lpstr>Nền tảng của AI</vt:lpstr>
      <vt:lpstr>Lịch sử của AI</vt:lpstr>
      <vt:lpstr>Lịch sử của AI     Giai đoạn cổ điển (1950 – 1965)</vt:lpstr>
      <vt:lpstr>Lịch sử của AI     Giai đoạn cổ điển (1950 – 1965)</vt:lpstr>
      <vt:lpstr>Lịch sử của AI     Giai đoạn cổ điển (1950 – 1965)</vt:lpstr>
      <vt:lpstr>Lịch sử của AI     Giai đoạn viễn vông (1965 – 1975)</vt:lpstr>
      <vt:lpstr>Lịch sử của AI     Giai đoạn viễn vông (1965 – 1975)</vt:lpstr>
      <vt:lpstr>Lịch sử của AI     Giai đoạn hiện đại (1975 - nay)</vt:lpstr>
      <vt:lpstr>PowerPoint Presentation</vt:lpstr>
      <vt:lpstr>PowerPoint Presentation</vt:lpstr>
      <vt:lpstr>PowerPoint Presentation</vt:lpstr>
      <vt:lpstr>Một số hướng nghiên cứu</vt:lpstr>
      <vt:lpstr>Một số hướng nghiên cứu</vt:lpstr>
      <vt:lpstr>PowerPoint Presentation</vt:lpstr>
      <vt:lpstr>Một số hướng ứng dụng</vt:lpstr>
      <vt:lpstr>Mô hình phát triển ứng dụng AI</vt:lpstr>
      <vt:lpstr>PowerPoint Presentation</vt:lpstr>
      <vt:lpstr>   THE END</vt:lpstr>
      <vt:lpstr>PowerPoint Presentation</vt:lpstr>
      <vt:lpstr>PowerPoint Presentation</vt:lpstr>
      <vt:lpstr>PowerPoint Presentation</vt:lpstr>
    </vt:vector>
  </TitlesOfParts>
  <Company>Truong Dai Hoc Bach Khoa TPHCM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Cao Hoang Tru</dc:creator>
  <cp:lastModifiedBy>Nhon Do Van</cp:lastModifiedBy>
  <cp:revision>409</cp:revision>
  <dcterms:created xsi:type="dcterms:W3CDTF">2004-02-07T23:51:55Z</dcterms:created>
  <dcterms:modified xsi:type="dcterms:W3CDTF">2022-05-21T01:53:27Z</dcterms:modified>
</cp:coreProperties>
</file>